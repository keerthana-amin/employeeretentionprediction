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 id="2147483721" r:id="rId2"/>
  </p:sldMasterIdLst>
  <p:notesMasterIdLst>
    <p:notesMasterId r:id="rId21"/>
  </p:notesMasterIdLst>
  <p:sldIdLst>
    <p:sldId id="257" r:id="rId3"/>
    <p:sldId id="258" r:id="rId4"/>
    <p:sldId id="430" r:id="rId5"/>
    <p:sldId id="259" r:id="rId6"/>
    <p:sldId id="433" r:id="rId7"/>
    <p:sldId id="432" r:id="rId8"/>
    <p:sldId id="435" r:id="rId9"/>
    <p:sldId id="415" r:id="rId10"/>
    <p:sldId id="436" r:id="rId11"/>
    <p:sldId id="437" r:id="rId12"/>
    <p:sldId id="438" r:id="rId13"/>
    <p:sldId id="419" r:id="rId14"/>
    <p:sldId id="422" r:id="rId15"/>
    <p:sldId id="421" r:id="rId16"/>
    <p:sldId id="269" r:id="rId17"/>
    <p:sldId id="425" r:id="rId18"/>
    <p:sldId id="446" r:id="rId19"/>
    <p:sldId id="427" r:id="rId20"/>
  </p:sldIdLst>
  <p:sldSz cx="12192000" cy="6858000"/>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C9B8E47-C0D3-4F0F-AA41-1669BA8757C2}">
          <p14:sldIdLst>
            <p14:sldId id="257"/>
            <p14:sldId id="258"/>
            <p14:sldId id="430"/>
            <p14:sldId id="259"/>
            <p14:sldId id="433"/>
            <p14:sldId id="432"/>
            <p14:sldId id="435"/>
            <p14:sldId id="415"/>
            <p14:sldId id="436"/>
            <p14:sldId id="437"/>
            <p14:sldId id="438"/>
            <p14:sldId id="419"/>
            <p14:sldId id="422"/>
            <p14:sldId id="421"/>
            <p14:sldId id="269"/>
            <p14:sldId id="425"/>
            <p14:sldId id="446"/>
            <p14:sldId id="4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9AD"/>
    <a:srgbClr val="1C1A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41" autoAdjust="0"/>
  </p:normalViewPr>
  <p:slideViewPr>
    <p:cSldViewPr snapToGrid="0">
      <p:cViewPr varScale="1">
        <p:scale>
          <a:sx n="78" d="100"/>
          <a:sy n="78" d="100"/>
        </p:scale>
        <p:origin x="1253"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5C36-AE8D-4DA0-B3A4-B84766BD1052}"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79C4A7-E4EF-4571-9029-E2D9AC0E3C90}" type="slidenum">
              <a:rPr lang="en-IN" smtClean="0"/>
              <a:t>‹#›</a:t>
            </a:fld>
            <a:endParaRPr lang="en-IN"/>
          </a:p>
        </p:txBody>
      </p:sp>
    </p:spTree>
    <p:extLst>
      <p:ext uri="{BB962C8B-B14F-4D97-AF65-F5344CB8AC3E}">
        <p14:creationId xmlns:p14="http://schemas.microsoft.com/office/powerpoint/2010/main" val="3652042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n-IN" dirty="0"/>
          </a:p>
        </p:txBody>
      </p:sp>
      <p:sp>
        <p:nvSpPr>
          <p:cNvPr id="4" name="Slide Number Placeholder 3"/>
          <p:cNvSpPr>
            <a:spLocks noGrp="1"/>
          </p:cNvSpPr>
          <p:nvPr>
            <p:ph type="sldNum" sz="quarter" idx="5"/>
          </p:nvPr>
        </p:nvSpPr>
        <p:spPr/>
        <p:txBody>
          <a:bodyPr/>
          <a:lstStyle/>
          <a:p>
            <a:fld id="{3B79C4A7-E4EF-4571-9029-E2D9AC0E3C90}" type="slidenum">
              <a:rPr lang="en-IN" smtClean="0"/>
              <a:t>15</a:t>
            </a:fld>
            <a:endParaRPr lang="en-IN"/>
          </a:p>
        </p:txBody>
      </p:sp>
    </p:spTree>
    <p:extLst>
      <p:ext uri="{BB962C8B-B14F-4D97-AF65-F5344CB8AC3E}">
        <p14:creationId xmlns:p14="http://schemas.microsoft.com/office/powerpoint/2010/main" val="2418983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3E37B-AE0B-F4F6-1F57-72BA8211E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27D430-9E4D-12E2-B4AF-32DACF896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C38668-E30C-288F-34B6-E6FA908B7CA6}"/>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5B68AEBC-EDF6-63AC-4CFA-1BE1B029BC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BCECBF-E139-8E1C-01BB-61F2B96E391D}"/>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96814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5C3C-E5CB-E1AC-5075-6598E357D6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A4FAD7-3990-E3C2-5AC1-8986E97AF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42DD7-08B1-B94E-2ABD-678AAA4939A7}"/>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F9DFD87B-2F6F-D3F4-9F94-66BF64FBFC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CC31F-3E1B-7885-AD43-EA282AAC88E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43689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E088-C259-1B15-24DD-48B86E8D5B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488D6F-7CB0-2865-F95B-6AA4088376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126398-B9F7-E889-ABC4-F87D634A8BD4}"/>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85F8AB88-7BFD-433F-C460-0FAB5FB996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1390A4-BACD-2B53-F233-CB069A309719}"/>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855419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D82A9-321F-E0A1-32AE-C65401AEF1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A53D1C-F74D-DC94-1252-10E99679BF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D82A62-47B5-F991-A193-EAEA999277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72645D-29CE-B9CE-6538-E556E664769C}"/>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6" name="Footer Placeholder 5">
            <a:extLst>
              <a:ext uri="{FF2B5EF4-FFF2-40B4-BE49-F238E27FC236}">
                <a16:creationId xmlns:a16="http://schemas.microsoft.com/office/drawing/2014/main" id="{9DF01852-0898-A685-8F66-0160DE6CF7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D64B9E-1CCE-D116-E634-AC97DEF9458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2704700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DF0C4-56D7-97D8-B65A-32DC4CD6F0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F0A92B-5101-242C-B7A9-D4D6347300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CAA1FF-B705-F5E5-039A-7D3D3EBC94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1B7B87A-D0E8-5AB0-6422-323CAF950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34ACD4-C1AF-810E-8452-C21904BF7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39F5C8-5AB8-9C8E-66C3-A3EEEEA4BBEE}"/>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8" name="Footer Placeholder 7">
            <a:extLst>
              <a:ext uri="{FF2B5EF4-FFF2-40B4-BE49-F238E27FC236}">
                <a16:creationId xmlns:a16="http://schemas.microsoft.com/office/drawing/2014/main" id="{5C8E9F62-A62B-A38C-261D-6D5C8E05AB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C15F34-AFB0-AAB5-1261-FD33BD15EB6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11201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85D56-D3BE-701B-1214-7E5D651C7A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1D6B9F-9BD1-103F-ABCA-DF4DCCA2E4B8}"/>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4" name="Footer Placeholder 3">
            <a:extLst>
              <a:ext uri="{FF2B5EF4-FFF2-40B4-BE49-F238E27FC236}">
                <a16:creationId xmlns:a16="http://schemas.microsoft.com/office/drawing/2014/main" id="{E2FBD1A5-7978-8CC4-F4AD-86F85F4FD3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E34CBB-E71E-B716-8314-EE88D6AA7F6F}"/>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34995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400166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689D5-7CAB-6DAD-6135-F199207384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4C5F0A-FFDB-1DC2-DFF8-0170175F4A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80B083-D805-128F-1AD0-3EDB6BDA9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8B8BB7-5843-D4B9-B866-B8FA5FEB9414}"/>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6" name="Footer Placeholder 5">
            <a:extLst>
              <a:ext uri="{FF2B5EF4-FFF2-40B4-BE49-F238E27FC236}">
                <a16:creationId xmlns:a16="http://schemas.microsoft.com/office/drawing/2014/main" id="{392E135F-BAC6-0E3E-177C-32D8BDDC36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C0EA9F-2F5B-1AF1-D4F7-6D323EB31555}"/>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93480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BF40-4204-64E8-7276-9B517739B8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697FF5-D6D5-724B-CEFD-BD7215B33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1C3A8281-B8F7-1828-ACEA-CF423F1AC5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86139-531D-1AE6-86D9-3716715F7B9E}"/>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6" name="Footer Placeholder 5">
            <a:extLst>
              <a:ext uri="{FF2B5EF4-FFF2-40B4-BE49-F238E27FC236}">
                <a16:creationId xmlns:a16="http://schemas.microsoft.com/office/drawing/2014/main" id="{8C61E5B8-500B-26D0-0210-C0E211F0EF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28B9F0-D9E6-03EB-7D80-963CCE769687}"/>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269949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B0EB8-E414-9BC7-48BE-1776C9384A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4AD3B2-18EE-9656-EAE6-BE7753A19B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19176-4931-37D5-9EEC-F07117BA9B24}"/>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31553CDB-9B73-D22B-D6E5-5874702FDC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E93564-CC18-A893-3A96-B70983C338CB}"/>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87348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879067-8136-6E57-521F-988B646B03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ED5EE2-5762-8094-1C4D-A130F6422C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14964D-7E8D-F152-81DB-B173DBA1F3D9}"/>
              </a:ext>
            </a:extLst>
          </p:cNvPr>
          <p:cNvSpPr>
            <a:spLocks noGrp="1"/>
          </p:cNvSpPr>
          <p:nvPr>
            <p:ph type="dt" sz="half" idx="10"/>
          </p:nvPr>
        </p:nvSpPr>
        <p:spPr/>
        <p:txBody>
          <a:body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8DFBCC3E-FF27-2B0A-82BD-F20AD505E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E67CF-BCE8-6D8D-5682-6C99ACB7361A}"/>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1469549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12502343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2">
            <a:extLst>
              <a:ext uri="{FF2B5EF4-FFF2-40B4-BE49-F238E27FC236}">
                <a16:creationId xmlns:a16="http://schemas.microsoft.com/office/drawing/2014/main" id="{D7745948-92EA-3E8A-1DBC-45422E918504}"/>
              </a:ext>
            </a:extLst>
          </p:cNvPr>
          <p:cNvSpPr>
            <a:spLocks noGrp="1"/>
          </p:cNvSpPr>
          <p:nvPr>
            <p:ph type="body" idx="13"/>
          </p:nvPr>
        </p:nvSpPr>
        <p:spPr>
          <a:xfrm>
            <a:off x="2209800" y="3262768"/>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a:extLst>
              <a:ext uri="{FF2B5EF4-FFF2-40B4-BE49-F238E27FC236}">
                <a16:creationId xmlns:a16="http://schemas.microsoft.com/office/drawing/2014/main" id="{87155554-9334-F8D5-FA7F-80CF2FB3BC78}"/>
              </a:ext>
            </a:extLst>
          </p:cNvPr>
          <p:cNvSpPr>
            <a:spLocks noGrp="1"/>
          </p:cNvSpPr>
          <p:nvPr>
            <p:ph type="body" sz="half" idx="14"/>
          </p:nvPr>
        </p:nvSpPr>
        <p:spPr>
          <a:xfrm>
            <a:off x="2209800" y="3874315"/>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2">
            <a:extLst>
              <a:ext uri="{FF2B5EF4-FFF2-40B4-BE49-F238E27FC236}">
                <a16:creationId xmlns:a16="http://schemas.microsoft.com/office/drawing/2014/main" id="{A44C718E-DBD5-B640-39D2-7860AFE27FFB}"/>
              </a:ext>
            </a:extLst>
          </p:cNvPr>
          <p:cNvSpPr>
            <a:spLocks noGrp="1"/>
          </p:cNvSpPr>
          <p:nvPr>
            <p:ph type="body" idx="15"/>
          </p:nvPr>
        </p:nvSpPr>
        <p:spPr>
          <a:xfrm>
            <a:off x="960666" y="4884397"/>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3">
            <a:extLst>
              <a:ext uri="{FF2B5EF4-FFF2-40B4-BE49-F238E27FC236}">
                <a16:creationId xmlns:a16="http://schemas.microsoft.com/office/drawing/2014/main" id="{BB073C5F-2FFF-4B6A-E630-E112FB5B952B}"/>
              </a:ext>
            </a:extLst>
          </p:cNvPr>
          <p:cNvSpPr>
            <a:spLocks noGrp="1"/>
          </p:cNvSpPr>
          <p:nvPr>
            <p:ph type="body" sz="half" idx="16"/>
          </p:nvPr>
        </p:nvSpPr>
        <p:spPr>
          <a:xfrm>
            <a:off x="960666" y="5495944"/>
            <a:ext cx="5157786" cy="7029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16" name="Date Placeholder 15">
            <a:extLst>
              <a:ext uri="{FF2B5EF4-FFF2-40B4-BE49-F238E27FC236}">
                <a16:creationId xmlns:a16="http://schemas.microsoft.com/office/drawing/2014/main" id="{30843267-C01A-455A-D8A3-E8A7C6CFB0F6}"/>
              </a:ext>
            </a:extLst>
          </p:cNvPr>
          <p:cNvSpPr>
            <a:spLocks noGrp="1"/>
          </p:cNvSpPr>
          <p:nvPr>
            <p:ph type="dt" sz="half" idx="18"/>
          </p:nvPr>
        </p:nvSpPr>
        <p:spPr/>
        <p:txBody>
          <a:bodyPr/>
          <a:lstStyle/>
          <a:p>
            <a:fld id="{AA8A0EC6-5648-844A-8827-911B00959032}" type="datetimeFigureOut">
              <a:rPr lang="en-US" smtClean="0"/>
              <a:t>2/11/2026</a:t>
            </a:fld>
            <a:endParaRPr lang="en-US"/>
          </a:p>
        </p:txBody>
      </p:sp>
      <p:sp>
        <p:nvSpPr>
          <p:cNvPr id="17" name="Footer Placeholder 16">
            <a:extLst>
              <a:ext uri="{FF2B5EF4-FFF2-40B4-BE49-F238E27FC236}">
                <a16:creationId xmlns:a16="http://schemas.microsoft.com/office/drawing/2014/main" id="{1DAE6A71-9FA2-20A0-D992-DEBF7FF3301E}"/>
              </a:ext>
            </a:extLst>
          </p:cNvPr>
          <p:cNvSpPr>
            <a:spLocks noGrp="1"/>
          </p:cNvSpPr>
          <p:nvPr>
            <p:ph type="ftr" sz="quarter" idx="19"/>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9691855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4722823" y="2004053"/>
            <a:ext cx="2746354" cy="2746354"/>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4768114"/>
            <a:ext cx="3452196" cy="593840"/>
          </a:xfrm>
        </p:spPr>
        <p:txBody>
          <a:bodyPr anchor="b">
            <a:normAutofit/>
          </a:bodyPr>
          <a:lstStyle>
            <a:lvl1pPr marL="0" indent="0" algn="ctr">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1" name="Picture Placeholder 23">
            <a:extLst>
              <a:ext uri="{FF2B5EF4-FFF2-40B4-BE49-F238E27FC236}">
                <a16:creationId xmlns:a16="http://schemas.microsoft.com/office/drawing/2014/main" id="{DF95759B-DFBD-52FF-4B1E-1EFF531D300E}"/>
              </a:ext>
            </a:extLst>
          </p:cNvPr>
          <p:cNvSpPr>
            <a:spLocks noGrp="1"/>
          </p:cNvSpPr>
          <p:nvPr>
            <p:ph type="pic" sz="quarter" idx="20"/>
          </p:nvPr>
        </p:nvSpPr>
        <p:spPr>
          <a:xfrm>
            <a:off x="8340666" y="2004053"/>
            <a:ext cx="2746354" cy="2746354"/>
          </a:xfrm>
          <a:prstGeom prst="ellipse">
            <a:avLst/>
          </a:prstGeom>
        </p:spPr>
        <p:txBody>
          <a:bodyPr/>
          <a:lstStyle/>
          <a:p>
            <a:r>
              <a:rPr lang="en-US" dirty="0"/>
              <a:t>Click icon to add picture</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4768114"/>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5379661"/>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6" name="Picture Placeholder 23">
            <a:extLst>
              <a:ext uri="{FF2B5EF4-FFF2-40B4-BE49-F238E27FC236}">
                <a16:creationId xmlns:a16="http://schemas.microsoft.com/office/drawing/2014/main" id="{17E0D596-964B-B199-1020-9CA46C3669D9}"/>
              </a:ext>
            </a:extLst>
          </p:cNvPr>
          <p:cNvSpPr>
            <a:spLocks noGrp="1"/>
          </p:cNvSpPr>
          <p:nvPr>
            <p:ph type="pic" sz="quarter" idx="23"/>
          </p:nvPr>
        </p:nvSpPr>
        <p:spPr>
          <a:xfrm>
            <a:off x="1114918" y="2004052"/>
            <a:ext cx="2746354" cy="2746354"/>
          </a:xfrm>
          <a:prstGeom prst="ellipse">
            <a:avLst/>
          </a:prstGeom>
        </p:spPr>
        <p:txBody>
          <a:bodyPr/>
          <a:lstStyle/>
          <a:p>
            <a:r>
              <a:rPr lang="en-US" dirty="0"/>
              <a:t>Click icon to add picture</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4768113"/>
            <a:ext cx="3452196" cy="593840"/>
          </a:xfrm>
        </p:spPr>
        <p:txBody>
          <a:bodyPr anchor="b">
            <a:normAutofit/>
          </a:bodyPr>
          <a:lstStyle>
            <a:lvl1pPr marL="0" indent="0" algn="ctr">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5379660"/>
            <a:ext cx="3452194" cy="83063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Tree>
    <p:extLst>
      <p:ext uri="{BB962C8B-B14F-4D97-AF65-F5344CB8AC3E}">
        <p14:creationId xmlns:p14="http://schemas.microsoft.com/office/powerpoint/2010/main" val="546335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2660252"/>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3271799"/>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660251"/>
            <a:ext cx="3452196"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3271798"/>
            <a:ext cx="3452194" cy="83063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5" name="Picture Placeholder 14">
            <a:extLst>
              <a:ext uri="{FF2B5EF4-FFF2-40B4-BE49-F238E27FC236}">
                <a16:creationId xmlns:a16="http://schemas.microsoft.com/office/drawing/2014/main" id="{9EA2C811-2433-C4B8-E818-972740C49603}"/>
              </a:ext>
            </a:extLst>
          </p:cNvPr>
          <p:cNvSpPr>
            <a:spLocks noGrp="1"/>
          </p:cNvSpPr>
          <p:nvPr>
            <p:ph type="pic" sz="quarter" idx="26"/>
          </p:nvPr>
        </p:nvSpPr>
        <p:spPr>
          <a:xfrm>
            <a:off x="609600" y="5692875"/>
            <a:ext cx="10972800" cy="539496"/>
          </a:xfrm>
        </p:spPr>
        <p:txBody>
          <a:bodyPr/>
          <a:lstStyle/>
          <a:p>
            <a:endParaRPr lang="en-US"/>
          </a:p>
        </p:txBody>
      </p:sp>
    </p:spTree>
    <p:extLst>
      <p:ext uri="{BB962C8B-B14F-4D97-AF65-F5344CB8AC3E}">
        <p14:creationId xmlns:p14="http://schemas.microsoft.com/office/powerpoint/2010/main" val="733103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222065"/>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1517256" y="3121266"/>
            <a:ext cx="5157787" cy="593840"/>
          </a:xfrm>
        </p:spPr>
        <p:txBody>
          <a:bodyPr anchor="b">
            <a:norm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1517256" y="3732813"/>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2073847" y="4638571"/>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2073847" y="5250118"/>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40203077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2439"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2439"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6426387" y="1925949"/>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6426387" y="2537496"/>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5157787"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5157786"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61C98F61-9164-7CDA-F0A4-B90327F23F7A}"/>
              </a:ext>
            </a:extLst>
          </p:cNvPr>
          <p:cNvSpPr>
            <a:spLocks noGrp="1"/>
          </p:cNvSpPr>
          <p:nvPr>
            <p:ph type="pic" sz="quarter" idx="22"/>
          </p:nvPr>
        </p:nvSpPr>
        <p:spPr>
          <a:xfrm>
            <a:off x="6426200" y="3752850"/>
            <a:ext cx="5156200" cy="2457450"/>
          </a:xfrm>
        </p:spPr>
        <p:txBody>
          <a:bodyPr/>
          <a:lstStyle/>
          <a:p>
            <a:endParaRPr lang="en-US"/>
          </a:p>
        </p:txBody>
      </p:sp>
    </p:spTree>
    <p:extLst>
      <p:ext uri="{BB962C8B-B14F-4D97-AF65-F5344CB8AC3E}">
        <p14:creationId xmlns:p14="http://schemas.microsoft.com/office/powerpoint/2010/main" val="25006903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537496"/>
            <a:ext cx="3259180" cy="121518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4712973" y="1925949"/>
            <a:ext cx="3259182"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4712973" y="2537495"/>
            <a:ext cx="3259180" cy="11974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7011488" cy="593840"/>
          </a:xfrm>
        </p:spPr>
        <p:txBody>
          <a:bodyPr anchor="b">
            <a:norm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7011488" cy="88325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BBB6EDE2-F53E-7B97-FF80-7764EECA4CCF}"/>
              </a:ext>
            </a:extLst>
          </p:cNvPr>
          <p:cNvSpPr>
            <a:spLocks noGrp="1"/>
          </p:cNvSpPr>
          <p:nvPr>
            <p:ph type="pic" sz="quarter" idx="22"/>
          </p:nvPr>
        </p:nvSpPr>
        <p:spPr>
          <a:xfrm>
            <a:off x="8485188" y="1925638"/>
            <a:ext cx="3097212" cy="4284662"/>
          </a:xfrm>
        </p:spPr>
        <p:txBody>
          <a:bodyPr/>
          <a:lstStyle/>
          <a:p>
            <a:endParaRPr lang="en-US"/>
          </a:p>
        </p:txBody>
      </p:sp>
    </p:spTree>
    <p:extLst>
      <p:ext uri="{BB962C8B-B14F-4D97-AF65-F5344CB8AC3E}">
        <p14:creationId xmlns:p14="http://schemas.microsoft.com/office/powerpoint/2010/main" val="1500072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1E5-DE3E-1E52-3179-344AB5B2A570}"/>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89A41B8-CF99-8A7C-E16D-CFEF1E099C4C}"/>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4" name="Footer Placeholder 3">
            <a:extLst>
              <a:ext uri="{FF2B5EF4-FFF2-40B4-BE49-F238E27FC236}">
                <a16:creationId xmlns:a16="http://schemas.microsoft.com/office/drawing/2014/main" id="{F9989524-6BA7-0F2E-1749-175C692869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524593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6759F-66EA-8EE3-A2F4-F15BA2F9B5C8}"/>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3" name="Footer Placeholder 2">
            <a:extLst>
              <a:ext uri="{FF2B5EF4-FFF2-40B4-BE49-F238E27FC236}">
                <a16:creationId xmlns:a16="http://schemas.microsoft.com/office/drawing/2014/main" id="{46548357-3F2C-483C-C0FC-FD9FB673CE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146645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2/11/2026</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307150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B4A5C1-4667-C673-0B1E-82E8D8402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2FBE24-F29F-7673-80FA-9A489A32EC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3CE9FB-92F1-0727-218E-6B709EB2C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951B7-5837-40D7-A284-C287FC16DA88}" type="datetimeFigureOut">
              <a:rPr lang="en-IN" smtClean="0"/>
              <a:t>11-02-2026</a:t>
            </a:fld>
            <a:endParaRPr lang="en-IN"/>
          </a:p>
        </p:txBody>
      </p:sp>
      <p:sp>
        <p:nvSpPr>
          <p:cNvPr id="5" name="Footer Placeholder 4">
            <a:extLst>
              <a:ext uri="{FF2B5EF4-FFF2-40B4-BE49-F238E27FC236}">
                <a16:creationId xmlns:a16="http://schemas.microsoft.com/office/drawing/2014/main" id="{65BC5414-D89D-9D80-D7FC-2675B10DAE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5CAF68-9170-504C-97A3-980630F1BB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B1823-63EE-423F-9C0B-A09E9E56188F}" type="slidenum">
              <a:rPr lang="en-IN" smtClean="0"/>
              <a:t>‹#›</a:t>
            </a:fld>
            <a:endParaRPr lang="en-IN"/>
          </a:p>
        </p:txBody>
      </p:sp>
    </p:spTree>
    <p:extLst>
      <p:ext uri="{BB962C8B-B14F-4D97-AF65-F5344CB8AC3E}">
        <p14:creationId xmlns:p14="http://schemas.microsoft.com/office/powerpoint/2010/main" val="2461105346"/>
      </p:ext>
    </p:extLst>
  </p:cSld>
  <p:clrMap bg1="lt1" tx1="dk1" bg2="lt2" tx2="dk2" accent1="accent1" accent2="accent2" accent3="accent3" accent4="accent4" accent5="accent5" accent6="accent6" hlink="hlink" folHlink="folHlink"/>
  <p:sldLayoutIdLst>
    <p:sldLayoutId id="2147483732"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57E25-C674-3745-6594-912F15B9826E}"/>
              </a:ext>
            </a:extLst>
          </p:cNvPr>
          <p:cNvSpPr>
            <a:spLocks noGrp="1"/>
          </p:cNvSpPr>
          <p:nvPr>
            <p:ph type="body" idx="1"/>
          </p:nvPr>
        </p:nvSpPr>
        <p:spPr>
          <a:xfrm>
            <a:off x="952500" y="1847056"/>
            <a:ext cx="106299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F64DF9-DAEC-F283-848F-16438F855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2/11/2026</a:t>
            </a:fld>
            <a:endParaRPr lang="en-US"/>
          </a:p>
        </p:txBody>
      </p:sp>
      <p:sp>
        <p:nvSpPr>
          <p:cNvPr id="10" name="Title Placeholder 9">
            <a:extLst>
              <a:ext uri="{FF2B5EF4-FFF2-40B4-BE49-F238E27FC236}">
                <a16:creationId xmlns:a16="http://schemas.microsoft.com/office/drawing/2014/main" id="{2390A06B-2D1F-A145-446B-BF268052479A}"/>
              </a:ext>
            </a:extLst>
          </p:cNvPr>
          <p:cNvSpPr>
            <a:spLocks noGrp="1"/>
          </p:cNvSpPr>
          <p:nvPr>
            <p:ph type="title"/>
          </p:nvPr>
        </p:nvSpPr>
        <p:spPr>
          <a:xfrm>
            <a:off x="952500" y="363537"/>
            <a:ext cx="10629900" cy="1236663"/>
          </a:xfrm>
          <a:prstGeom prst="rect">
            <a:avLst/>
          </a:prstGeom>
        </p:spPr>
        <p:txBody>
          <a:bodyPr vert="horz" lIns="91440" tIns="45720" rIns="91440" bIns="45720" rtlCol="0" anchor="ctr">
            <a:normAutofit/>
          </a:bodyPr>
          <a:lstStyle/>
          <a:p>
            <a:r>
              <a:rPr lang="en-US" dirty="0"/>
              <a:t>Click to edit Master title style</a:t>
            </a:r>
          </a:p>
        </p:txBody>
      </p:sp>
      <p:sp>
        <p:nvSpPr>
          <p:cNvPr id="13" name="Footer Placeholder 12">
            <a:extLst>
              <a:ext uri="{FF2B5EF4-FFF2-40B4-BE49-F238E27FC236}">
                <a16:creationId xmlns:a16="http://schemas.microsoft.com/office/drawing/2014/main" id="{2D227A9A-BF27-C878-C29C-004A9358C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4" name="TextBox 13">
            <a:extLst>
              <a:ext uri="{FF2B5EF4-FFF2-40B4-BE49-F238E27FC236}">
                <a16:creationId xmlns:a16="http://schemas.microsoft.com/office/drawing/2014/main" id="{7269396F-CFCA-FDCB-4DCE-DD40BD52D5F3}"/>
              </a:ext>
            </a:extLst>
          </p:cNvPr>
          <p:cNvSpPr txBox="1"/>
          <p:nvPr userDrawn="1"/>
        </p:nvSpPr>
        <p:spPr>
          <a:xfrm>
            <a:off x="8444753" y="6505221"/>
            <a:ext cx="3137647" cy="246221"/>
          </a:xfrm>
          <a:prstGeom prst="rect">
            <a:avLst/>
          </a:prstGeom>
          <a:noFill/>
        </p:spPr>
        <p:txBody>
          <a:bodyPr wrap="square" rtlCol="0">
            <a:spAutoFit/>
          </a:bodyPr>
          <a:lstStyle/>
          <a:p>
            <a:pPr algn="r"/>
            <a:r>
              <a:rPr lang="en-US" sz="1000" dirty="0">
                <a:solidFill>
                  <a:schemeClr val="bg1">
                    <a:lumMod val="65000"/>
                  </a:schemeClr>
                </a:solidFill>
              </a:rPr>
              <a:t>Photos provided by </a:t>
            </a:r>
            <a:r>
              <a:rPr lang="en-US" sz="1000" dirty="0" err="1">
                <a:solidFill>
                  <a:schemeClr val="bg1">
                    <a:lumMod val="65000"/>
                  </a:schemeClr>
                </a:solidFill>
              </a:rPr>
              <a:t>Pexels</a:t>
            </a:r>
            <a:endParaRPr lang="en-US" sz="1000" dirty="0">
              <a:solidFill>
                <a:schemeClr val="bg1">
                  <a:lumMod val="65000"/>
                </a:schemeClr>
              </a:solidFill>
            </a:endParaRPr>
          </a:p>
        </p:txBody>
      </p:sp>
    </p:spTree>
    <p:extLst>
      <p:ext uri="{BB962C8B-B14F-4D97-AF65-F5344CB8AC3E}">
        <p14:creationId xmlns:p14="http://schemas.microsoft.com/office/powerpoint/2010/main" val="369555179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20" r:id="rId10"/>
  </p:sldLayoutIdLst>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n-lt"/>
          <a:ea typeface="+mj-ea"/>
          <a:cs typeface="MV Boli" panose="0200050003020009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84">
          <p15:clr>
            <a:srgbClr val="F26B43"/>
          </p15:clr>
        </p15:guide>
        <p15:guide id="3" pos="600">
          <p15:clr>
            <a:srgbClr val="F26B43"/>
          </p15:clr>
        </p15:guide>
        <p15:guide id="4" pos="7296">
          <p15:clr>
            <a:srgbClr val="F26B43"/>
          </p15:clr>
        </p15:guide>
        <p15:guide id="5" orient="horz" pos="3912">
          <p15:clr>
            <a:srgbClr val="F26B43"/>
          </p15:clr>
        </p15:guide>
        <p15:guide id="6" orient="horz" pos="1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9DF61CB4-EFD8-4FB2-AC1D-5731103B6470}"/>
              </a:ext>
            </a:extLst>
          </p:cNvPr>
          <p:cNvPicPr>
            <a:picLocks noChangeAspect="1"/>
          </p:cNvPicPr>
          <p:nvPr/>
        </p:nvPicPr>
        <p:blipFill rotWithShape="1">
          <a:blip r:embed="rId2">
            <a:extLst>
              <a:ext uri="{28A0092B-C50C-407E-A947-70E740481C1C}">
                <a14:useLocalDpi xmlns:a14="http://schemas.microsoft.com/office/drawing/2010/main" val="0"/>
              </a:ext>
            </a:extLst>
          </a:blip>
          <a:srcRect b="19"/>
          <a:stretch/>
        </p:blipFill>
        <p:spPr>
          <a:xfrm>
            <a:off x="-690446" y="0"/>
            <a:ext cx="12191980" cy="6856718"/>
          </a:xfrm>
          <a:prstGeom prst="rect">
            <a:avLst/>
          </a:prstGeom>
        </p:spPr>
      </p:pic>
      <p:sp>
        <p:nvSpPr>
          <p:cNvPr id="2" name="TextBox 1">
            <a:extLst>
              <a:ext uri="{FF2B5EF4-FFF2-40B4-BE49-F238E27FC236}">
                <a16:creationId xmlns:a16="http://schemas.microsoft.com/office/drawing/2014/main" id="{C85AB3DA-940A-D577-FA37-54817ADD156C}"/>
              </a:ext>
            </a:extLst>
          </p:cNvPr>
          <p:cNvSpPr txBox="1"/>
          <p:nvPr/>
        </p:nvSpPr>
        <p:spPr>
          <a:xfrm>
            <a:off x="3514045" y="1531573"/>
            <a:ext cx="425563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4400">
              <a:solidFill>
                <a:srgbClr val="ED7D31"/>
              </a:solidFill>
              <a:latin typeface="Calibri"/>
              <a:ea typeface="Calibri"/>
              <a:cs typeface="Calibri"/>
            </a:endParaRPr>
          </a:p>
        </p:txBody>
      </p:sp>
    </p:spTree>
    <p:extLst>
      <p:ext uri="{BB962C8B-B14F-4D97-AF65-F5344CB8AC3E}">
        <p14:creationId xmlns:p14="http://schemas.microsoft.com/office/powerpoint/2010/main" val="50332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D5B65F9C-ED4C-1602-B913-3A2EB097126B}"/>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193902" y="86424"/>
            <a:ext cx="4911731" cy="6771576"/>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5" name="Picture 4">
            <a:extLst>
              <a:ext uri="{FF2B5EF4-FFF2-40B4-BE49-F238E27FC236}">
                <a16:creationId xmlns:a16="http://schemas.microsoft.com/office/drawing/2014/main" id="{13C344C5-228E-F045-01B5-63A5ECF788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E6CF5FCF-8DC9-98FB-E48A-4251EA574F9D}"/>
              </a:ext>
            </a:extLst>
          </p:cNvPr>
          <p:cNvSpPr txBox="1"/>
          <p:nvPr/>
        </p:nvSpPr>
        <p:spPr>
          <a:xfrm>
            <a:off x="86366" y="1383474"/>
            <a:ext cx="7236454" cy="646331"/>
          </a:xfrm>
          <a:prstGeom prst="rect">
            <a:avLst/>
          </a:prstGeom>
          <a:noFill/>
          <a:effectLst>
            <a:innerShdw blurRad="63500" dist="50800" dir="8100000">
              <a:prstClr val="black">
                <a:alpha val="50000"/>
              </a:prstClr>
            </a:innerShdw>
          </a:effectLst>
        </p:spPr>
        <p:txBody>
          <a:bodyPr wrap="square" rtlCol="0">
            <a:spAutoFit/>
          </a:bodyPr>
          <a:lstStyle/>
          <a:p>
            <a:r>
              <a:rPr lang="en-US" sz="3600" b="1" dirty="0">
                <a:solidFill>
                  <a:srgbClr val="1C1A55"/>
                </a:solidFill>
                <a:latin typeface="Rockwell" panose="02060603020205020403" pitchFamily="18" charset="0"/>
              </a:rPr>
              <a:t>Employee Retention Prediction                          </a:t>
            </a:r>
            <a:endParaRPr lang="en-IN" sz="3600" b="1" dirty="0">
              <a:solidFill>
                <a:srgbClr val="1C1A55"/>
              </a:solidFill>
              <a:latin typeface="Rockwell" panose="02060603020205020403" pitchFamily="18" charset="0"/>
            </a:endParaRPr>
          </a:p>
        </p:txBody>
      </p:sp>
      <p:sp>
        <p:nvSpPr>
          <p:cNvPr id="4" name="TextBox 3">
            <a:extLst>
              <a:ext uri="{FF2B5EF4-FFF2-40B4-BE49-F238E27FC236}">
                <a16:creationId xmlns:a16="http://schemas.microsoft.com/office/drawing/2014/main" id="{5F7B1345-C3DD-C953-0A64-8A22840DD589}"/>
              </a:ext>
            </a:extLst>
          </p:cNvPr>
          <p:cNvSpPr txBox="1"/>
          <p:nvPr/>
        </p:nvSpPr>
        <p:spPr>
          <a:xfrm>
            <a:off x="8977994" y="5779489"/>
            <a:ext cx="3015672" cy="338554"/>
          </a:xfrm>
          <a:prstGeom prst="rect">
            <a:avLst/>
          </a:prstGeom>
          <a:noFill/>
        </p:spPr>
        <p:txBody>
          <a:bodyPr wrap="square" rtlCol="0">
            <a:spAutoFit/>
          </a:bodyPr>
          <a:lstStyle/>
          <a:p>
            <a:r>
              <a:rPr lang="en-US" sz="1600" dirty="0">
                <a:latin typeface="Rockwell" panose="02060603020205020403" pitchFamily="18" charset="0"/>
              </a:rPr>
              <a:t>Presented By : Keerthana</a:t>
            </a:r>
            <a:endParaRPr lang="en-IN" sz="1600" dirty="0">
              <a:latin typeface="Rockwell" panose="02060603020205020403" pitchFamily="18" charset="0"/>
            </a:endParaRPr>
          </a:p>
        </p:txBody>
      </p:sp>
      <p:sp>
        <p:nvSpPr>
          <p:cNvPr id="15" name="TextBox 14">
            <a:extLst>
              <a:ext uri="{FF2B5EF4-FFF2-40B4-BE49-F238E27FC236}">
                <a16:creationId xmlns:a16="http://schemas.microsoft.com/office/drawing/2014/main" id="{E4C7EF0A-090E-205A-5DEF-1B460055B7A1}"/>
              </a:ext>
            </a:extLst>
          </p:cNvPr>
          <p:cNvSpPr txBox="1"/>
          <p:nvPr/>
        </p:nvSpPr>
        <p:spPr>
          <a:xfrm>
            <a:off x="198334" y="3630542"/>
            <a:ext cx="6748217" cy="3139321"/>
          </a:xfrm>
          <a:prstGeom prst="rect">
            <a:avLst/>
          </a:prstGeom>
          <a:noFill/>
        </p:spPr>
        <p:txBody>
          <a:bodyPr wrap="square" rtlCol="0">
            <a:spAutoFit/>
          </a:bodyPr>
          <a:lstStyle/>
          <a:p>
            <a:pPr algn="just"/>
            <a:r>
              <a:rPr lang="en-GB" dirty="0"/>
              <a:t>“In the field of workforce analytics, this project focuses on predicting employee retention by applying machine learning–based predictive techniques. The study </a:t>
            </a:r>
            <a:r>
              <a:rPr lang="en-GB" dirty="0" err="1"/>
              <a:t>analyzes</a:t>
            </a:r>
            <a:r>
              <a:rPr lang="en-GB" dirty="0"/>
              <a:t> a combination of demographic characteristics, professional background, educational attributes, and organizational factors to understand patterns influencing employee continuity. By refining prediction algorithms, the project aims to uncover hidden trends that enable early identification of employees who may be at risk of leaving. These insights support proactive human resource strategies, contributing to improved talent management, reduced attrition, and enhanced organizational stability and performance”.</a:t>
            </a:r>
            <a:endParaRPr lang="kn-IN" dirty="0"/>
          </a:p>
        </p:txBody>
      </p:sp>
      <p:pic>
        <p:nvPicPr>
          <p:cNvPr id="18" name="Picture 17">
            <a:extLst>
              <a:ext uri="{FF2B5EF4-FFF2-40B4-BE49-F238E27FC236}">
                <a16:creationId xmlns:a16="http://schemas.microsoft.com/office/drawing/2014/main" id="{D428D210-7045-63FE-6985-3D7B4C689B79}"/>
              </a:ext>
            </a:extLst>
          </p:cNvPr>
          <p:cNvPicPr>
            <a:picLocks noChangeAspect="1"/>
          </p:cNvPicPr>
          <p:nvPr/>
        </p:nvPicPr>
        <p:blipFill>
          <a:blip r:embed="rId4">
            <a:extLst>
              <a:ext uri="{28A0092B-C50C-407E-A947-70E740481C1C}">
                <a14:useLocalDpi xmlns:a14="http://schemas.microsoft.com/office/drawing/2010/main" val="0"/>
              </a:ext>
            </a:extLst>
          </a:blip>
          <a:srcRect b="12402"/>
          <a:stretch>
            <a:fillRect/>
          </a:stretch>
        </p:blipFill>
        <p:spPr>
          <a:xfrm>
            <a:off x="7473821" y="1383474"/>
            <a:ext cx="4519846" cy="3656058"/>
          </a:xfrm>
          <a:prstGeom prst="rect">
            <a:avLst/>
          </a:prstGeom>
        </p:spPr>
      </p:pic>
    </p:spTree>
    <p:extLst>
      <p:ext uri="{BB962C8B-B14F-4D97-AF65-F5344CB8AC3E}">
        <p14:creationId xmlns:p14="http://schemas.microsoft.com/office/powerpoint/2010/main" val="214605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6DC04-E119-85B1-C625-F0A0AA601B28}"/>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531D6161-303B-E7BA-2E15-0EEF9AD2C2F6}"/>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417837" y="24948"/>
            <a:ext cx="473684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6C593E94-8C3A-D7BB-2825-B7F19B083C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6" name="Picture 5" descr="A close up of a device&#10;&#10;Description automatically generated">
            <a:extLst>
              <a:ext uri="{FF2B5EF4-FFF2-40B4-BE49-F238E27FC236}">
                <a16:creationId xmlns:a16="http://schemas.microsoft.com/office/drawing/2014/main" id="{3CE296FD-137C-D2A2-4996-28F417B50985}"/>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0"/>
            <a:ext cx="12192000" cy="6856718"/>
          </a:xfrm>
          <a:prstGeom prst="rect">
            <a:avLst/>
          </a:prstGeom>
        </p:spPr>
      </p:pic>
      <p:sp>
        <p:nvSpPr>
          <p:cNvPr id="36" name="Rectangle 35">
            <a:extLst>
              <a:ext uri="{FF2B5EF4-FFF2-40B4-BE49-F238E27FC236}">
                <a16:creationId xmlns:a16="http://schemas.microsoft.com/office/drawing/2014/main" id="{4338ACF1-3AE7-AAAF-377A-D04467241B6B}"/>
              </a:ext>
            </a:extLst>
          </p:cNvPr>
          <p:cNvSpPr/>
          <p:nvPr/>
        </p:nvSpPr>
        <p:spPr>
          <a:xfrm rot="246739" flipH="1">
            <a:off x="7015363" y="170698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FF9522-728B-1B71-5A35-C44DCEF535E5}"/>
              </a:ext>
            </a:extLst>
          </p:cNvPr>
          <p:cNvSpPr/>
          <p:nvPr/>
        </p:nvSpPr>
        <p:spPr>
          <a:xfrm rot="246739" flipH="1">
            <a:off x="7003397" y="3008393"/>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Picture 37">
            <a:extLst>
              <a:ext uri="{FF2B5EF4-FFF2-40B4-BE49-F238E27FC236}">
                <a16:creationId xmlns:a16="http://schemas.microsoft.com/office/drawing/2014/main" id="{D74DC6EF-1A6C-770A-BFF7-D4079E013C78}"/>
              </a:ext>
            </a:extLst>
          </p:cNvPr>
          <p:cNvPicPr>
            <a:picLocks noChangeAspect="1"/>
          </p:cNvPicPr>
          <p:nvPr/>
        </p:nvPicPr>
        <p:blipFill>
          <a:blip r:embed="rId4">
            <a:alphaModFix amt="20000"/>
            <a:extLst>
              <a:ext uri="{28A0092B-C50C-407E-A947-70E740481C1C}">
                <a14:useLocalDpi xmlns:a14="http://schemas.microsoft.com/office/drawing/2010/main" val="0"/>
              </a:ext>
            </a:extLst>
          </a:blip>
          <a:stretch>
            <a:fillRect/>
          </a:stretch>
        </p:blipFill>
        <p:spPr>
          <a:xfrm>
            <a:off x="1243391" y="371475"/>
            <a:ext cx="9703682" cy="6807060"/>
          </a:xfrm>
          <a:prstGeom prst="rect">
            <a:avLst/>
          </a:prstGeom>
        </p:spPr>
      </p:pic>
      <p:sp>
        <p:nvSpPr>
          <p:cNvPr id="39" name="Rectangle 38">
            <a:extLst>
              <a:ext uri="{FF2B5EF4-FFF2-40B4-BE49-F238E27FC236}">
                <a16:creationId xmlns:a16="http://schemas.microsoft.com/office/drawing/2014/main" id="{2B97E9BE-27CA-BC26-2086-A3EFF7E8B9C3}"/>
              </a:ext>
            </a:extLst>
          </p:cNvPr>
          <p:cNvSpPr/>
          <p:nvPr/>
        </p:nvSpPr>
        <p:spPr>
          <a:xfrm rot="246739" flipH="1">
            <a:off x="7025206" y="4443161"/>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CA6E5FD1-661C-0867-DCA9-912FCA499B2D}"/>
              </a:ext>
            </a:extLst>
          </p:cNvPr>
          <p:cNvSpPr/>
          <p:nvPr/>
        </p:nvSpPr>
        <p:spPr>
          <a:xfrm rot="246739" flipH="1">
            <a:off x="6932425" y="5680014"/>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5F8D7B1-0570-F962-C914-1C665E8B0584}"/>
              </a:ext>
            </a:extLst>
          </p:cNvPr>
          <p:cNvSpPr/>
          <p:nvPr/>
        </p:nvSpPr>
        <p:spPr>
          <a:xfrm rot="21353261">
            <a:off x="1402699" y="170698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77596EB-A5E2-95F3-0EEC-93192626F0DC}"/>
              </a:ext>
            </a:extLst>
          </p:cNvPr>
          <p:cNvSpPr/>
          <p:nvPr/>
        </p:nvSpPr>
        <p:spPr>
          <a:xfrm rot="21353261">
            <a:off x="1474156" y="299526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E772D0F0-2E0F-F9C0-5852-D030C5AE3E71}"/>
              </a:ext>
            </a:extLst>
          </p:cNvPr>
          <p:cNvSpPr/>
          <p:nvPr/>
        </p:nvSpPr>
        <p:spPr>
          <a:xfrm rot="21353261">
            <a:off x="1422756" y="4435125"/>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E4F2F784-0DF4-03C2-CCB3-DDC65E9304D1}"/>
              </a:ext>
            </a:extLst>
          </p:cNvPr>
          <p:cNvSpPr/>
          <p:nvPr/>
        </p:nvSpPr>
        <p:spPr>
          <a:xfrm rot="21353261">
            <a:off x="1441051" y="5680014"/>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2A6FAB3F-4ED4-AF39-F0FD-4F4B80D44599}"/>
              </a:ext>
            </a:extLst>
          </p:cNvPr>
          <p:cNvGrpSpPr/>
          <p:nvPr/>
        </p:nvGrpSpPr>
        <p:grpSpPr>
          <a:xfrm>
            <a:off x="1132929" y="800323"/>
            <a:ext cx="9924606" cy="5904656"/>
            <a:chOff x="1133697" y="476672"/>
            <a:chExt cx="9924606" cy="5904656"/>
          </a:xfrm>
        </p:grpSpPr>
        <p:sp>
          <p:nvSpPr>
            <p:cNvPr id="46" name="Rectangle: Rounded Corners 45">
              <a:extLst>
                <a:ext uri="{FF2B5EF4-FFF2-40B4-BE49-F238E27FC236}">
                  <a16:creationId xmlns:a16="http://schemas.microsoft.com/office/drawing/2014/main" id="{3D7D7708-4B77-DC92-BDCD-38A49519E8BB}"/>
                </a:ext>
              </a:extLst>
            </p:cNvPr>
            <p:cNvSpPr/>
            <p:nvPr/>
          </p:nvSpPr>
          <p:spPr>
            <a:xfrm>
              <a:off x="5385566" y="476672"/>
              <a:ext cx="1360800" cy="5904656"/>
            </a:xfrm>
            <a:prstGeom prst="roundRect">
              <a:avLst/>
            </a:prstGeom>
            <a:noFill/>
            <a:ln w="142875">
              <a:gradFill flip="none" rotWithShape="1">
                <a:gsLst>
                  <a:gs pos="0">
                    <a:schemeClr val="accent1">
                      <a:lumMod val="5000"/>
                      <a:lumOff val="95000"/>
                      <a:alpha val="80000"/>
                    </a:schemeClr>
                  </a:gs>
                  <a:gs pos="100000">
                    <a:schemeClr val="bg1">
                      <a:alpha val="80000"/>
                    </a:schemeClr>
                  </a:gs>
                  <a:gs pos="65000">
                    <a:schemeClr val="bg1">
                      <a:alpha val="80000"/>
                    </a:schemeClr>
                  </a:gs>
                </a:gsLst>
                <a:lin ang="16200000" scaled="1"/>
                <a:tileRect/>
              </a:gradFill>
            </a:ln>
            <a:effectLst>
              <a:outerShdw blurRad="228600" dist="38100" dir="2700000" algn="tl" rotWithShape="0">
                <a:schemeClr val="bg2">
                  <a:lumMod val="25000"/>
                  <a:alpha val="79000"/>
                </a:scheme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7" name="Group 46">
              <a:extLst>
                <a:ext uri="{FF2B5EF4-FFF2-40B4-BE49-F238E27FC236}">
                  <a16:creationId xmlns:a16="http://schemas.microsoft.com/office/drawing/2014/main" id="{32FE2586-0C96-90B0-2950-B836349EFE48}"/>
                </a:ext>
              </a:extLst>
            </p:cNvPr>
            <p:cNvGrpSpPr/>
            <p:nvPr/>
          </p:nvGrpSpPr>
          <p:grpSpPr>
            <a:xfrm>
              <a:off x="1133697" y="866706"/>
              <a:ext cx="9924606" cy="4962715"/>
              <a:chOff x="1136064" y="866706"/>
              <a:chExt cx="9924606" cy="4962715"/>
            </a:xfrm>
          </p:grpSpPr>
          <p:sp>
            <p:nvSpPr>
              <p:cNvPr id="48" name="Rectangle: Rounded Corners 47">
                <a:extLst>
                  <a:ext uri="{FF2B5EF4-FFF2-40B4-BE49-F238E27FC236}">
                    <a16:creationId xmlns:a16="http://schemas.microsoft.com/office/drawing/2014/main" id="{83F359F3-CBB7-97E5-D81F-15B1CE4AAEA1}"/>
                  </a:ext>
                </a:extLst>
              </p:cNvPr>
              <p:cNvSpPr/>
              <p:nvPr/>
            </p:nvSpPr>
            <p:spPr>
              <a:xfrm>
                <a:off x="1137600" y="2164175"/>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B1E2502F-1055-6F63-3897-77EDE9B7E759}"/>
                  </a:ext>
                </a:extLst>
              </p:cNvPr>
              <p:cNvSpPr/>
              <p:nvPr/>
            </p:nvSpPr>
            <p:spPr>
              <a:xfrm>
                <a:off x="1137600" y="3585041"/>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Rounded Corners 49">
                <a:extLst>
                  <a:ext uri="{FF2B5EF4-FFF2-40B4-BE49-F238E27FC236}">
                    <a16:creationId xmlns:a16="http://schemas.microsoft.com/office/drawing/2014/main" id="{C56B3920-9CFA-CACF-AEE5-C07CBF67473F}"/>
                  </a:ext>
                </a:extLst>
              </p:cNvPr>
              <p:cNvSpPr/>
              <p:nvPr/>
            </p:nvSpPr>
            <p:spPr>
              <a:xfrm>
                <a:off x="1137600" y="4856400"/>
                <a:ext cx="4616670" cy="973021"/>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Rounded Corners 50">
                <a:extLst>
                  <a:ext uri="{FF2B5EF4-FFF2-40B4-BE49-F238E27FC236}">
                    <a16:creationId xmlns:a16="http://schemas.microsoft.com/office/drawing/2014/main" id="{E49C9426-381B-567F-8F95-3C4815C09777}"/>
                  </a:ext>
                </a:extLst>
              </p:cNvPr>
              <p:cNvSpPr/>
              <p:nvPr/>
            </p:nvSpPr>
            <p:spPr>
              <a:xfrm>
                <a:off x="6444000" y="866706"/>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1B527CEC-E7F5-BA6F-82A4-869005B35A00}"/>
                  </a:ext>
                </a:extLst>
              </p:cNvPr>
              <p:cNvSpPr/>
              <p:nvPr/>
            </p:nvSpPr>
            <p:spPr>
              <a:xfrm>
                <a:off x="6444000" y="2166198"/>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896C9D3E-40D9-315C-E887-C2202973BE04}"/>
                  </a:ext>
                </a:extLst>
              </p:cNvPr>
              <p:cNvSpPr/>
              <p:nvPr/>
            </p:nvSpPr>
            <p:spPr>
              <a:xfrm>
                <a:off x="6444000" y="3585600"/>
                <a:ext cx="4616670" cy="973021"/>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67C5D419-EE80-8178-D85F-D8342790F77F}"/>
                  </a:ext>
                </a:extLst>
              </p:cNvPr>
              <p:cNvSpPr/>
              <p:nvPr/>
            </p:nvSpPr>
            <p:spPr>
              <a:xfrm>
                <a:off x="6444000" y="4857202"/>
                <a:ext cx="4616670" cy="956990"/>
              </a:xfrm>
              <a:prstGeom prst="roundRect">
                <a:avLst/>
              </a:prstGeom>
              <a:gradFill flip="none" rotWithShape="1">
                <a:gsLst>
                  <a:gs pos="0">
                    <a:srgbClr val="4E70AA"/>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Rounded Corners 54">
                <a:extLst>
                  <a:ext uri="{FF2B5EF4-FFF2-40B4-BE49-F238E27FC236}">
                    <a16:creationId xmlns:a16="http://schemas.microsoft.com/office/drawing/2014/main" id="{565E8FE3-52F2-0B50-ACBD-4F8792DEECC8}"/>
                  </a:ext>
                </a:extLst>
              </p:cNvPr>
              <p:cNvSpPr/>
              <p:nvPr/>
            </p:nvSpPr>
            <p:spPr>
              <a:xfrm>
                <a:off x="1136064" y="866706"/>
                <a:ext cx="4616670" cy="1028648"/>
              </a:xfrm>
              <a:prstGeom prst="roundRect">
                <a:avLst/>
              </a:prstGeom>
              <a:gradFill flip="none" rotWithShape="1">
                <a:gsLst>
                  <a:gs pos="0">
                    <a:schemeClr val="accent1">
                      <a:lumMod val="60000"/>
                      <a:lumOff val="40000"/>
                    </a:schemeClr>
                  </a:gs>
                  <a:gs pos="100000">
                    <a:schemeClr val="accent1">
                      <a:lumMod val="75000"/>
                      <a:alpha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DDDC0A49-DB3D-3250-D0A8-6836B54C63BE}"/>
                  </a:ext>
                </a:extLst>
              </p:cNvPr>
              <p:cNvSpPr/>
              <p:nvPr/>
            </p:nvSpPr>
            <p:spPr>
              <a:xfrm>
                <a:off x="1598470" y="937815"/>
                <a:ext cx="4029356" cy="843410"/>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Rounded Corners 56">
                <a:extLst>
                  <a:ext uri="{FF2B5EF4-FFF2-40B4-BE49-F238E27FC236}">
                    <a16:creationId xmlns:a16="http://schemas.microsoft.com/office/drawing/2014/main" id="{7BD3C6CF-5A9B-D7C8-3A8E-7228E9236719}"/>
                  </a:ext>
                </a:extLst>
              </p:cNvPr>
              <p:cNvSpPr/>
              <p:nvPr/>
            </p:nvSpPr>
            <p:spPr>
              <a:xfrm>
                <a:off x="1558800" y="2225065"/>
                <a:ext cx="4028771" cy="788399"/>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Rounded Corners 57">
                <a:extLst>
                  <a:ext uri="{FF2B5EF4-FFF2-40B4-BE49-F238E27FC236}">
                    <a16:creationId xmlns:a16="http://schemas.microsoft.com/office/drawing/2014/main" id="{BDC2F0BB-5653-7FCA-36E3-7C7004110911}"/>
                  </a:ext>
                </a:extLst>
              </p:cNvPr>
              <p:cNvSpPr/>
              <p:nvPr/>
            </p:nvSpPr>
            <p:spPr>
              <a:xfrm>
                <a:off x="6566400" y="4935600"/>
                <a:ext cx="4028771" cy="788396"/>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Rounded Corners 58">
                <a:extLst>
                  <a:ext uri="{FF2B5EF4-FFF2-40B4-BE49-F238E27FC236}">
                    <a16:creationId xmlns:a16="http://schemas.microsoft.com/office/drawing/2014/main" id="{4A0C7A08-E55E-79B8-2C6E-DEDFB26DB685}"/>
                  </a:ext>
                </a:extLst>
              </p:cNvPr>
              <p:cNvSpPr/>
              <p:nvPr/>
            </p:nvSpPr>
            <p:spPr>
              <a:xfrm>
                <a:off x="6567535" y="3675600"/>
                <a:ext cx="4028771" cy="788396"/>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Rounded Corners 59">
                <a:extLst>
                  <a:ext uri="{FF2B5EF4-FFF2-40B4-BE49-F238E27FC236}">
                    <a16:creationId xmlns:a16="http://schemas.microsoft.com/office/drawing/2014/main" id="{2E0808E0-8DC1-A1F6-52AD-DA0CF7D71D0C}"/>
                  </a:ext>
                </a:extLst>
              </p:cNvPr>
              <p:cNvSpPr/>
              <p:nvPr/>
            </p:nvSpPr>
            <p:spPr>
              <a:xfrm>
                <a:off x="6566400" y="2242800"/>
                <a:ext cx="4028771" cy="788397"/>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93FE85B5-BDC7-332F-9783-521AFD73EBF9}"/>
                  </a:ext>
                </a:extLst>
              </p:cNvPr>
              <p:cNvSpPr/>
              <p:nvPr/>
            </p:nvSpPr>
            <p:spPr>
              <a:xfrm>
                <a:off x="6566400" y="946799"/>
                <a:ext cx="4028771" cy="832247"/>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1D7B003A-0B11-A19A-2EF6-C27FD97BE106}"/>
                  </a:ext>
                </a:extLst>
              </p:cNvPr>
              <p:cNvSpPr/>
              <p:nvPr/>
            </p:nvSpPr>
            <p:spPr>
              <a:xfrm>
                <a:off x="1558800" y="4935600"/>
                <a:ext cx="4028771" cy="788397"/>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Rounded Corners 62">
                <a:extLst>
                  <a:ext uri="{FF2B5EF4-FFF2-40B4-BE49-F238E27FC236}">
                    <a16:creationId xmlns:a16="http://schemas.microsoft.com/office/drawing/2014/main" id="{7AFB43F6-2521-66A1-B5CD-DBEE164EB359}"/>
                  </a:ext>
                </a:extLst>
              </p:cNvPr>
              <p:cNvSpPr/>
              <p:nvPr/>
            </p:nvSpPr>
            <p:spPr>
              <a:xfrm>
                <a:off x="1558800" y="3675266"/>
                <a:ext cx="4028771" cy="788399"/>
              </a:xfrm>
              <a:prstGeom prst="roundRect">
                <a:avLst/>
              </a:prstGeom>
              <a:gradFill>
                <a:gsLst>
                  <a:gs pos="56000">
                    <a:schemeClr val="accent1">
                      <a:lumMod val="20000"/>
                      <a:lumOff val="80000"/>
                    </a:schemeClr>
                  </a:gs>
                  <a:gs pos="100000">
                    <a:schemeClr val="accent1">
                      <a:lumMod val="20000"/>
                      <a:lumOff val="80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Top Corners Rounded 63">
                <a:extLst>
                  <a:ext uri="{FF2B5EF4-FFF2-40B4-BE49-F238E27FC236}">
                    <a16:creationId xmlns:a16="http://schemas.microsoft.com/office/drawing/2014/main" id="{0C3FFB5E-A778-8795-920C-2093161CE22C}"/>
                  </a:ext>
                </a:extLst>
              </p:cNvPr>
              <p:cNvSpPr/>
              <p:nvPr/>
            </p:nvSpPr>
            <p:spPr>
              <a:xfrm rot="16200000" flipH="1">
                <a:off x="6305196" y="116867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Top Corners Rounded 64">
                <a:extLst>
                  <a:ext uri="{FF2B5EF4-FFF2-40B4-BE49-F238E27FC236}">
                    <a16:creationId xmlns:a16="http://schemas.microsoft.com/office/drawing/2014/main" id="{E4E17C6F-CA60-76BE-304E-E8931C30404B}"/>
                  </a:ext>
                </a:extLst>
              </p:cNvPr>
              <p:cNvSpPr/>
              <p:nvPr/>
            </p:nvSpPr>
            <p:spPr>
              <a:xfrm rot="5400000">
                <a:off x="5065727" y="116867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Top Corners Rounded 65">
                <a:extLst>
                  <a:ext uri="{FF2B5EF4-FFF2-40B4-BE49-F238E27FC236}">
                    <a16:creationId xmlns:a16="http://schemas.microsoft.com/office/drawing/2014/main" id="{18A35562-7DDD-F99A-239E-F0A675F2636A}"/>
                  </a:ext>
                </a:extLst>
              </p:cNvPr>
              <p:cNvSpPr/>
              <p:nvPr/>
            </p:nvSpPr>
            <p:spPr>
              <a:xfrm rot="5400000">
                <a:off x="5030391" y="3895294"/>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Top Corners Rounded 66">
                <a:extLst>
                  <a:ext uri="{FF2B5EF4-FFF2-40B4-BE49-F238E27FC236}">
                    <a16:creationId xmlns:a16="http://schemas.microsoft.com/office/drawing/2014/main" id="{59A679E2-61CB-B38B-8B78-1C0C6DD0DD3D}"/>
                  </a:ext>
                </a:extLst>
              </p:cNvPr>
              <p:cNvSpPr/>
              <p:nvPr/>
            </p:nvSpPr>
            <p:spPr>
              <a:xfrm rot="16200000" flipH="1">
                <a:off x="6319363" y="389520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Top Corners Rounded 67">
                <a:extLst>
                  <a:ext uri="{FF2B5EF4-FFF2-40B4-BE49-F238E27FC236}">
                    <a16:creationId xmlns:a16="http://schemas.microsoft.com/office/drawing/2014/main" id="{76B30241-7E6E-0633-33B1-D6B234A37F33}"/>
                  </a:ext>
                </a:extLst>
              </p:cNvPr>
              <p:cNvSpPr/>
              <p:nvPr/>
            </p:nvSpPr>
            <p:spPr>
              <a:xfrm rot="5400000">
                <a:off x="5065200" y="2466000"/>
                <a:ext cx="8460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Top Corners Rounded 68">
                <a:extLst>
                  <a:ext uri="{FF2B5EF4-FFF2-40B4-BE49-F238E27FC236}">
                    <a16:creationId xmlns:a16="http://schemas.microsoft.com/office/drawing/2014/main" id="{60787E6F-0AF9-80DE-D46C-AD39363E711C}"/>
                  </a:ext>
                </a:extLst>
              </p:cNvPr>
              <p:cNvSpPr/>
              <p:nvPr/>
            </p:nvSpPr>
            <p:spPr>
              <a:xfrm rot="16200000" flipH="1">
                <a:off x="6305196" y="5148000"/>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Top Corners Rounded 69">
                <a:extLst>
                  <a:ext uri="{FF2B5EF4-FFF2-40B4-BE49-F238E27FC236}">
                    <a16:creationId xmlns:a16="http://schemas.microsoft.com/office/drawing/2014/main" id="{7F881093-171B-7A09-04A8-ADCF4C282710}"/>
                  </a:ext>
                </a:extLst>
              </p:cNvPr>
              <p:cNvSpPr/>
              <p:nvPr/>
            </p:nvSpPr>
            <p:spPr>
              <a:xfrm rot="16200000" flipH="1">
                <a:off x="6308458" y="2470816"/>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Top Corners Rounded 70">
                <a:extLst>
                  <a:ext uri="{FF2B5EF4-FFF2-40B4-BE49-F238E27FC236}">
                    <a16:creationId xmlns:a16="http://schemas.microsoft.com/office/drawing/2014/main" id="{BD93DCC5-F923-B3D9-1017-93B80111081C}"/>
                  </a:ext>
                </a:extLst>
              </p:cNvPr>
              <p:cNvSpPr/>
              <p:nvPr/>
            </p:nvSpPr>
            <p:spPr>
              <a:xfrm rot="5400000">
                <a:off x="5015812" y="5146439"/>
                <a:ext cx="812800" cy="348343"/>
              </a:xfrm>
              <a:prstGeom prst="round2SameRect">
                <a:avLst/>
              </a:prstGeom>
              <a:gradFill>
                <a:gsLst>
                  <a:gs pos="81400">
                    <a:schemeClr val="accent1">
                      <a:lumMod val="75000"/>
                    </a:schemeClr>
                  </a:gs>
                  <a:gs pos="7000">
                    <a:schemeClr val="accent1">
                      <a:lumMod val="40000"/>
                      <a:lumOff val="60000"/>
                    </a:schemeClr>
                  </a:gs>
                  <a:gs pos="100000">
                    <a:schemeClr val="accent1">
                      <a:lumMod val="50000"/>
                    </a:schemeClr>
                  </a:gs>
                </a:gsLst>
                <a:lin ang="16200000" scaled="1"/>
              </a:gra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72" name="TextBox 71">
            <a:extLst>
              <a:ext uri="{FF2B5EF4-FFF2-40B4-BE49-F238E27FC236}">
                <a16:creationId xmlns:a16="http://schemas.microsoft.com/office/drawing/2014/main" id="{2BCE9EF0-769A-6D7C-C01D-EB41A0DC2093}"/>
              </a:ext>
            </a:extLst>
          </p:cNvPr>
          <p:cNvSpPr txBox="1"/>
          <p:nvPr/>
        </p:nvSpPr>
        <p:spPr>
          <a:xfrm>
            <a:off x="1586185" y="1438181"/>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01</a:t>
            </a:r>
          </a:p>
        </p:txBody>
      </p:sp>
      <p:sp>
        <p:nvSpPr>
          <p:cNvPr id="73" name="TextBox 72">
            <a:hlinkClick r:id="rId5" action="ppaction://hlinksldjump"/>
            <a:extLst>
              <a:ext uri="{FF2B5EF4-FFF2-40B4-BE49-F238E27FC236}">
                <a16:creationId xmlns:a16="http://schemas.microsoft.com/office/drawing/2014/main" id="{64FE8923-4EEE-2590-9465-52B7E5BCCE7E}"/>
              </a:ext>
            </a:extLst>
          </p:cNvPr>
          <p:cNvSpPr txBox="1"/>
          <p:nvPr/>
        </p:nvSpPr>
        <p:spPr>
          <a:xfrm>
            <a:off x="2265940" y="1279905"/>
            <a:ext cx="2569987"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Introduction</a:t>
            </a:r>
          </a:p>
        </p:txBody>
      </p:sp>
      <p:cxnSp>
        <p:nvCxnSpPr>
          <p:cNvPr id="74" name="Straight Connector 73">
            <a:extLst>
              <a:ext uri="{FF2B5EF4-FFF2-40B4-BE49-F238E27FC236}">
                <a16:creationId xmlns:a16="http://schemas.microsoft.com/office/drawing/2014/main" id="{60E18A48-D27C-33EE-2B5E-496583C7187C}"/>
              </a:ext>
            </a:extLst>
          </p:cNvPr>
          <p:cNvCxnSpPr/>
          <p:nvPr/>
        </p:nvCxnSpPr>
        <p:spPr>
          <a:xfrm>
            <a:off x="2266731" y="1343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0ECACA5-4ACC-417B-5F67-8FA94A58C313}"/>
              </a:ext>
            </a:extLst>
          </p:cNvPr>
          <p:cNvCxnSpPr/>
          <p:nvPr/>
        </p:nvCxnSpPr>
        <p:spPr>
          <a:xfrm>
            <a:off x="2266731" y="535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7F1C55B-0B3D-0E87-0C7D-7C4B7BB06D67}"/>
              </a:ext>
            </a:extLst>
          </p:cNvPr>
          <p:cNvCxnSpPr/>
          <p:nvPr/>
        </p:nvCxnSpPr>
        <p:spPr>
          <a:xfrm>
            <a:off x="2266731" y="409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0F70ADE-5C02-521E-EDA7-00E083B8D5BA}"/>
              </a:ext>
            </a:extLst>
          </p:cNvPr>
          <p:cNvCxnSpPr/>
          <p:nvPr/>
        </p:nvCxnSpPr>
        <p:spPr>
          <a:xfrm>
            <a:off x="2266731" y="26430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5F6CF24-553F-C6B1-7774-DABAC36241CF}"/>
              </a:ext>
            </a:extLst>
          </p:cNvPr>
          <p:cNvCxnSpPr/>
          <p:nvPr/>
        </p:nvCxnSpPr>
        <p:spPr>
          <a:xfrm>
            <a:off x="7630603" y="535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C666F24-0C36-EC55-9946-687C207706D1}"/>
              </a:ext>
            </a:extLst>
          </p:cNvPr>
          <p:cNvCxnSpPr/>
          <p:nvPr/>
        </p:nvCxnSpPr>
        <p:spPr>
          <a:xfrm>
            <a:off x="7630603" y="40974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38644351-E158-7F83-2E5B-EEF230D4C557}"/>
              </a:ext>
            </a:extLst>
          </p:cNvPr>
          <p:cNvCxnSpPr/>
          <p:nvPr/>
        </p:nvCxnSpPr>
        <p:spPr>
          <a:xfrm>
            <a:off x="7630603" y="26682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E9530AD-76B9-45DC-C770-CCB592979465}"/>
              </a:ext>
            </a:extLst>
          </p:cNvPr>
          <p:cNvCxnSpPr/>
          <p:nvPr/>
        </p:nvCxnSpPr>
        <p:spPr>
          <a:xfrm>
            <a:off x="7628627" y="1368675"/>
            <a:ext cx="0" cy="68400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E78A8BF3-92E8-BC89-A60D-FCBAC83E686B}"/>
              </a:ext>
            </a:extLst>
          </p:cNvPr>
          <p:cNvSpPr txBox="1"/>
          <p:nvPr/>
        </p:nvSpPr>
        <p:spPr>
          <a:xfrm>
            <a:off x="1561117" y="2716557"/>
            <a:ext cx="754495"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03</a:t>
            </a:r>
          </a:p>
        </p:txBody>
      </p:sp>
      <p:sp>
        <p:nvSpPr>
          <p:cNvPr id="83" name="TextBox 82">
            <a:extLst>
              <a:ext uri="{FF2B5EF4-FFF2-40B4-BE49-F238E27FC236}">
                <a16:creationId xmlns:a16="http://schemas.microsoft.com/office/drawing/2014/main" id="{6991BE91-390C-254F-D338-E036BE9089F6}"/>
              </a:ext>
            </a:extLst>
          </p:cNvPr>
          <p:cNvSpPr txBox="1"/>
          <p:nvPr/>
        </p:nvSpPr>
        <p:spPr>
          <a:xfrm>
            <a:off x="1562400" y="5450107"/>
            <a:ext cx="759179"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07</a:t>
            </a:r>
          </a:p>
        </p:txBody>
      </p:sp>
      <p:sp>
        <p:nvSpPr>
          <p:cNvPr id="84" name="TextBox 83">
            <a:extLst>
              <a:ext uri="{FF2B5EF4-FFF2-40B4-BE49-F238E27FC236}">
                <a16:creationId xmlns:a16="http://schemas.microsoft.com/office/drawing/2014/main" id="{912AFBCD-2D62-9B6A-8C45-945923C5770A}"/>
              </a:ext>
            </a:extLst>
          </p:cNvPr>
          <p:cNvSpPr txBox="1"/>
          <p:nvPr/>
        </p:nvSpPr>
        <p:spPr>
          <a:xfrm>
            <a:off x="6882230" y="1405142"/>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02</a:t>
            </a:r>
          </a:p>
        </p:txBody>
      </p:sp>
      <p:sp>
        <p:nvSpPr>
          <p:cNvPr id="85" name="TextBox 84">
            <a:extLst>
              <a:ext uri="{FF2B5EF4-FFF2-40B4-BE49-F238E27FC236}">
                <a16:creationId xmlns:a16="http://schemas.microsoft.com/office/drawing/2014/main" id="{26BB0C7C-B96E-1E31-871E-77176389FE7E}"/>
              </a:ext>
            </a:extLst>
          </p:cNvPr>
          <p:cNvSpPr txBox="1"/>
          <p:nvPr/>
        </p:nvSpPr>
        <p:spPr>
          <a:xfrm>
            <a:off x="6886259" y="5399964"/>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08</a:t>
            </a:r>
          </a:p>
        </p:txBody>
      </p:sp>
      <p:sp>
        <p:nvSpPr>
          <p:cNvPr id="86" name="TextBox 85">
            <a:extLst>
              <a:ext uri="{FF2B5EF4-FFF2-40B4-BE49-F238E27FC236}">
                <a16:creationId xmlns:a16="http://schemas.microsoft.com/office/drawing/2014/main" id="{1FE73F41-4E6C-FC11-C51E-DDA72C39F045}"/>
              </a:ext>
            </a:extLst>
          </p:cNvPr>
          <p:cNvSpPr txBox="1"/>
          <p:nvPr/>
        </p:nvSpPr>
        <p:spPr>
          <a:xfrm>
            <a:off x="6892775" y="4153369"/>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06</a:t>
            </a:r>
          </a:p>
        </p:txBody>
      </p:sp>
      <p:sp>
        <p:nvSpPr>
          <p:cNvPr id="87" name="TextBox 86">
            <a:extLst>
              <a:ext uri="{FF2B5EF4-FFF2-40B4-BE49-F238E27FC236}">
                <a16:creationId xmlns:a16="http://schemas.microsoft.com/office/drawing/2014/main" id="{DA14C380-2A72-9F12-C5E3-5A3CB2A0E0F8}"/>
              </a:ext>
            </a:extLst>
          </p:cNvPr>
          <p:cNvSpPr txBox="1"/>
          <p:nvPr/>
        </p:nvSpPr>
        <p:spPr>
          <a:xfrm>
            <a:off x="6877512" y="2705284"/>
            <a:ext cx="729428"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04</a:t>
            </a:r>
          </a:p>
        </p:txBody>
      </p:sp>
      <p:sp>
        <p:nvSpPr>
          <p:cNvPr id="88" name="TextBox 87">
            <a:extLst>
              <a:ext uri="{FF2B5EF4-FFF2-40B4-BE49-F238E27FC236}">
                <a16:creationId xmlns:a16="http://schemas.microsoft.com/office/drawing/2014/main" id="{CDCCD1D1-CB7D-DFAC-A6D2-DC916146EC16}"/>
              </a:ext>
            </a:extLst>
          </p:cNvPr>
          <p:cNvSpPr txBox="1"/>
          <p:nvPr/>
        </p:nvSpPr>
        <p:spPr>
          <a:xfrm>
            <a:off x="1562400" y="4198583"/>
            <a:ext cx="759177" cy="477054"/>
          </a:xfrm>
          <a:prstGeom prst="rect">
            <a:avLst/>
          </a:prstGeom>
          <a:noFill/>
        </p:spPr>
        <p:txBody>
          <a:bodyPr wrap="square" rtlCol="0">
            <a:spAutoFit/>
          </a:bodyPr>
          <a:lstStyle/>
          <a:p>
            <a:pPr algn="ctr"/>
            <a:r>
              <a:rPr lang="en-US" sz="2500" dirty="0">
                <a:solidFill>
                  <a:srgbClr val="05066D"/>
                </a:solidFill>
                <a:effectLst>
                  <a:outerShdw blurRad="38100" dist="38100" dir="2700000" algn="tl">
                    <a:srgbClr val="000000">
                      <a:alpha val="43137"/>
                    </a:srgbClr>
                  </a:outerShdw>
                </a:effectLst>
                <a:latin typeface="Copperplate Gothic Bold" panose="020E0705020206020404" pitchFamily="34" charset="0"/>
              </a:rPr>
              <a:t>05</a:t>
            </a:r>
          </a:p>
        </p:txBody>
      </p:sp>
      <p:sp>
        <p:nvSpPr>
          <p:cNvPr id="91" name="TextBox 90">
            <a:hlinkClick r:id="rId6" action="ppaction://hlinksldjump"/>
            <a:extLst>
              <a:ext uri="{FF2B5EF4-FFF2-40B4-BE49-F238E27FC236}">
                <a16:creationId xmlns:a16="http://schemas.microsoft.com/office/drawing/2014/main" id="{6A17208E-BFB4-DD86-11C4-D45E32C051F1}"/>
              </a:ext>
            </a:extLst>
          </p:cNvPr>
          <p:cNvSpPr txBox="1"/>
          <p:nvPr/>
        </p:nvSpPr>
        <p:spPr>
          <a:xfrm>
            <a:off x="7622203" y="1264807"/>
            <a:ext cx="2556744" cy="553998"/>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Data Gathering /Data Refinement</a:t>
            </a:r>
          </a:p>
        </p:txBody>
      </p:sp>
      <p:sp>
        <p:nvSpPr>
          <p:cNvPr id="94" name="TextBox 93">
            <a:extLst>
              <a:ext uri="{FF2B5EF4-FFF2-40B4-BE49-F238E27FC236}">
                <a16:creationId xmlns:a16="http://schemas.microsoft.com/office/drawing/2014/main" id="{9C876997-7CB9-98AA-222C-7763AFF578C7}"/>
              </a:ext>
            </a:extLst>
          </p:cNvPr>
          <p:cNvSpPr txBox="1"/>
          <p:nvPr/>
        </p:nvSpPr>
        <p:spPr>
          <a:xfrm>
            <a:off x="2276566" y="2542016"/>
            <a:ext cx="2931146" cy="553998"/>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EXPLORATORY DATA ANALYSIS</a:t>
            </a:r>
          </a:p>
        </p:txBody>
      </p:sp>
      <p:sp>
        <p:nvSpPr>
          <p:cNvPr id="95" name="TextBox 94">
            <a:extLst>
              <a:ext uri="{FF2B5EF4-FFF2-40B4-BE49-F238E27FC236}">
                <a16:creationId xmlns:a16="http://schemas.microsoft.com/office/drawing/2014/main" id="{DBA6C66C-F683-F522-FDE3-CB6C300D83C8}"/>
              </a:ext>
            </a:extLst>
          </p:cNvPr>
          <p:cNvSpPr txBox="1"/>
          <p:nvPr/>
        </p:nvSpPr>
        <p:spPr>
          <a:xfrm>
            <a:off x="2262306" y="3000102"/>
            <a:ext cx="2805640" cy="40011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Find patterns  and identify trends </a:t>
            </a:r>
          </a:p>
          <a:p>
            <a:r>
              <a:rPr lang="en-US" sz="1000" dirty="0">
                <a:solidFill>
                  <a:schemeClr val="accent1">
                    <a:lumMod val="50000"/>
                  </a:schemeClr>
                </a:solidFill>
                <a:latin typeface="Century Gothic" panose="020B0502020202020204" pitchFamily="34" charset="0"/>
              </a:rPr>
              <a:t>Gain valuable insight from the dataset</a:t>
            </a:r>
          </a:p>
        </p:txBody>
      </p:sp>
      <p:sp>
        <p:nvSpPr>
          <p:cNvPr id="97" name="TextBox 96">
            <a:extLst>
              <a:ext uri="{FF2B5EF4-FFF2-40B4-BE49-F238E27FC236}">
                <a16:creationId xmlns:a16="http://schemas.microsoft.com/office/drawing/2014/main" id="{4A8327F5-139E-3261-7CA0-97F5018769EC}"/>
              </a:ext>
            </a:extLst>
          </p:cNvPr>
          <p:cNvSpPr txBox="1"/>
          <p:nvPr/>
        </p:nvSpPr>
        <p:spPr>
          <a:xfrm>
            <a:off x="7621200" y="2596256"/>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Feature Extraction</a:t>
            </a:r>
          </a:p>
        </p:txBody>
      </p:sp>
      <p:sp>
        <p:nvSpPr>
          <p:cNvPr id="98" name="TextBox 97">
            <a:extLst>
              <a:ext uri="{FF2B5EF4-FFF2-40B4-BE49-F238E27FC236}">
                <a16:creationId xmlns:a16="http://schemas.microsoft.com/office/drawing/2014/main" id="{CB0F77D4-3FF7-AB8C-168E-044284954579}"/>
              </a:ext>
            </a:extLst>
          </p:cNvPr>
          <p:cNvSpPr txBox="1"/>
          <p:nvPr/>
        </p:nvSpPr>
        <p:spPr>
          <a:xfrm>
            <a:off x="7639200" y="2863655"/>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Divide Features into X and Y</a:t>
            </a:r>
          </a:p>
        </p:txBody>
      </p:sp>
      <p:sp>
        <p:nvSpPr>
          <p:cNvPr id="99" name="TextBox 98">
            <a:extLst>
              <a:ext uri="{FF2B5EF4-FFF2-40B4-BE49-F238E27FC236}">
                <a16:creationId xmlns:a16="http://schemas.microsoft.com/office/drawing/2014/main" id="{7FB11609-B496-5215-3296-75E66634A44A}"/>
              </a:ext>
            </a:extLst>
          </p:cNvPr>
          <p:cNvSpPr txBox="1"/>
          <p:nvPr/>
        </p:nvSpPr>
        <p:spPr>
          <a:xfrm>
            <a:off x="7640007" y="3065164"/>
            <a:ext cx="3444942"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Machine Learning  </a:t>
            </a:r>
          </a:p>
        </p:txBody>
      </p:sp>
      <p:sp>
        <p:nvSpPr>
          <p:cNvPr id="100" name="TextBox 99">
            <a:extLst>
              <a:ext uri="{FF2B5EF4-FFF2-40B4-BE49-F238E27FC236}">
                <a16:creationId xmlns:a16="http://schemas.microsoft.com/office/drawing/2014/main" id="{7425EFE0-B42C-B7A2-827C-D5CE9A06E564}"/>
              </a:ext>
            </a:extLst>
          </p:cNvPr>
          <p:cNvSpPr txBox="1"/>
          <p:nvPr/>
        </p:nvSpPr>
        <p:spPr>
          <a:xfrm>
            <a:off x="2253420" y="4030900"/>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Methodology</a:t>
            </a:r>
          </a:p>
        </p:txBody>
      </p:sp>
      <p:sp>
        <p:nvSpPr>
          <p:cNvPr id="101" name="TextBox 100">
            <a:extLst>
              <a:ext uri="{FF2B5EF4-FFF2-40B4-BE49-F238E27FC236}">
                <a16:creationId xmlns:a16="http://schemas.microsoft.com/office/drawing/2014/main" id="{CBA237D7-4F33-0C00-B57C-4C726E6B40A4}"/>
              </a:ext>
            </a:extLst>
          </p:cNvPr>
          <p:cNvSpPr txBox="1"/>
          <p:nvPr/>
        </p:nvSpPr>
        <p:spPr>
          <a:xfrm>
            <a:off x="2225201" y="4313999"/>
            <a:ext cx="2805640" cy="40011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Algorithms or Models Used</a:t>
            </a:r>
          </a:p>
          <a:p>
            <a:r>
              <a:rPr lang="en-US" sz="1000" dirty="0">
                <a:solidFill>
                  <a:schemeClr val="accent1">
                    <a:lumMod val="50000"/>
                  </a:schemeClr>
                </a:solidFill>
                <a:latin typeface="Century Gothic" panose="020B0502020202020204" pitchFamily="34" charset="0"/>
              </a:rPr>
              <a:t>Compare each Evaluate Algorithm</a:t>
            </a:r>
          </a:p>
        </p:txBody>
      </p:sp>
      <p:sp>
        <p:nvSpPr>
          <p:cNvPr id="102" name="TextBox 101">
            <a:extLst>
              <a:ext uri="{FF2B5EF4-FFF2-40B4-BE49-F238E27FC236}">
                <a16:creationId xmlns:a16="http://schemas.microsoft.com/office/drawing/2014/main" id="{ECFBDAC4-737D-CC9A-DDE2-A1440814DE1F}"/>
              </a:ext>
            </a:extLst>
          </p:cNvPr>
          <p:cNvSpPr txBox="1"/>
          <p:nvPr/>
        </p:nvSpPr>
        <p:spPr>
          <a:xfrm>
            <a:off x="2356708" y="1582542"/>
            <a:ext cx="3018375" cy="553998"/>
          </a:xfrm>
          <a:prstGeom prst="rect">
            <a:avLst/>
          </a:prstGeom>
          <a:noFill/>
        </p:spPr>
        <p:txBody>
          <a:bodyPr wrap="square" rtlCol="0">
            <a:spAutoFit/>
          </a:bodyPr>
          <a:lstStyle/>
          <a:p>
            <a:pPr algn="just"/>
            <a:r>
              <a:rPr lang="en-US" sz="1000" dirty="0">
                <a:solidFill>
                  <a:schemeClr val="accent1">
                    <a:lumMod val="50000"/>
                  </a:schemeClr>
                </a:solidFill>
                <a:latin typeface="Century Gothic" panose="020B0502020202020204" pitchFamily="34" charset="0"/>
              </a:rPr>
              <a:t>Reason/Issue causing Employees to leave the job are predicted using models to find essential solution.</a:t>
            </a:r>
          </a:p>
        </p:txBody>
      </p:sp>
      <p:sp>
        <p:nvSpPr>
          <p:cNvPr id="103" name="TextBox 102">
            <a:extLst>
              <a:ext uri="{FF2B5EF4-FFF2-40B4-BE49-F238E27FC236}">
                <a16:creationId xmlns:a16="http://schemas.microsoft.com/office/drawing/2014/main" id="{EA7273CB-1EEA-095B-BE92-AECF5DE07A80}"/>
              </a:ext>
            </a:extLst>
          </p:cNvPr>
          <p:cNvSpPr txBox="1"/>
          <p:nvPr/>
        </p:nvSpPr>
        <p:spPr>
          <a:xfrm>
            <a:off x="7621200" y="4050241"/>
            <a:ext cx="2556744"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Experimental results</a:t>
            </a:r>
          </a:p>
        </p:txBody>
      </p:sp>
      <p:sp>
        <p:nvSpPr>
          <p:cNvPr id="104" name="TextBox 103">
            <a:extLst>
              <a:ext uri="{FF2B5EF4-FFF2-40B4-BE49-F238E27FC236}">
                <a16:creationId xmlns:a16="http://schemas.microsoft.com/office/drawing/2014/main" id="{D92E4BD4-94DF-D555-20C6-15419CCD111D}"/>
              </a:ext>
            </a:extLst>
          </p:cNvPr>
          <p:cNvSpPr txBox="1"/>
          <p:nvPr/>
        </p:nvSpPr>
        <p:spPr>
          <a:xfrm>
            <a:off x="7639200" y="4320474"/>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Visuals of Compared models</a:t>
            </a:r>
          </a:p>
        </p:txBody>
      </p:sp>
      <p:sp>
        <p:nvSpPr>
          <p:cNvPr id="105" name="TextBox 104">
            <a:extLst>
              <a:ext uri="{FF2B5EF4-FFF2-40B4-BE49-F238E27FC236}">
                <a16:creationId xmlns:a16="http://schemas.microsoft.com/office/drawing/2014/main" id="{570FD739-B9C9-AC98-F115-3335CAE68016}"/>
              </a:ext>
            </a:extLst>
          </p:cNvPr>
          <p:cNvSpPr txBox="1"/>
          <p:nvPr/>
        </p:nvSpPr>
        <p:spPr>
          <a:xfrm>
            <a:off x="7639200" y="4535125"/>
            <a:ext cx="307328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Accuracy, confusion matrix  of models</a:t>
            </a:r>
          </a:p>
        </p:txBody>
      </p:sp>
      <p:sp>
        <p:nvSpPr>
          <p:cNvPr id="106" name="TextBox 105">
            <a:extLst>
              <a:ext uri="{FF2B5EF4-FFF2-40B4-BE49-F238E27FC236}">
                <a16:creationId xmlns:a16="http://schemas.microsoft.com/office/drawing/2014/main" id="{0B3B2A30-70D2-E624-CF20-65F617B16577}"/>
              </a:ext>
            </a:extLst>
          </p:cNvPr>
          <p:cNvSpPr txBox="1"/>
          <p:nvPr/>
        </p:nvSpPr>
        <p:spPr>
          <a:xfrm>
            <a:off x="2253600" y="5320751"/>
            <a:ext cx="2931146"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Final prediction</a:t>
            </a:r>
          </a:p>
        </p:txBody>
      </p:sp>
      <p:sp>
        <p:nvSpPr>
          <p:cNvPr id="107" name="TextBox 106">
            <a:extLst>
              <a:ext uri="{FF2B5EF4-FFF2-40B4-BE49-F238E27FC236}">
                <a16:creationId xmlns:a16="http://schemas.microsoft.com/office/drawing/2014/main" id="{E79E5173-2B48-C37B-7AFD-A47DE5827DA3}"/>
              </a:ext>
            </a:extLst>
          </p:cNvPr>
          <p:cNvSpPr txBox="1"/>
          <p:nvPr/>
        </p:nvSpPr>
        <p:spPr>
          <a:xfrm>
            <a:off x="2224800" y="5532661"/>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Final prediction using test data</a:t>
            </a:r>
          </a:p>
        </p:txBody>
      </p:sp>
      <p:sp>
        <p:nvSpPr>
          <p:cNvPr id="108" name="TextBox 107">
            <a:extLst>
              <a:ext uri="{FF2B5EF4-FFF2-40B4-BE49-F238E27FC236}">
                <a16:creationId xmlns:a16="http://schemas.microsoft.com/office/drawing/2014/main" id="{874B81E5-0328-7ACC-ACBB-447A59D5BFFF}"/>
              </a:ext>
            </a:extLst>
          </p:cNvPr>
          <p:cNvSpPr txBox="1"/>
          <p:nvPr/>
        </p:nvSpPr>
        <p:spPr>
          <a:xfrm>
            <a:off x="2224800" y="5746583"/>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Suggestion for future</a:t>
            </a:r>
          </a:p>
        </p:txBody>
      </p:sp>
      <p:sp>
        <p:nvSpPr>
          <p:cNvPr id="109" name="TextBox 108">
            <a:extLst>
              <a:ext uri="{FF2B5EF4-FFF2-40B4-BE49-F238E27FC236}">
                <a16:creationId xmlns:a16="http://schemas.microsoft.com/office/drawing/2014/main" id="{382EF644-45F2-8F6F-A087-235150AD7158}"/>
              </a:ext>
            </a:extLst>
          </p:cNvPr>
          <p:cNvSpPr txBox="1"/>
          <p:nvPr/>
        </p:nvSpPr>
        <p:spPr>
          <a:xfrm>
            <a:off x="7591745" y="5259841"/>
            <a:ext cx="2894549" cy="323165"/>
          </a:xfrm>
          <a:prstGeom prst="rect">
            <a:avLst/>
          </a:prstGeom>
          <a:noFill/>
        </p:spPr>
        <p:txBody>
          <a:bodyPr wrap="square" rtlCol="0">
            <a:spAutoFit/>
          </a:bodyPr>
          <a:lstStyle/>
          <a:p>
            <a:r>
              <a:rPr lang="en-US" sz="1500" b="1" dirty="0">
                <a:solidFill>
                  <a:srgbClr val="002060"/>
                </a:solidFill>
                <a:latin typeface="Copperplate Gothic Bold" panose="020E0705020206020404" pitchFamily="34" charset="0"/>
              </a:rPr>
              <a:t>Conclusion </a:t>
            </a:r>
          </a:p>
        </p:txBody>
      </p:sp>
      <p:sp>
        <p:nvSpPr>
          <p:cNvPr id="110" name="TextBox 109">
            <a:extLst>
              <a:ext uri="{FF2B5EF4-FFF2-40B4-BE49-F238E27FC236}">
                <a16:creationId xmlns:a16="http://schemas.microsoft.com/office/drawing/2014/main" id="{D9A231FA-AC70-EE51-BB93-5D66B000ED04}"/>
              </a:ext>
            </a:extLst>
          </p:cNvPr>
          <p:cNvSpPr txBox="1"/>
          <p:nvPr/>
        </p:nvSpPr>
        <p:spPr>
          <a:xfrm>
            <a:off x="7669462" y="5503921"/>
            <a:ext cx="2898815" cy="40011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Using final prediction give a solution for employees are at risk of leaving the Job</a:t>
            </a:r>
          </a:p>
        </p:txBody>
      </p:sp>
      <p:sp>
        <p:nvSpPr>
          <p:cNvPr id="111" name="TextBox 110">
            <a:extLst>
              <a:ext uri="{FF2B5EF4-FFF2-40B4-BE49-F238E27FC236}">
                <a16:creationId xmlns:a16="http://schemas.microsoft.com/office/drawing/2014/main" id="{A08115F2-3431-5623-BF0D-C79CBF993231}"/>
              </a:ext>
            </a:extLst>
          </p:cNvPr>
          <p:cNvSpPr txBox="1"/>
          <p:nvPr/>
        </p:nvSpPr>
        <p:spPr>
          <a:xfrm>
            <a:off x="7615687" y="1751531"/>
            <a:ext cx="2805640" cy="252000"/>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Comprehensive Dataset Overview</a:t>
            </a:r>
          </a:p>
        </p:txBody>
      </p:sp>
      <p:sp>
        <p:nvSpPr>
          <p:cNvPr id="112" name="TextBox 111">
            <a:extLst>
              <a:ext uri="{FF2B5EF4-FFF2-40B4-BE49-F238E27FC236}">
                <a16:creationId xmlns:a16="http://schemas.microsoft.com/office/drawing/2014/main" id="{06B0F222-EA94-1C84-4A5F-A935CFB76F7F}"/>
              </a:ext>
            </a:extLst>
          </p:cNvPr>
          <p:cNvSpPr txBox="1"/>
          <p:nvPr/>
        </p:nvSpPr>
        <p:spPr>
          <a:xfrm>
            <a:off x="7615321" y="1907106"/>
            <a:ext cx="2805640" cy="246221"/>
          </a:xfrm>
          <a:prstGeom prst="rect">
            <a:avLst/>
          </a:prstGeom>
          <a:noFill/>
        </p:spPr>
        <p:txBody>
          <a:bodyPr wrap="square" rtlCol="0">
            <a:spAutoFit/>
          </a:bodyPr>
          <a:lstStyle/>
          <a:p>
            <a:r>
              <a:rPr lang="en-US" sz="1000" dirty="0">
                <a:solidFill>
                  <a:schemeClr val="accent1">
                    <a:lumMod val="50000"/>
                  </a:schemeClr>
                </a:solidFill>
                <a:latin typeface="Century Gothic" panose="020B0502020202020204" pitchFamily="34" charset="0"/>
              </a:rPr>
              <a:t>Refinement and Data Preparation Steps</a:t>
            </a:r>
          </a:p>
        </p:txBody>
      </p:sp>
    </p:spTree>
    <p:extLst>
      <p:ext uri="{BB962C8B-B14F-4D97-AF65-F5344CB8AC3E}">
        <p14:creationId xmlns:p14="http://schemas.microsoft.com/office/powerpoint/2010/main" val="90679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500"/>
                                        <p:tgtEl>
                                          <p:spTgt spid="4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fade">
                                      <p:cBhvr>
                                        <p:cTn id="19" dur="500"/>
                                        <p:tgtEl>
                                          <p:spTgt spid="44"/>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9" grpId="0" animBg="1"/>
      <p:bldP spid="40" grpId="0" animBg="1"/>
      <p:bldP spid="41" grpId="0" animBg="1"/>
      <p:bldP spid="42" grpId="0" animBg="1"/>
      <p:bldP spid="43" grpId="0" animBg="1"/>
      <p:bldP spid="4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0500559F-AB2E-CF37-CDC4-BFF3EE903035}"/>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624785" y="-49087"/>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B2DCCA5E-C014-D629-122F-1D90FC21CA3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4" name="TextBox 3">
            <a:extLst>
              <a:ext uri="{FF2B5EF4-FFF2-40B4-BE49-F238E27FC236}">
                <a16:creationId xmlns:a16="http://schemas.microsoft.com/office/drawing/2014/main" id="{62ACBE5D-3457-0528-93F1-57FF9BAB0324}"/>
              </a:ext>
            </a:extLst>
          </p:cNvPr>
          <p:cNvSpPr txBox="1"/>
          <p:nvPr/>
        </p:nvSpPr>
        <p:spPr>
          <a:xfrm>
            <a:off x="436880" y="702999"/>
            <a:ext cx="4254759" cy="584775"/>
          </a:xfrm>
          <a:prstGeom prst="rect">
            <a:avLst/>
          </a:prstGeom>
          <a:noFill/>
        </p:spPr>
        <p:txBody>
          <a:bodyPr wrap="square" rtlCol="0">
            <a:spAutoFit/>
          </a:bodyPr>
          <a:lstStyle/>
          <a:p>
            <a:r>
              <a:rPr lang="en-US" sz="3200" dirty="0">
                <a:latin typeface="Rockwell" panose="02060603020205020403" pitchFamily="18" charset="0"/>
              </a:rPr>
              <a:t>INTRODUCTION :</a:t>
            </a:r>
            <a:endParaRPr lang="en-IN" sz="3200" dirty="0">
              <a:latin typeface="Rockwell" panose="02060603020205020403" pitchFamily="18" charset="0"/>
            </a:endParaRPr>
          </a:p>
        </p:txBody>
      </p:sp>
      <p:sp>
        <p:nvSpPr>
          <p:cNvPr id="5" name="TextBox 4">
            <a:extLst>
              <a:ext uri="{FF2B5EF4-FFF2-40B4-BE49-F238E27FC236}">
                <a16:creationId xmlns:a16="http://schemas.microsoft.com/office/drawing/2014/main" id="{CB66B8B8-50A0-2817-0894-3C6B71BAF4CA}"/>
              </a:ext>
            </a:extLst>
          </p:cNvPr>
          <p:cNvSpPr txBox="1"/>
          <p:nvPr/>
        </p:nvSpPr>
        <p:spPr>
          <a:xfrm>
            <a:off x="102639" y="1711136"/>
            <a:ext cx="7432690" cy="3939540"/>
          </a:xfrm>
          <a:prstGeom prst="rect">
            <a:avLst/>
          </a:prstGeom>
          <a:noFill/>
        </p:spPr>
        <p:txBody>
          <a:bodyPr wrap="square" rtlCol="0">
            <a:spAutoFit/>
          </a:bodyPr>
          <a:lstStyle/>
          <a:p>
            <a:pPr marL="342900" indent="-342900" algn="just">
              <a:buFont typeface="Arial" panose="020B0604020202020204" pitchFamily="34" charset="0"/>
              <a:buChar char="•"/>
            </a:pPr>
            <a:r>
              <a:rPr lang="en-US" i="0" dirty="0">
                <a:effectLst/>
              </a:rPr>
              <a:t>The dataset explores key factors inf</a:t>
            </a:r>
            <a:r>
              <a:rPr lang="en-US" dirty="0"/>
              <a:t>luencing </a:t>
            </a:r>
            <a:r>
              <a:rPr lang="en-US" b="1" dirty="0"/>
              <a:t>job change </a:t>
            </a:r>
            <a:r>
              <a:rPr lang="en-US" b="1" dirty="0" err="1"/>
              <a:t>behaviour</a:t>
            </a:r>
            <a:r>
              <a:rPr lang="en-US" b="1" dirty="0"/>
              <a:t> </a:t>
            </a:r>
            <a:r>
              <a:rPr lang="en-US" dirty="0"/>
              <a:t>among data scientists, providing insights into employee satisfaction, growth opportunities, and workplace stability</a:t>
            </a:r>
            <a:endParaRPr lang="en-US" b="0" i="0" dirty="0">
              <a:effectLst/>
            </a:endParaRPr>
          </a:p>
          <a:p>
            <a:pPr algn="just"/>
            <a:endParaRPr lang="en-US" b="0" i="0" dirty="0">
              <a:effectLst/>
            </a:endParaRPr>
          </a:p>
          <a:p>
            <a:pPr marL="342900" indent="-342900" algn="just">
              <a:buFont typeface="Arial" panose="020B0604020202020204" pitchFamily="34" charset="0"/>
              <a:buChar char="•"/>
            </a:pPr>
            <a:r>
              <a:rPr lang="en-US" dirty="0"/>
              <a:t>It includes </a:t>
            </a:r>
            <a:r>
              <a:rPr lang="en-US" b="1" dirty="0"/>
              <a:t>13 critical features </a:t>
            </a:r>
            <a:r>
              <a:rPr lang="en-US" dirty="0"/>
              <a:t>such as </a:t>
            </a:r>
            <a:r>
              <a:rPr lang="en-US" b="1" dirty="0"/>
              <a:t>experience</a:t>
            </a:r>
            <a:r>
              <a:rPr lang="en-US" dirty="0"/>
              <a:t>, training hours, </a:t>
            </a:r>
            <a:r>
              <a:rPr lang="en-US" b="1" dirty="0"/>
              <a:t>company size</a:t>
            </a:r>
            <a:r>
              <a:rPr lang="en-US" dirty="0"/>
              <a:t>, </a:t>
            </a:r>
            <a:r>
              <a:rPr lang="en-US" b="1" dirty="0"/>
              <a:t>education level</a:t>
            </a:r>
            <a:r>
              <a:rPr lang="en-US" dirty="0"/>
              <a:t>, and more, offering a detailed understanding of workforce dynamics</a:t>
            </a:r>
            <a:endParaRPr lang="en-US" b="0" i="0" dirty="0">
              <a:effectLst/>
            </a:endParaRPr>
          </a:p>
          <a:p>
            <a:pPr algn="just"/>
            <a:endParaRPr lang="en-US" b="0" i="0" dirty="0">
              <a:effectLst/>
            </a:endParaRPr>
          </a:p>
          <a:p>
            <a:pPr marL="342900" indent="-342900" algn="just">
              <a:buFont typeface="Arial" panose="020B0604020202020204" pitchFamily="34" charset="0"/>
              <a:buChar char="•"/>
            </a:pPr>
            <a:r>
              <a:rPr lang="en-US" b="0" i="0" dirty="0">
                <a:effectLst/>
              </a:rPr>
              <a:t>The Target variable indicates whether an individual is </a:t>
            </a:r>
            <a:r>
              <a:rPr lang="en-US" b="1" i="0" dirty="0">
                <a:effectLst/>
              </a:rPr>
              <a:t>likely to change a</a:t>
            </a:r>
            <a:r>
              <a:rPr lang="en-US" b="0" i="0" dirty="0">
                <a:effectLst/>
              </a:rPr>
              <a:t> </a:t>
            </a:r>
            <a:r>
              <a:rPr lang="en-US" b="1" i="0" dirty="0">
                <a:effectLst/>
              </a:rPr>
              <a:t>job(1) </a:t>
            </a:r>
            <a:r>
              <a:rPr lang="en-US" b="0" i="0" dirty="0">
                <a:effectLst/>
              </a:rPr>
              <a:t>or </a:t>
            </a:r>
            <a:r>
              <a:rPr lang="en-US" b="1" i="0" dirty="0">
                <a:effectLst/>
              </a:rPr>
              <a:t>stay in the current company</a:t>
            </a:r>
            <a:r>
              <a:rPr lang="en-US" b="1" dirty="0"/>
              <a:t>(0)</a:t>
            </a:r>
            <a:endParaRPr lang="en-US" b="1" i="0" dirty="0">
              <a:effectLst/>
            </a:endParaRPr>
          </a:p>
          <a:p>
            <a:pPr marL="342900" indent="-342900" algn="just">
              <a:buFont typeface="Arial" panose="020B0604020202020204" pitchFamily="34" charset="0"/>
              <a:buChar char="•"/>
            </a:pPr>
            <a:endParaRPr lang="en-US" b="0" i="0" dirty="0">
              <a:effectLst/>
            </a:endParaRPr>
          </a:p>
          <a:p>
            <a:pPr marL="342900" indent="-342900" algn="just">
              <a:buFont typeface="Arial" panose="020B0604020202020204" pitchFamily="34" charset="0"/>
              <a:buChar char="•"/>
            </a:pPr>
            <a:r>
              <a:rPr lang="en-US" dirty="0"/>
              <a:t>Understanding these factors can help </a:t>
            </a:r>
            <a:r>
              <a:rPr lang="en-US" b="1" dirty="0"/>
              <a:t>organizations optimize retention </a:t>
            </a:r>
            <a:r>
              <a:rPr lang="en-US" b="1" dirty="0" err="1"/>
              <a:t>statergies</a:t>
            </a:r>
            <a:r>
              <a:rPr lang="en-US" dirty="0"/>
              <a:t>, </a:t>
            </a:r>
            <a:r>
              <a:rPr lang="en-US" b="1" dirty="0"/>
              <a:t>improve workforce </a:t>
            </a:r>
            <a:r>
              <a:rPr lang="en-US" b="1" dirty="0">
                <a:latin typeface="Rockwell" panose="02060603020205020403" pitchFamily="18" charset="0"/>
              </a:rPr>
              <a:t>planning</a:t>
            </a:r>
            <a:r>
              <a:rPr lang="en-US" dirty="0">
                <a:latin typeface="Rockwell" panose="02060603020205020403" pitchFamily="18" charset="0"/>
              </a:rPr>
              <a:t>, and </a:t>
            </a:r>
            <a:r>
              <a:rPr lang="en-US" b="1" dirty="0">
                <a:latin typeface="Rockwell" panose="02060603020205020403" pitchFamily="18" charset="0"/>
              </a:rPr>
              <a:t>reduce hiring costs</a:t>
            </a:r>
            <a:endParaRPr lang="en-US" b="0" i="0" dirty="0">
              <a:effectLst/>
              <a:latin typeface="Rockwell" panose="02060603020205020403" pitchFamily="18" charset="0"/>
            </a:endParaRPr>
          </a:p>
          <a:p>
            <a:endParaRPr lang="en-US" sz="1600" b="0" i="0" dirty="0">
              <a:effectLst/>
              <a:latin typeface="Rockwell" panose="02060603020205020403" pitchFamily="18" charset="0"/>
            </a:endParaRPr>
          </a:p>
        </p:txBody>
      </p:sp>
      <p:pic>
        <p:nvPicPr>
          <p:cNvPr id="12" name="Picture 11">
            <a:extLst>
              <a:ext uri="{FF2B5EF4-FFF2-40B4-BE49-F238E27FC236}">
                <a16:creationId xmlns:a16="http://schemas.microsoft.com/office/drawing/2014/main" id="{6421CAF6-FDF5-A572-08B6-B298F4BA9B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2989" y="1168592"/>
            <a:ext cx="4046372" cy="4319923"/>
          </a:xfrm>
          <a:prstGeom prst="rect">
            <a:avLst/>
          </a:prstGeom>
        </p:spPr>
      </p:pic>
    </p:spTree>
    <p:extLst>
      <p:ext uri="{BB962C8B-B14F-4D97-AF65-F5344CB8AC3E}">
        <p14:creationId xmlns:p14="http://schemas.microsoft.com/office/powerpoint/2010/main" val="127361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4D14-0D16-84C6-F96B-6A02ED968D42}"/>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6F81A561-EE68-3D04-826A-578FF2DB0C78}"/>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A499FDD3-7973-707C-38E1-81F4CD7B7DDB}"/>
              </a:ext>
            </a:extLst>
          </p:cNvPr>
          <p:cNvPicPr>
            <a:picLocks noChangeAspect="1"/>
          </p:cNvPicPr>
          <p:nvPr/>
        </p:nvPicPr>
        <p:blipFill>
          <a:blip r:embed="rId3">
            <a:biLevel thresh="25000"/>
            <a:alphaModFix amt="21000"/>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720163" y="1234837"/>
            <a:ext cx="4388324" cy="4388324"/>
          </a:xfrm>
          <a:prstGeom prst="rect">
            <a:avLst/>
          </a:prstGeom>
        </p:spPr>
      </p:pic>
      <p:pic>
        <p:nvPicPr>
          <p:cNvPr id="4" name="Picture 3">
            <a:extLst>
              <a:ext uri="{FF2B5EF4-FFF2-40B4-BE49-F238E27FC236}">
                <a16:creationId xmlns:a16="http://schemas.microsoft.com/office/drawing/2014/main" id="{165928AF-D01E-5C22-A073-DBF9626BB6D1}"/>
              </a:ext>
            </a:extLst>
          </p:cNvPr>
          <p:cNvPicPr>
            <a:picLocks noChangeAspect="1"/>
          </p:cNvPicPr>
          <p:nvPr/>
        </p:nvPicPr>
        <p:blipFill>
          <a:blip r:embed="rId5">
            <a:duotone>
              <a:schemeClr val="accent1">
                <a:shade val="45000"/>
                <a:satMod val="135000"/>
              </a:schemeClr>
              <a:prstClr val="white"/>
            </a:duotone>
          </a:blip>
          <a:stretch>
            <a:fillRect/>
          </a:stretch>
        </p:blipFill>
        <p:spPr>
          <a:xfrm rot="20943577">
            <a:off x="6690343" y="3112700"/>
            <a:ext cx="701101" cy="701101"/>
          </a:xfrm>
          <a:prstGeom prst="rect">
            <a:avLst/>
          </a:prstGeom>
        </p:spPr>
      </p:pic>
      <p:pic>
        <p:nvPicPr>
          <p:cNvPr id="5" name="Picture 4">
            <a:extLst>
              <a:ext uri="{FF2B5EF4-FFF2-40B4-BE49-F238E27FC236}">
                <a16:creationId xmlns:a16="http://schemas.microsoft.com/office/drawing/2014/main" id="{3C6E5D22-5538-9E87-F5AE-69FF75053DC5}"/>
              </a:ext>
            </a:extLst>
          </p:cNvPr>
          <p:cNvPicPr>
            <a:picLocks noChangeAspect="1"/>
          </p:cNvPicPr>
          <p:nvPr/>
        </p:nvPicPr>
        <p:blipFill>
          <a:blip r:embed="rId5">
            <a:duotone>
              <a:schemeClr val="accent1">
                <a:shade val="45000"/>
                <a:satMod val="135000"/>
              </a:schemeClr>
              <a:prstClr val="white"/>
            </a:duotone>
          </a:blip>
          <a:stretch>
            <a:fillRect/>
          </a:stretch>
        </p:blipFill>
        <p:spPr>
          <a:xfrm rot="532551" flipH="1">
            <a:off x="6924479" y="431052"/>
            <a:ext cx="701101" cy="701101"/>
          </a:xfrm>
          <a:prstGeom prst="rect">
            <a:avLst/>
          </a:prstGeom>
        </p:spPr>
      </p:pic>
      <p:grpSp>
        <p:nvGrpSpPr>
          <p:cNvPr id="6" name="Group 5">
            <a:extLst>
              <a:ext uri="{FF2B5EF4-FFF2-40B4-BE49-F238E27FC236}">
                <a16:creationId xmlns:a16="http://schemas.microsoft.com/office/drawing/2014/main" id="{53AC4716-81B7-9DBB-ED99-40EAA3672B55}"/>
              </a:ext>
            </a:extLst>
          </p:cNvPr>
          <p:cNvGrpSpPr/>
          <p:nvPr/>
        </p:nvGrpSpPr>
        <p:grpSpPr>
          <a:xfrm>
            <a:off x="6442848" y="1610792"/>
            <a:ext cx="1454797" cy="831944"/>
            <a:chOff x="6785257" y="5867269"/>
            <a:chExt cx="1454797" cy="831944"/>
          </a:xfrm>
        </p:grpSpPr>
        <p:sp>
          <p:nvSpPr>
            <p:cNvPr id="9" name="Rectangle 8">
              <a:extLst>
                <a:ext uri="{FF2B5EF4-FFF2-40B4-BE49-F238E27FC236}">
                  <a16:creationId xmlns:a16="http://schemas.microsoft.com/office/drawing/2014/main" id="{3ADBDC69-50BD-551C-7439-62AA8F7F40C2}"/>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752A558-739A-3668-A265-92E11E0A10F1}"/>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11" name="Right Triangle 10">
                <a:extLst>
                  <a:ext uri="{FF2B5EF4-FFF2-40B4-BE49-F238E27FC236}">
                    <a16:creationId xmlns:a16="http://schemas.microsoft.com/office/drawing/2014/main" id="{A1E3AAC0-6A3A-64D8-229F-2D0B16B7F59E}"/>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a:extLst>
                  <a:ext uri="{FF2B5EF4-FFF2-40B4-BE49-F238E27FC236}">
                    <a16:creationId xmlns:a16="http://schemas.microsoft.com/office/drawing/2014/main" id="{E090D36C-9468-7629-7A85-0EFF0997D74C}"/>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ight Triangle 24">
                <a:extLst>
                  <a:ext uri="{FF2B5EF4-FFF2-40B4-BE49-F238E27FC236}">
                    <a16:creationId xmlns:a16="http://schemas.microsoft.com/office/drawing/2014/main" id="{AEEB70FC-A850-536A-0D22-2D2F10DCE314}"/>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788048C8-79FF-AE1B-DBAF-D175E96DA815}"/>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ight Triangle 26">
                <a:extLst>
                  <a:ext uri="{FF2B5EF4-FFF2-40B4-BE49-F238E27FC236}">
                    <a16:creationId xmlns:a16="http://schemas.microsoft.com/office/drawing/2014/main" id="{E037EBB2-4196-4519-1095-F0FDEFF0BAD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28" name="Group 27">
            <a:extLst>
              <a:ext uri="{FF2B5EF4-FFF2-40B4-BE49-F238E27FC236}">
                <a16:creationId xmlns:a16="http://schemas.microsoft.com/office/drawing/2014/main" id="{E91C207C-1AB6-1D10-2D0D-9E41F300A513}"/>
              </a:ext>
            </a:extLst>
          </p:cNvPr>
          <p:cNvGrpSpPr/>
          <p:nvPr/>
        </p:nvGrpSpPr>
        <p:grpSpPr>
          <a:xfrm rot="4246982">
            <a:off x="6451874" y="677596"/>
            <a:ext cx="1454797" cy="831944"/>
            <a:chOff x="6785257" y="5867269"/>
            <a:chExt cx="1454797" cy="831944"/>
          </a:xfrm>
        </p:grpSpPr>
        <p:sp>
          <p:nvSpPr>
            <p:cNvPr id="29" name="Rectangle 28">
              <a:extLst>
                <a:ext uri="{FF2B5EF4-FFF2-40B4-BE49-F238E27FC236}">
                  <a16:creationId xmlns:a16="http://schemas.microsoft.com/office/drawing/2014/main" id="{39A7B007-144C-69B7-EA8C-E6A4F90E5B0C}"/>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FAFEC191-9295-55C6-17A5-B0AF5C940819}"/>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31" name="Right Triangle 30">
                <a:extLst>
                  <a:ext uri="{FF2B5EF4-FFF2-40B4-BE49-F238E27FC236}">
                    <a16:creationId xmlns:a16="http://schemas.microsoft.com/office/drawing/2014/main" id="{EE42A68C-F6E4-EE25-EA60-23D69C1B216E}"/>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Triangle 31">
                <a:extLst>
                  <a:ext uri="{FF2B5EF4-FFF2-40B4-BE49-F238E27FC236}">
                    <a16:creationId xmlns:a16="http://schemas.microsoft.com/office/drawing/2014/main" id="{AB4A8EEB-7F15-60C6-F97C-7B5639F24CD5}"/>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ight Triangle 32">
                <a:extLst>
                  <a:ext uri="{FF2B5EF4-FFF2-40B4-BE49-F238E27FC236}">
                    <a16:creationId xmlns:a16="http://schemas.microsoft.com/office/drawing/2014/main" id="{C0BC27F2-D3A5-1DA2-45CF-8063E803A4D2}"/>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ight Triangle 33">
                <a:extLst>
                  <a:ext uri="{FF2B5EF4-FFF2-40B4-BE49-F238E27FC236}">
                    <a16:creationId xmlns:a16="http://schemas.microsoft.com/office/drawing/2014/main" id="{7B6718E3-2472-0003-1600-5FB7212A5F04}"/>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ight Triangle 34">
                <a:extLst>
                  <a:ext uri="{FF2B5EF4-FFF2-40B4-BE49-F238E27FC236}">
                    <a16:creationId xmlns:a16="http://schemas.microsoft.com/office/drawing/2014/main" id="{6E57B171-D193-6138-4CA4-6C4288167154}"/>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6" name="Group 35">
            <a:extLst>
              <a:ext uri="{FF2B5EF4-FFF2-40B4-BE49-F238E27FC236}">
                <a16:creationId xmlns:a16="http://schemas.microsoft.com/office/drawing/2014/main" id="{09133B76-2211-0A49-B252-6C174A857983}"/>
              </a:ext>
            </a:extLst>
          </p:cNvPr>
          <p:cNvGrpSpPr/>
          <p:nvPr/>
        </p:nvGrpSpPr>
        <p:grpSpPr>
          <a:xfrm rot="3763409">
            <a:off x="6442791" y="2525174"/>
            <a:ext cx="1454797" cy="831944"/>
            <a:chOff x="6785257" y="5867269"/>
            <a:chExt cx="1454797" cy="831944"/>
          </a:xfrm>
        </p:grpSpPr>
        <p:sp>
          <p:nvSpPr>
            <p:cNvPr id="49" name="Rectangle 48">
              <a:extLst>
                <a:ext uri="{FF2B5EF4-FFF2-40B4-BE49-F238E27FC236}">
                  <a16:creationId xmlns:a16="http://schemas.microsoft.com/office/drawing/2014/main" id="{668A7BE2-0C3E-B985-1176-4AD19C747FA6}"/>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0" name="Group 49">
              <a:extLst>
                <a:ext uri="{FF2B5EF4-FFF2-40B4-BE49-F238E27FC236}">
                  <a16:creationId xmlns:a16="http://schemas.microsoft.com/office/drawing/2014/main" id="{4048631F-C132-4537-0DFC-276D667CE1EE}"/>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51" name="Right Triangle 50">
                <a:extLst>
                  <a:ext uri="{FF2B5EF4-FFF2-40B4-BE49-F238E27FC236}">
                    <a16:creationId xmlns:a16="http://schemas.microsoft.com/office/drawing/2014/main" id="{B2D242C1-3D43-16A5-0CEB-A39FE2BBF192}"/>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ight Triangle 51">
                <a:extLst>
                  <a:ext uri="{FF2B5EF4-FFF2-40B4-BE49-F238E27FC236}">
                    <a16:creationId xmlns:a16="http://schemas.microsoft.com/office/drawing/2014/main" id="{5C8FE3B3-BD88-82EE-6720-C86C54113F15}"/>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ight Triangle 52">
                <a:extLst>
                  <a:ext uri="{FF2B5EF4-FFF2-40B4-BE49-F238E27FC236}">
                    <a16:creationId xmlns:a16="http://schemas.microsoft.com/office/drawing/2014/main" id="{CE57C0BD-A62E-32A4-E659-662012A614A2}"/>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Triangle 53">
                <a:extLst>
                  <a:ext uri="{FF2B5EF4-FFF2-40B4-BE49-F238E27FC236}">
                    <a16:creationId xmlns:a16="http://schemas.microsoft.com/office/drawing/2014/main" id="{04108CE4-AD48-84B2-91CE-AE6089D51476}"/>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ight Triangle 54">
                <a:extLst>
                  <a:ext uri="{FF2B5EF4-FFF2-40B4-BE49-F238E27FC236}">
                    <a16:creationId xmlns:a16="http://schemas.microsoft.com/office/drawing/2014/main" id="{E54D9ECF-329E-BEB3-FF0F-35FEB7FA4D10}"/>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0" name="Group 59">
            <a:extLst>
              <a:ext uri="{FF2B5EF4-FFF2-40B4-BE49-F238E27FC236}">
                <a16:creationId xmlns:a16="http://schemas.microsoft.com/office/drawing/2014/main" id="{D925AE0E-317E-A12D-9038-E2FB4C9C5B88}"/>
              </a:ext>
            </a:extLst>
          </p:cNvPr>
          <p:cNvGrpSpPr/>
          <p:nvPr/>
        </p:nvGrpSpPr>
        <p:grpSpPr>
          <a:xfrm>
            <a:off x="6482552" y="3327525"/>
            <a:ext cx="1454797" cy="831944"/>
            <a:chOff x="6785257" y="5867269"/>
            <a:chExt cx="1454797" cy="831944"/>
          </a:xfrm>
        </p:grpSpPr>
        <p:sp>
          <p:nvSpPr>
            <p:cNvPr id="61" name="Rectangle 60">
              <a:extLst>
                <a:ext uri="{FF2B5EF4-FFF2-40B4-BE49-F238E27FC236}">
                  <a16:creationId xmlns:a16="http://schemas.microsoft.com/office/drawing/2014/main" id="{C70CA20A-7E8A-FA40-467E-7EF582515CBD}"/>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620B2454-44AC-CF8D-AE27-4BC5216BD64A}"/>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63" name="Right Triangle 62">
                <a:extLst>
                  <a:ext uri="{FF2B5EF4-FFF2-40B4-BE49-F238E27FC236}">
                    <a16:creationId xmlns:a16="http://schemas.microsoft.com/office/drawing/2014/main" id="{23AE0A52-49BC-A325-3A31-3FCC7BDE38B6}"/>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Triangle 63">
                <a:extLst>
                  <a:ext uri="{FF2B5EF4-FFF2-40B4-BE49-F238E27FC236}">
                    <a16:creationId xmlns:a16="http://schemas.microsoft.com/office/drawing/2014/main" id="{352B2C72-2726-0522-D115-48E03C607FBF}"/>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ight Triangle 64">
                <a:extLst>
                  <a:ext uri="{FF2B5EF4-FFF2-40B4-BE49-F238E27FC236}">
                    <a16:creationId xmlns:a16="http://schemas.microsoft.com/office/drawing/2014/main" id="{05719BFF-C793-FB38-0138-96BEF19C700C}"/>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ight Triangle 65">
                <a:extLst>
                  <a:ext uri="{FF2B5EF4-FFF2-40B4-BE49-F238E27FC236}">
                    <a16:creationId xmlns:a16="http://schemas.microsoft.com/office/drawing/2014/main" id="{7677F322-2D01-A376-2869-087C5B5D220E}"/>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ight Triangle 66">
                <a:extLst>
                  <a:ext uri="{FF2B5EF4-FFF2-40B4-BE49-F238E27FC236}">
                    <a16:creationId xmlns:a16="http://schemas.microsoft.com/office/drawing/2014/main" id="{C8044DE8-F9FC-C3F9-DCFB-FF7EE60F3B2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8" name="Group 67">
            <a:extLst>
              <a:ext uri="{FF2B5EF4-FFF2-40B4-BE49-F238E27FC236}">
                <a16:creationId xmlns:a16="http://schemas.microsoft.com/office/drawing/2014/main" id="{0AAC9B89-5AD8-11A3-65FE-F56D5EE22CB3}"/>
              </a:ext>
            </a:extLst>
          </p:cNvPr>
          <p:cNvGrpSpPr/>
          <p:nvPr/>
        </p:nvGrpSpPr>
        <p:grpSpPr>
          <a:xfrm rot="3965514">
            <a:off x="6401410" y="4331589"/>
            <a:ext cx="1454797" cy="831944"/>
            <a:chOff x="6785257" y="5867269"/>
            <a:chExt cx="1454797" cy="831944"/>
          </a:xfrm>
        </p:grpSpPr>
        <p:sp>
          <p:nvSpPr>
            <p:cNvPr id="69" name="Rectangle 68">
              <a:extLst>
                <a:ext uri="{FF2B5EF4-FFF2-40B4-BE49-F238E27FC236}">
                  <a16:creationId xmlns:a16="http://schemas.microsoft.com/office/drawing/2014/main" id="{CC05DA54-B423-5F7E-38DF-58A64E8BED56}"/>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0" name="Group 69">
              <a:extLst>
                <a:ext uri="{FF2B5EF4-FFF2-40B4-BE49-F238E27FC236}">
                  <a16:creationId xmlns:a16="http://schemas.microsoft.com/office/drawing/2014/main" id="{C2BCA040-E9D9-15C1-0B17-6C2D9359A23C}"/>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71" name="Right Triangle 70">
                <a:extLst>
                  <a:ext uri="{FF2B5EF4-FFF2-40B4-BE49-F238E27FC236}">
                    <a16:creationId xmlns:a16="http://schemas.microsoft.com/office/drawing/2014/main" id="{9B915D16-D50C-E46C-6BC6-D8F787F459DD}"/>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ight Triangle 71">
                <a:extLst>
                  <a:ext uri="{FF2B5EF4-FFF2-40B4-BE49-F238E27FC236}">
                    <a16:creationId xmlns:a16="http://schemas.microsoft.com/office/drawing/2014/main" id="{3A4D5C46-4087-E008-E150-CB761CB6A95D}"/>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Right Triangle 72">
                <a:extLst>
                  <a:ext uri="{FF2B5EF4-FFF2-40B4-BE49-F238E27FC236}">
                    <a16:creationId xmlns:a16="http://schemas.microsoft.com/office/drawing/2014/main" id="{A157CECB-E556-236C-2799-C0851E49700D}"/>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ight Triangle 73">
                <a:extLst>
                  <a:ext uri="{FF2B5EF4-FFF2-40B4-BE49-F238E27FC236}">
                    <a16:creationId xmlns:a16="http://schemas.microsoft.com/office/drawing/2014/main" id="{529101E0-572E-67C0-59E9-9028219702DB}"/>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ight Triangle 74">
                <a:extLst>
                  <a:ext uri="{FF2B5EF4-FFF2-40B4-BE49-F238E27FC236}">
                    <a16:creationId xmlns:a16="http://schemas.microsoft.com/office/drawing/2014/main" id="{59F225AF-B12A-668C-D445-5AEC7AFDEB1C}"/>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76" name="Group 75">
            <a:extLst>
              <a:ext uri="{FF2B5EF4-FFF2-40B4-BE49-F238E27FC236}">
                <a16:creationId xmlns:a16="http://schemas.microsoft.com/office/drawing/2014/main" id="{E10A79ED-547C-C751-045C-A9E4F7435A5A}"/>
              </a:ext>
            </a:extLst>
          </p:cNvPr>
          <p:cNvGrpSpPr/>
          <p:nvPr/>
        </p:nvGrpSpPr>
        <p:grpSpPr>
          <a:xfrm>
            <a:off x="6430239" y="5390225"/>
            <a:ext cx="1454797" cy="831944"/>
            <a:chOff x="6785257" y="5867269"/>
            <a:chExt cx="1454797" cy="831944"/>
          </a:xfrm>
        </p:grpSpPr>
        <p:sp>
          <p:nvSpPr>
            <p:cNvPr id="77" name="Rectangle 76">
              <a:extLst>
                <a:ext uri="{FF2B5EF4-FFF2-40B4-BE49-F238E27FC236}">
                  <a16:creationId xmlns:a16="http://schemas.microsoft.com/office/drawing/2014/main" id="{12868E3A-9E12-3591-E5C9-E51363F607FB}"/>
                </a:ext>
              </a:extLst>
            </p:cNvPr>
            <p:cNvSpPr/>
            <p:nvPr/>
          </p:nvSpPr>
          <p:spPr>
            <a:xfrm rot="19413298">
              <a:off x="6785257" y="6258683"/>
              <a:ext cx="1454797" cy="132741"/>
            </a:xfrm>
            <a:prstGeom prst="rect">
              <a:avLst/>
            </a:prstGeom>
            <a:solidFill>
              <a:srgbClr val="96AC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8" name="Group 77">
              <a:extLst>
                <a:ext uri="{FF2B5EF4-FFF2-40B4-BE49-F238E27FC236}">
                  <a16:creationId xmlns:a16="http://schemas.microsoft.com/office/drawing/2014/main" id="{C0FDA994-D36E-54A5-7916-95CC32D8789B}"/>
                </a:ext>
              </a:extLst>
            </p:cNvPr>
            <p:cNvGrpSpPr/>
            <p:nvPr/>
          </p:nvGrpSpPr>
          <p:grpSpPr>
            <a:xfrm>
              <a:off x="6960096" y="5867269"/>
              <a:ext cx="1083991" cy="831944"/>
              <a:chOff x="7304294" y="5502250"/>
              <a:chExt cx="1083991" cy="831944"/>
            </a:xfrm>
            <a:gradFill>
              <a:gsLst>
                <a:gs pos="0">
                  <a:schemeClr val="accent1">
                    <a:lumMod val="44000"/>
                    <a:lumOff val="56000"/>
                  </a:schemeClr>
                </a:gs>
                <a:gs pos="100000">
                  <a:schemeClr val="accent1">
                    <a:lumMod val="99000"/>
                    <a:lumOff val="1000"/>
                  </a:schemeClr>
                </a:gs>
              </a:gsLst>
              <a:lin ang="2700000" scaled="1"/>
            </a:gradFill>
            <a:effectLst/>
          </p:grpSpPr>
          <p:sp>
            <p:nvSpPr>
              <p:cNvPr id="79" name="Right Triangle 78">
                <a:extLst>
                  <a:ext uri="{FF2B5EF4-FFF2-40B4-BE49-F238E27FC236}">
                    <a16:creationId xmlns:a16="http://schemas.microsoft.com/office/drawing/2014/main" id="{84098D0F-BB5D-82F9-7015-0E23201497A2}"/>
                  </a:ext>
                </a:extLst>
              </p:cNvPr>
              <p:cNvSpPr/>
              <p:nvPr/>
            </p:nvSpPr>
            <p:spPr>
              <a:xfrm rot="5734655">
                <a:off x="7972756" y="5647355"/>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ight Triangle 79">
                <a:extLst>
                  <a:ext uri="{FF2B5EF4-FFF2-40B4-BE49-F238E27FC236}">
                    <a16:creationId xmlns:a16="http://schemas.microsoft.com/office/drawing/2014/main" id="{0F5E5082-A2AD-D4C2-B06F-CBA6AD328556}"/>
                  </a:ext>
                </a:extLst>
              </p:cNvPr>
              <p:cNvSpPr/>
              <p:nvPr/>
            </p:nvSpPr>
            <p:spPr>
              <a:xfrm rot="5734655">
                <a:off x="7752278" y="5803931"/>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ight Triangle 80">
                <a:extLst>
                  <a:ext uri="{FF2B5EF4-FFF2-40B4-BE49-F238E27FC236}">
                    <a16:creationId xmlns:a16="http://schemas.microsoft.com/office/drawing/2014/main" id="{354D1115-6F14-98A6-4014-52724D0EB927}"/>
                  </a:ext>
                </a:extLst>
              </p:cNvPr>
              <p:cNvSpPr/>
              <p:nvPr/>
            </p:nvSpPr>
            <p:spPr>
              <a:xfrm rot="5734655">
                <a:off x="7522591" y="5975229"/>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ight Triangle 81">
                <a:extLst>
                  <a:ext uri="{FF2B5EF4-FFF2-40B4-BE49-F238E27FC236}">
                    <a16:creationId xmlns:a16="http://schemas.microsoft.com/office/drawing/2014/main" id="{9B2F2B07-2FDF-623A-F22A-7883E1F0CE64}"/>
                  </a:ext>
                </a:extLst>
              </p:cNvPr>
              <p:cNvSpPr/>
              <p:nvPr/>
            </p:nvSpPr>
            <p:spPr>
              <a:xfrm rot="5734655">
                <a:off x="7315974" y="6127932"/>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ight Triangle 82">
                <a:extLst>
                  <a:ext uri="{FF2B5EF4-FFF2-40B4-BE49-F238E27FC236}">
                    <a16:creationId xmlns:a16="http://schemas.microsoft.com/office/drawing/2014/main" id="{D06F6D2B-DF04-E2E6-7678-52AA9D70311B}"/>
                  </a:ext>
                </a:extLst>
              </p:cNvPr>
              <p:cNvSpPr/>
              <p:nvPr/>
            </p:nvSpPr>
            <p:spPr>
              <a:xfrm rot="5734655">
                <a:off x="8182023" y="5490570"/>
                <a:ext cx="194582" cy="217942"/>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84" name="Group 83">
            <a:extLst>
              <a:ext uri="{FF2B5EF4-FFF2-40B4-BE49-F238E27FC236}">
                <a16:creationId xmlns:a16="http://schemas.microsoft.com/office/drawing/2014/main" id="{5EB1DEC5-14A1-FCBD-CF58-CB99A479F5A2}"/>
              </a:ext>
            </a:extLst>
          </p:cNvPr>
          <p:cNvGrpSpPr/>
          <p:nvPr/>
        </p:nvGrpSpPr>
        <p:grpSpPr>
          <a:xfrm>
            <a:off x="2783632" y="5229200"/>
            <a:ext cx="3847232" cy="1256880"/>
            <a:chOff x="4963887" y="5221960"/>
            <a:chExt cx="3847232" cy="1256880"/>
          </a:xfrm>
        </p:grpSpPr>
        <p:sp>
          <p:nvSpPr>
            <p:cNvPr id="85" name="Rectangle: Rounded Corners 84">
              <a:extLst>
                <a:ext uri="{FF2B5EF4-FFF2-40B4-BE49-F238E27FC236}">
                  <a16:creationId xmlns:a16="http://schemas.microsoft.com/office/drawing/2014/main" id="{24D8A1A0-BFF7-B5C0-7384-EB0099E40599}"/>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6FFE68F6-1075-5D11-5BDF-83E6A35C73FA}"/>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alpha val="80000"/>
                    <a:lumMod val="75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Rounded Corners 86">
              <a:extLst>
                <a:ext uri="{FF2B5EF4-FFF2-40B4-BE49-F238E27FC236}">
                  <a16:creationId xmlns:a16="http://schemas.microsoft.com/office/drawing/2014/main" id="{6435885A-173E-2F19-80F8-89B0CAA06E8D}"/>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3DF03E1E-164C-AA06-1BF9-67B76F236F59}"/>
                </a:ext>
              </a:extLst>
            </p:cNvPr>
            <p:cNvSpPr txBox="1"/>
            <p:nvPr/>
          </p:nvSpPr>
          <p:spPr>
            <a:xfrm>
              <a:off x="7725005" y="5443669"/>
              <a:ext cx="915346" cy="307777"/>
            </a:xfrm>
            <a:prstGeom prst="rect">
              <a:avLst/>
            </a:prstGeom>
            <a:noFill/>
          </p:spPr>
          <p:txBody>
            <a:bodyPr wrap="square" rtlCol="0">
              <a:spAutoFit/>
            </a:bodyPr>
            <a:lstStyle/>
            <a:p>
              <a:pPr algn="ctr"/>
              <a:r>
                <a:rPr lang="en-US" sz="1400" dirty="0">
                  <a:solidFill>
                    <a:schemeClr val="accent1">
                      <a:lumMod val="75000"/>
                    </a:schemeClr>
                  </a:solidFill>
                  <a:latin typeface="Century Gothic" panose="020B0502020202020204" pitchFamily="34" charset="0"/>
                </a:rPr>
                <a:t>STEP</a:t>
              </a:r>
            </a:p>
          </p:txBody>
        </p:sp>
        <p:sp>
          <p:nvSpPr>
            <p:cNvPr id="89" name="TextBox 88">
              <a:extLst>
                <a:ext uri="{FF2B5EF4-FFF2-40B4-BE49-F238E27FC236}">
                  <a16:creationId xmlns:a16="http://schemas.microsoft.com/office/drawing/2014/main" id="{ECD07E71-29C7-0470-32BA-5283DC6C2F9D}"/>
                </a:ext>
              </a:extLst>
            </p:cNvPr>
            <p:cNvSpPr txBox="1"/>
            <p:nvPr/>
          </p:nvSpPr>
          <p:spPr>
            <a:xfrm>
              <a:off x="7776278" y="5671484"/>
              <a:ext cx="812800" cy="646331"/>
            </a:xfrm>
            <a:prstGeom prst="rect">
              <a:avLst/>
            </a:prstGeom>
            <a:noFill/>
          </p:spPr>
          <p:txBody>
            <a:bodyPr wrap="square" rtlCol="0">
              <a:spAutoFit/>
            </a:bodyPr>
            <a:lstStyle/>
            <a:p>
              <a:pPr algn="ctr"/>
              <a:r>
                <a:rPr lang="en-US" sz="3600" dirty="0">
                  <a:solidFill>
                    <a:schemeClr val="accent1">
                      <a:lumMod val="50000"/>
                    </a:schemeClr>
                  </a:solidFill>
                  <a:latin typeface="Century Gothic" panose="020B0502020202020204" pitchFamily="34" charset="0"/>
                </a:rPr>
                <a:t>01</a:t>
              </a:r>
            </a:p>
          </p:txBody>
        </p:sp>
        <p:sp>
          <p:nvSpPr>
            <p:cNvPr id="90" name="TextBox 89">
              <a:extLst>
                <a:ext uri="{FF2B5EF4-FFF2-40B4-BE49-F238E27FC236}">
                  <a16:creationId xmlns:a16="http://schemas.microsoft.com/office/drawing/2014/main" id="{9D66DE95-286C-B963-5A85-272D900C7817}"/>
                </a:ext>
              </a:extLst>
            </p:cNvPr>
            <p:cNvSpPr txBox="1"/>
            <p:nvPr/>
          </p:nvSpPr>
          <p:spPr>
            <a:xfrm>
              <a:off x="5537762" y="5952414"/>
              <a:ext cx="2168070" cy="253916"/>
            </a:xfrm>
            <a:prstGeom prst="rect">
              <a:avLst/>
            </a:prstGeom>
            <a:noFill/>
          </p:spPr>
          <p:txBody>
            <a:bodyPr wrap="square" rtlCol="0">
              <a:spAutoFit/>
            </a:bodyPr>
            <a:lstStyle/>
            <a:p>
              <a:pPr algn="ctr"/>
              <a:endParaRPr lang="en-US" sz="1050" dirty="0">
                <a:solidFill>
                  <a:schemeClr val="tx1">
                    <a:lumMod val="65000"/>
                    <a:lumOff val="35000"/>
                  </a:schemeClr>
                </a:solidFill>
                <a:latin typeface="Century Gothic" panose="020B0502020202020204" pitchFamily="34" charset="0"/>
              </a:endParaRPr>
            </a:p>
          </p:txBody>
        </p:sp>
        <p:sp>
          <p:nvSpPr>
            <p:cNvPr id="91" name="TextBox 90">
              <a:extLst>
                <a:ext uri="{FF2B5EF4-FFF2-40B4-BE49-F238E27FC236}">
                  <a16:creationId xmlns:a16="http://schemas.microsoft.com/office/drawing/2014/main" id="{01D26D7A-3CF8-335E-95D1-4E4B81F83850}"/>
                </a:ext>
              </a:extLst>
            </p:cNvPr>
            <p:cNvSpPr txBox="1"/>
            <p:nvPr/>
          </p:nvSpPr>
          <p:spPr>
            <a:xfrm>
              <a:off x="5202489" y="5317718"/>
              <a:ext cx="2137038" cy="369332"/>
            </a:xfrm>
            <a:prstGeom prst="rect">
              <a:avLst/>
            </a:prstGeom>
            <a:noFill/>
          </p:spPr>
          <p:txBody>
            <a:bodyPr wrap="square" rtlCol="0">
              <a:spAutoFit/>
            </a:bodyPr>
            <a:lstStyle/>
            <a:p>
              <a:pPr algn="ctr"/>
              <a:r>
                <a:rPr lang="en-US" b="1" dirty="0">
                  <a:solidFill>
                    <a:schemeClr val="accent1">
                      <a:lumMod val="50000"/>
                    </a:schemeClr>
                  </a:solidFill>
                  <a:latin typeface="Century" panose="02040604050505020304" pitchFamily="18" charset="0"/>
                </a:rPr>
                <a:t>Data Collection</a:t>
              </a:r>
            </a:p>
          </p:txBody>
        </p:sp>
      </p:grpSp>
      <p:grpSp>
        <p:nvGrpSpPr>
          <p:cNvPr id="92" name="Group 91">
            <a:extLst>
              <a:ext uri="{FF2B5EF4-FFF2-40B4-BE49-F238E27FC236}">
                <a16:creationId xmlns:a16="http://schemas.microsoft.com/office/drawing/2014/main" id="{3273FE1F-9FD7-24AF-EF67-A307E8ED821D}"/>
              </a:ext>
            </a:extLst>
          </p:cNvPr>
          <p:cNvGrpSpPr/>
          <p:nvPr/>
        </p:nvGrpSpPr>
        <p:grpSpPr>
          <a:xfrm>
            <a:off x="2806088" y="3566976"/>
            <a:ext cx="3847232" cy="1256880"/>
            <a:chOff x="4963887" y="5221960"/>
            <a:chExt cx="3847232" cy="1256880"/>
          </a:xfrm>
        </p:grpSpPr>
        <p:sp>
          <p:nvSpPr>
            <p:cNvPr id="93" name="Rectangle: Rounded Corners 92">
              <a:extLst>
                <a:ext uri="{FF2B5EF4-FFF2-40B4-BE49-F238E27FC236}">
                  <a16:creationId xmlns:a16="http://schemas.microsoft.com/office/drawing/2014/main" id="{ADDBA2D1-0B67-1C05-CB04-453FCF0B9B10}"/>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73824728-B3DB-3172-BB11-93B6E84C8BAC}"/>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Rounded Corners 94">
              <a:extLst>
                <a:ext uri="{FF2B5EF4-FFF2-40B4-BE49-F238E27FC236}">
                  <a16:creationId xmlns:a16="http://schemas.microsoft.com/office/drawing/2014/main" id="{56DDB41A-6F09-F7CC-9BBE-E968EF130737}"/>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324BB043-ACBE-AD2B-FD37-F73F1E2DECA6}"/>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97" name="TextBox 96">
              <a:extLst>
                <a:ext uri="{FF2B5EF4-FFF2-40B4-BE49-F238E27FC236}">
                  <a16:creationId xmlns:a16="http://schemas.microsoft.com/office/drawing/2014/main" id="{08971422-811F-B8BE-DB09-F8FFEF7E514B}"/>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03</a:t>
              </a:r>
            </a:p>
          </p:txBody>
        </p:sp>
      </p:grpSp>
      <p:grpSp>
        <p:nvGrpSpPr>
          <p:cNvPr id="98" name="Group 97">
            <a:extLst>
              <a:ext uri="{FF2B5EF4-FFF2-40B4-BE49-F238E27FC236}">
                <a16:creationId xmlns:a16="http://schemas.microsoft.com/office/drawing/2014/main" id="{9EEC728F-A98F-B346-A3F6-427B5A1E2A30}"/>
              </a:ext>
            </a:extLst>
          </p:cNvPr>
          <p:cNvGrpSpPr/>
          <p:nvPr/>
        </p:nvGrpSpPr>
        <p:grpSpPr>
          <a:xfrm>
            <a:off x="2806088" y="1955452"/>
            <a:ext cx="3847232" cy="1256880"/>
            <a:chOff x="4963887" y="5221960"/>
            <a:chExt cx="3847232" cy="1256880"/>
          </a:xfrm>
        </p:grpSpPr>
        <p:sp>
          <p:nvSpPr>
            <p:cNvPr id="99" name="Rectangle: Rounded Corners 98">
              <a:extLst>
                <a:ext uri="{FF2B5EF4-FFF2-40B4-BE49-F238E27FC236}">
                  <a16:creationId xmlns:a16="http://schemas.microsoft.com/office/drawing/2014/main" id="{BAC76DF7-ADE6-2D57-2B39-BE74F1EDAB8B}"/>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Rectangle: Rounded Corners 99">
              <a:extLst>
                <a:ext uri="{FF2B5EF4-FFF2-40B4-BE49-F238E27FC236}">
                  <a16:creationId xmlns:a16="http://schemas.microsoft.com/office/drawing/2014/main" id="{712F94E0-884B-C433-D709-F67B8596752E}"/>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Rounded Corners 100">
              <a:extLst>
                <a:ext uri="{FF2B5EF4-FFF2-40B4-BE49-F238E27FC236}">
                  <a16:creationId xmlns:a16="http://schemas.microsoft.com/office/drawing/2014/main" id="{EFDB844E-DA5B-6AC2-32AC-B3F5CD3150F3}"/>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3635ACC7-EEA8-354E-B3BB-6AC47F4597BE}"/>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03" name="TextBox 102">
              <a:extLst>
                <a:ext uri="{FF2B5EF4-FFF2-40B4-BE49-F238E27FC236}">
                  <a16:creationId xmlns:a16="http://schemas.microsoft.com/office/drawing/2014/main" id="{191E71A8-5227-3001-001F-D02B5F2A6665}"/>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05</a:t>
              </a:r>
            </a:p>
          </p:txBody>
        </p:sp>
      </p:grpSp>
      <p:grpSp>
        <p:nvGrpSpPr>
          <p:cNvPr id="104" name="Group 103">
            <a:extLst>
              <a:ext uri="{FF2B5EF4-FFF2-40B4-BE49-F238E27FC236}">
                <a16:creationId xmlns:a16="http://schemas.microsoft.com/office/drawing/2014/main" id="{368FC104-1901-7B74-4550-81656510931F}"/>
              </a:ext>
            </a:extLst>
          </p:cNvPr>
          <p:cNvGrpSpPr/>
          <p:nvPr/>
        </p:nvGrpSpPr>
        <p:grpSpPr>
          <a:xfrm>
            <a:off x="2828544" y="293228"/>
            <a:ext cx="3847232" cy="1256880"/>
            <a:chOff x="4963887" y="5221960"/>
            <a:chExt cx="3847232" cy="1256880"/>
          </a:xfrm>
        </p:grpSpPr>
        <p:sp>
          <p:nvSpPr>
            <p:cNvPr id="105" name="Rectangle: Rounded Corners 104">
              <a:extLst>
                <a:ext uri="{FF2B5EF4-FFF2-40B4-BE49-F238E27FC236}">
                  <a16:creationId xmlns:a16="http://schemas.microsoft.com/office/drawing/2014/main" id="{BFD5DA4A-059C-A19E-BC17-E5FEC88C7B77}"/>
                </a:ext>
              </a:extLst>
            </p:cNvPr>
            <p:cNvSpPr/>
            <p:nvPr/>
          </p:nvSpPr>
          <p:spPr>
            <a:xfrm>
              <a:off x="4963887" y="522196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Rounded Corners 105">
              <a:extLst>
                <a:ext uri="{FF2B5EF4-FFF2-40B4-BE49-F238E27FC236}">
                  <a16:creationId xmlns:a16="http://schemas.microsoft.com/office/drawing/2014/main" id="{7F5385F2-9BCC-76D4-7DDD-C255D0E3E711}"/>
                </a:ext>
              </a:extLst>
            </p:cNvPr>
            <p:cNvSpPr/>
            <p:nvPr/>
          </p:nvSpPr>
          <p:spPr>
            <a:xfrm>
              <a:off x="7554238" y="522196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Rectangle: Rounded Corners 106">
              <a:extLst>
                <a:ext uri="{FF2B5EF4-FFF2-40B4-BE49-F238E27FC236}">
                  <a16:creationId xmlns:a16="http://schemas.microsoft.com/office/drawing/2014/main" id="{E98E53C2-D30A-2551-D3D8-280AB844C740}"/>
                </a:ext>
              </a:extLst>
            </p:cNvPr>
            <p:cNvSpPr/>
            <p:nvPr/>
          </p:nvSpPr>
          <p:spPr>
            <a:xfrm>
              <a:off x="7715263" y="538298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6A42588D-AB0D-A41B-CFDA-400DFD7CB82C}"/>
                </a:ext>
              </a:extLst>
            </p:cNvPr>
            <p:cNvSpPr txBox="1"/>
            <p:nvPr/>
          </p:nvSpPr>
          <p:spPr>
            <a:xfrm>
              <a:off x="7725005" y="544366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09" name="TextBox 108">
              <a:extLst>
                <a:ext uri="{FF2B5EF4-FFF2-40B4-BE49-F238E27FC236}">
                  <a16:creationId xmlns:a16="http://schemas.microsoft.com/office/drawing/2014/main" id="{D6EF0679-3A42-393A-9571-A18D6BF72F71}"/>
                </a:ext>
              </a:extLst>
            </p:cNvPr>
            <p:cNvSpPr txBox="1"/>
            <p:nvPr/>
          </p:nvSpPr>
          <p:spPr>
            <a:xfrm>
              <a:off x="7776278" y="567148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07</a:t>
              </a:r>
            </a:p>
          </p:txBody>
        </p:sp>
      </p:grpSp>
      <p:sp>
        <p:nvSpPr>
          <p:cNvPr id="110" name="Rectangle: Rounded Corners 109">
            <a:extLst>
              <a:ext uri="{FF2B5EF4-FFF2-40B4-BE49-F238E27FC236}">
                <a16:creationId xmlns:a16="http://schemas.microsoft.com/office/drawing/2014/main" id="{97F4347D-7E0E-3D46-52EC-6587FA4F810A}"/>
              </a:ext>
            </a:extLst>
          </p:cNvPr>
          <p:cNvSpPr/>
          <p:nvPr/>
        </p:nvSpPr>
        <p:spPr>
          <a:xfrm>
            <a:off x="7586965" y="4462222"/>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Rounded Corners 110">
            <a:extLst>
              <a:ext uri="{FF2B5EF4-FFF2-40B4-BE49-F238E27FC236}">
                <a16:creationId xmlns:a16="http://schemas.microsoft.com/office/drawing/2014/main" id="{87FBC18E-BABD-F82D-D2C8-3BC9533C7915}"/>
              </a:ext>
            </a:extLst>
          </p:cNvPr>
          <p:cNvSpPr/>
          <p:nvPr/>
        </p:nvSpPr>
        <p:spPr>
          <a:xfrm>
            <a:off x="7622801" y="4462222"/>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Rounded Corners 111">
            <a:extLst>
              <a:ext uri="{FF2B5EF4-FFF2-40B4-BE49-F238E27FC236}">
                <a16:creationId xmlns:a16="http://schemas.microsoft.com/office/drawing/2014/main" id="{FA7B4E1B-B658-FF75-9F7F-45E89087D907}"/>
              </a:ext>
            </a:extLst>
          </p:cNvPr>
          <p:cNvSpPr/>
          <p:nvPr/>
        </p:nvSpPr>
        <p:spPr>
          <a:xfrm>
            <a:off x="7783826" y="4623247"/>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C99F5224-7294-874F-4952-F6EA8E5A5AE4}"/>
              </a:ext>
            </a:extLst>
          </p:cNvPr>
          <p:cNvSpPr txBox="1"/>
          <p:nvPr/>
        </p:nvSpPr>
        <p:spPr>
          <a:xfrm>
            <a:off x="7793568" y="4683931"/>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14" name="TextBox 113">
            <a:extLst>
              <a:ext uri="{FF2B5EF4-FFF2-40B4-BE49-F238E27FC236}">
                <a16:creationId xmlns:a16="http://schemas.microsoft.com/office/drawing/2014/main" id="{8C9B9341-9B0B-C381-1F06-2A7F2591BD25}"/>
              </a:ext>
            </a:extLst>
          </p:cNvPr>
          <p:cNvSpPr txBox="1"/>
          <p:nvPr/>
        </p:nvSpPr>
        <p:spPr>
          <a:xfrm>
            <a:off x="7844841" y="4911746"/>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02</a:t>
            </a:r>
          </a:p>
        </p:txBody>
      </p:sp>
      <p:sp>
        <p:nvSpPr>
          <p:cNvPr id="115" name="TextBox 114">
            <a:extLst>
              <a:ext uri="{FF2B5EF4-FFF2-40B4-BE49-F238E27FC236}">
                <a16:creationId xmlns:a16="http://schemas.microsoft.com/office/drawing/2014/main" id="{C778F1C5-BEC7-DE7B-F06F-AFDA6501AC51}"/>
              </a:ext>
            </a:extLst>
          </p:cNvPr>
          <p:cNvSpPr txBox="1"/>
          <p:nvPr/>
        </p:nvSpPr>
        <p:spPr>
          <a:xfrm>
            <a:off x="9302593" y="4439693"/>
            <a:ext cx="1752153"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Exploratory Data Analysis</a:t>
            </a:r>
          </a:p>
        </p:txBody>
      </p:sp>
      <p:sp>
        <p:nvSpPr>
          <p:cNvPr id="116" name="TextBox 115">
            <a:extLst>
              <a:ext uri="{FF2B5EF4-FFF2-40B4-BE49-F238E27FC236}">
                <a16:creationId xmlns:a16="http://schemas.microsoft.com/office/drawing/2014/main" id="{906A555A-CB04-19E6-E8CD-4D2306288473}"/>
              </a:ext>
            </a:extLst>
          </p:cNvPr>
          <p:cNvSpPr txBox="1"/>
          <p:nvPr/>
        </p:nvSpPr>
        <p:spPr>
          <a:xfrm>
            <a:off x="2951651" y="3689023"/>
            <a:ext cx="2278031"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PREPROCESSING</a:t>
            </a:r>
          </a:p>
        </p:txBody>
      </p:sp>
      <p:grpSp>
        <p:nvGrpSpPr>
          <p:cNvPr id="117" name="Group 116">
            <a:extLst>
              <a:ext uri="{FF2B5EF4-FFF2-40B4-BE49-F238E27FC236}">
                <a16:creationId xmlns:a16="http://schemas.microsoft.com/office/drawing/2014/main" id="{976A6A59-6306-A864-A1E1-4D8074B24123}"/>
              </a:ext>
            </a:extLst>
          </p:cNvPr>
          <p:cNvGrpSpPr/>
          <p:nvPr/>
        </p:nvGrpSpPr>
        <p:grpSpPr>
          <a:xfrm>
            <a:off x="7622801" y="2667818"/>
            <a:ext cx="3847232" cy="1256880"/>
            <a:chOff x="6204712" y="4509220"/>
            <a:chExt cx="3847232" cy="1256880"/>
          </a:xfrm>
        </p:grpSpPr>
        <p:sp>
          <p:nvSpPr>
            <p:cNvPr id="118" name="Rectangle: Rounded Corners 117">
              <a:extLst>
                <a:ext uri="{FF2B5EF4-FFF2-40B4-BE49-F238E27FC236}">
                  <a16:creationId xmlns:a16="http://schemas.microsoft.com/office/drawing/2014/main" id="{89F159BF-4BA9-8B20-B125-70A3DF6C8F00}"/>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Rounded Corners 118">
              <a:extLst>
                <a:ext uri="{FF2B5EF4-FFF2-40B4-BE49-F238E27FC236}">
                  <a16:creationId xmlns:a16="http://schemas.microsoft.com/office/drawing/2014/main" id="{345BC770-8098-91A8-B92A-D2A2F16F3A8B}"/>
                </a:ext>
              </a:extLst>
            </p:cNvPr>
            <p:cNvSpPr/>
            <p:nvPr/>
          </p:nvSpPr>
          <p:spPr>
            <a:xfrm>
              <a:off x="6240548" y="450922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Rounded Corners 119">
              <a:extLst>
                <a:ext uri="{FF2B5EF4-FFF2-40B4-BE49-F238E27FC236}">
                  <a16:creationId xmlns:a16="http://schemas.microsoft.com/office/drawing/2014/main" id="{4E1E529C-D770-6FA2-6740-CA17319CC846}"/>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6E4AEB9C-B618-A836-CC52-E33E86B3542A}"/>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22" name="TextBox 121">
              <a:extLst>
                <a:ext uri="{FF2B5EF4-FFF2-40B4-BE49-F238E27FC236}">
                  <a16:creationId xmlns:a16="http://schemas.microsoft.com/office/drawing/2014/main" id="{F4284211-5DD3-5F25-A55D-3AD681F24B2D}"/>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04</a:t>
              </a:r>
            </a:p>
          </p:txBody>
        </p:sp>
      </p:grpSp>
      <p:grpSp>
        <p:nvGrpSpPr>
          <p:cNvPr id="123" name="Group 122">
            <a:extLst>
              <a:ext uri="{FF2B5EF4-FFF2-40B4-BE49-F238E27FC236}">
                <a16:creationId xmlns:a16="http://schemas.microsoft.com/office/drawing/2014/main" id="{1EA180CC-31D9-7383-C7A3-5F782061FC75}"/>
              </a:ext>
            </a:extLst>
          </p:cNvPr>
          <p:cNvGrpSpPr/>
          <p:nvPr/>
        </p:nvGrpSpPr>
        <p:grpSpPr>
          <a:xfrm>
            <a:off x="7622801" y="873414"/>
            <a:ext cx="3847232" cy="1256880"/>
            <a:chOff x="6204712" y="4509220"/>
            <a:chExt cx="3847232" cy="1256880"/>
          </a:xfrm>
        </p:grpSpPr>
        <p:sp>
          <p:nvSpPr>
            <p:cNvPr id="124" name="Rectangle: Rounded Corners 123">
              <a:extLst>
                <a:ext uri="{FF2B5EF4-FFF2-40B4-BE49-F238E27FC236}">
                  <a16:creationId xmlns:a16="http://schemas.microsoft.com/office/drawing/2014/main" id="{3D1CFD03-D198-EC56-AD91-E8A46F09F420}"/>
                </a:ext>
              </a:extLst>
            </p:cNvPr>
            <p:cNvSpPr/>
            <p:nvPr/>
          </p:nvSpPr>
          <p:spPr>
            <a:xfrm>
              <a:off x="6204712" y="4509220"/>
              <a:ext cx="3847232" cy="1256880"/>
            </a:xfrm>
            <a:prstGeom prst="roundRect">
              <a:avLst/>
            </a:prstGeom>
            <a:gradFill flip="none" rotWithShape="1">
              <a:gsLst>
                <a:gs pos="0">
                  <a:schemeClr val="bg1"/>
                </a:gs>
                <a:gs pos="100000">
                  <a:schemeClr val="bg1">
                    <a:lumMod val="95000"/>
                  </a:schemeClr>
                </a:gs>
              </a:gsLst>
              <a:lin ang="2700000" scaled="1"/>
              <a:tileRect/>
            </a:gradFill>
            <a:ln>
              <a:solidFill>
                <a:schemeClr val="bg1">
                  <a:lumMod val="75000"/>
                </a:schemeClr>
              </a:solidFill>
            </a:ln>
            <a:effectLst>
              <a:innerShdw blurRad="114300">
                <a:schemeClr val="bg1">
                  <a:lumMod val="6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Rounded Corners 124">
              <a:extLst>
                <a:ext uri="{FF2B5EF4-FFF2-40B4-BE49-F238E27FC236}">
                  <a16:creationId xmlns:a16="http://schemas.microsoft.com/office/drawing/2014/main" id="{0EE6D6CC-CD69-60F7-CEEF-B5F86D16947F}"/>
                </a:ext>
              </a:extLst>
            </p:cNvPr>
            <p:cNvSpPr/>
            <p:nvPr/>
          </p:nvSpPr>
          <p:spPr>
            <a:xfrm>
              <a:off x="6240548" y="4509220"/>
              <a:ext cx="1256880" cy="1256880"/>
            </a:xfrm>
            <a:prstGeom prst="roundRect">
              <a:avLst/>
            </a:prstGeom>
            <a:gradFill flip="none" rotWithShape="1">
              <a:gsLst>
                <a:gs pos="0">
                  <a:schemeClr val="accent1">
                    <a:alpha val="80000"/>
                    <a:lumMod val="44000"/>
                    <a:lumOff val="56000"/>
                  </a:schemeClr>
                </a:gs>
                <a:gs pos="100000">
                  <a:schemeClr val="accent1">
                    <a:lumMod val="75000"/>
                    <a:alpha val="80000"/>
                  </a:schemeClr>
                </a:gs>
              </a:gsLst>
              <a:lin ang="27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Rectangle: Rounded Corners 125">
              <a:extLst>
                <a:ext uri="{FF2B5EF4-FFF2-40B4-BE49-F238E27FC236}">
                  <a16:creationId xmlns:a16="http://schemas.microsoft.com/office/drawing/2014/main" id="{56C8BEF3-567A-1C9B-D1B7-8F9AEF603489}"/>
                </a:ext>
              </a:extLst>
            </p:cNvPr>
            <p:cNvSpPr/>
            <p:nvPr/>
          </p:nvSpPr>
          <p:spPr>
            <a:xfrm>
              <a:off x="6401573" y="4670245"/>
              <a:ext cx="934830" cy="934830"/>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EE544FA2-50D8-3912-2D79-6D1E598F8FD0}"/>
                </a:ext>
              </a:extLst>
            </p:cNvPr>
            <p:cNvSpPr txBox="1"/>
            <p:nvPr/>
          </p:nvSpPr>
          <p:spPr>
            <a:xfrm>
              <a:off x="6411315" y="4730929"/>
              <a:ext cx="915346" cy="307777"/>
            </a:xfrm>
            <a:prstGeom prst="rect">
              <a:avLst/>
            </a:prstGeom>
            <a:noFill/>
          </p:spPr>
          <p:txBody>
            <a:bodyPr wrap="square" rtlCol="0">
              <a:spAutoFit/>
            </a:bodyPr>
            <a:lstStyle>
              <a:defPPr>
                <a:defRPr lang="en-US"/>
              </a:defPPr>
              <a:lvl1pPr algn="ctr">
                <a:defRPr sz="1400">
                  <a:solidFill>
                    <a:schemeClr val="accent1">
                      <a:lumMod val="75000"/>
                    </a:schemeClr>
                  </a:solidFill>
                  <a:latin typeface="Century Gothic" panose="020B0502020202020204" pitchFamily="34" charset="0"/>
                </a:defRPr>
              </a:lvl1pPr>
            </a:lstStyle>
            <a:p>
              <a:r>
                <a:rPr lang="en-US" dirty="0"/>
                <a:t>STEP</a:t>
              </a:r>
            </a:p>
          </p:txBody>
        </p:sp>
        <p:sp>
          <p:nvSpPr>
            <p:cNvPr id="128" name="TextBox 127">
              <a:extLst>
                <a:ext uri="{FF2B5EF4-FFF2-40B4-BE49-F238E27FC236}">
                  <a16:creationId xmlns:a16="http://schemas.microsoft.com/office/drawing/2014/main" id="{D06980C1-5C61-A12E-2530-696BC7396C3B}"/>
                </a:ext>
              </a:extLst>
            </p:cNvPr>
            <p:cNvSpPr txBox="1"/>
            <p:nvPr/>
          </p:nvSpPr>
          <p:spPr>
            <a:xfrm>
              <a:off x="6462588" y="4958744"/>
              <a:ext cx="812800" cy="646331"/>
            </a:xfrm>
            <a:prstGeom prst="rect">
              <a:avLst/>
            </a:prstGeom>
            <a:noFill/>
          </p:spPr>
          <p:txBody>
            <a:bodyPr wrap="square" rtlCol="0">
              <a:spAutoFit/>
            </a:bodyPr>
            <a:lstStyle>
              <a:defPPr>
                <a:defRPr lang="en-US"/>
              </a:defPPr>
              <a:lvl1pPr algn="ctr">
                <a:defRPr sz="3600">
                  <a:solidFill>
                    <a:schemeClr val="accent1">
                      <a:lumMod val="50000"/>
                    </a:schemeClr>
                  </a:solidFill>
                  <a:latin typeface="Century Gothic" panose="020B0502020202020204" pitchFamily="34" charset="0"/>
                </a:defRPr>
              </a:lvl1pPr>
            </a:lstStyle>
            <a:p>
              <a:r>
                <a:rPr lang="en-US" dirty="0"/>
                <a:t>06</a:t>
              </a:r>
            </a:p>
          </p:txBody>
        </p:sp>
      </p:grpSp>
      <p:sp>
        <p:nvSpPr>
          <p:cNvPr id="129" name="TextBox 128">
            <a:extLst>
              <a:ext uri="{FF2B5EF4-FFF2-40B4-BE49-F238E27FC236}">
                <a16:creationId xmlns:a16="http://schemas.microsoft.com/office/drawing/2014/main" id="{E7C8B8FC-F444-661B-6891-74DCC282FA97}"/>
              </a:ext>
            </a:extLst>
          </p:cNvPr>
          <p:cNvSpPr txBox="1"/>
          <p:nvPr/>
        </p:nvSpPr>
        <p:spPr>
          <a:xfrm rot="16200000">
            <a:off x="-2482752" y="2818320"/>
            <a:ext cx="6858004"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tx2">
                    <a:lumMod val="40000"/>
                    <a:lumOff val="60000"/>
                  </a:schemeClr>
                </a:solidFill>
                <a:effectLst>
                  <a:outerShdw blurRad="50800" dist="38100" algn="l" rotWithShape="0">
                    <a:prstClr val="black">
                      <a:alpha val="40000"/>
                    </a:prstClr>
                  </a:outerShdw>
                </a:effectLst>
                <a:latin typeface="Goudy Old Style" panose="02020502050305020303" pitchFamily="18" charset="0"/>
                <a:ea typeface="+mj-ea"/>
                <a:cs typeface="+mj-cs"/>
              </a:rPr>
              <a:t>WORK FLOW</a:t>
            </a:r>
          </a:p>
        </p:txBody>
      </p:sp>
      <p:sp>
        <p:nvSpPr>
          <p:cNvPr id="130" name="TextBox 129">
            <a:extLst>
              <a:ext uri="{FF2B5EF4-FFF2-40B4-BE49-F238E27FC236}">
                <a16:creationId xmlns:a16="http://schemas.microsoft.com/office/drawing/2014/main" id="{C5F965ED-4EEF-DD08-7209-B23BEB101DDC}"/>
              </a:ext>
            </a:extLst>
          </p:cNvPr>
          <p:cNvSpPr txBox="1"/>
          <p:nvPr/>
        </p:nvSpPr>
        <p:spPr>
          <a:xfrm rot="16200000">
            <a:off x="-2536136" y="2828835"/>
            <a:ext cx="6858002"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7200" b="1" dirty="0">
                <a:solidFill>
                  <a:schemeClr val="accent1">
                    <a:lumMod val="75000"/>
                  </a:schemeClr>
                </a:solidFill>
                <a:effectLst>
                  <a:outerShdw blurRad="50800" dist="38100" algn="l" rotWithShape="0">
                    <a:prstClr val="black">
                      <a:alpha val="40000"/>
                    </a:prstClr>
                  </a:outerShdw>
                </a:effectLst>
                <a:latin typeface="Goudy Old Style" panose="02020502050305020303" pitchFamily="18" charset="0"/>
                <a:ea typeface="+mj-ea"/>
                <a:cs typeface="+mj-cs"/>
              </a:rPr>
              <a:t>WORK FLOW</a:t>
            </a:r>
          </a:p>
        </p:txBody>
      </p:sp>
      <p:sp>
        <p:nvSpPr>
          <p:cNvPr id="131" name="TextBox 130">
            <a:extLst>
              <a:ext uri="{FF2B5EF4-FFF2-40B4-BE49-F238E27FC236}">
                <a16:creationId xmlns:a16="http://schemas.microsoft.com/office/drawing/2014/main" id="{748AC4A6-DAC4-1F36-4693-77D0E60014A9}"/>
              </a:ext>
            </a:extLst>
          </p:cNvPr>
          <p:cNvSpPr txBox="1"/>
          <p:nvPr/>
        </p:nvSpPr>
        <p:spPr>
          <a:xfrm>
            <a:off x="2807423" y="5694290"/>
            <a:ext cx="257430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Gathering and organizing data to train machine learning models.</a:t>
            </a:r>
            <a:endParaRPr lang="en-IN" sz="1200" dirty="0">
              <a:solidFill>
                <a:schemeClr val="accent1">
                  <a:lumMod val="75000"/>
                </a:schemeClr>
              </a:solidFill>
              <a:latin typeface="Century Gothic" panose="020B0502020202020204" pitchFamily="34" charset="0"/>
            </a:endParaRPr>
          </a:p>
        </p:txBody>
      </p:sp>
      <p:sp>
        <p:nvSpPr>
          <p:cNvPr id="132" name="TextBox 131">
            <a:extLst>
              <a:ext uri="{FF2B5EF4-FFF2-40B4-BE49-F238E27FC236}">
                <a16:creationId xmlns:a16="http://schemas.microsoft.com/office/drawing/2014/main" id="{FD907DCD-D307-D8AA-C747-C600703FCC37}"/>
              </a:ext>
            </a:extLst>
          </p:cNvPr>
          <p:cNvSpPr txBox="1"/>
          <p:nvPr/>
        </p:nvSpPr>
        <p:spPr>
          <a:xfrm>
            <a:off x="8887352" y="5039341"/>
            <a:ext cx="2572482"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Analyzing and visualizing data patterns to understand its characteristics</a:t>
            </a:r>
            <a:endParaRPr lang="en-IN" sz="1200" dirty="0">
              <a:solidFill>
                <a:schemeClr val="accent1">
                  <a:lumMod val="75000"/>
                </a:schemeClr>
              </a:solidFill>
              <a:latin typeface="Century Gothic" panose="020B0502020202020204" pitchFamily="34" charset="0"/>
            </a:endParaRPr>
          </a:p>
        </p:txBody>
      </p:sp>
      <p:sp>
        <p:nvSpPr>
          <p:cNvPr id="133" name="TextBox 132">
            <a:extLst>
              <a:ext uri="{FF2B5EF4-FFF2-40B4-BE49-F238E27FC236}">
                <a16:creationId xmlns:a16="http://schemas.microsoft.com/office/drawing/2014/main" id="{53D2CF6B-DA64-6052-B490-A61A7B61D87B}"/>
              </a:ext>
            </a:extLst>
          </p:cNvPr>
          <p:cNvSpPr txBox="1"/>
          <p:nvPr/>
        </p:nvSpPr>
        <p:spPr>
          <a:xfrm>
            <a:off x="2839372" y="4021685"/>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Preparing and cleaning data to enhance its quality and suitability</a:t>
            </a:r>
            <a:endParaRPr lang="en-IN" sz="1200" dirty="0">
              <a:solidFill>
                <a:schemeClr val="accent1">
                  <a:lumMod val="75000"/>
                </a:schemeClr>
              </a:solidFill>
              <a:latin typeface="Century Gothic" panose="020B0502020202020204" pitchFamily="34" charset="0"/>
            </a:endParaRPr>
          </a:p>
        </p:txBody>
      </p:sp>
      <p:sp>
        <p:nvSpPr>
          <p:cNvPr id="134" name="TextBox 133">
            <a:extLst>
              <a:ext uri="{FF2B5EF4-FFF2-40B4-BE49-F238E27FC236}">
                <a16:creationId xmlns:a16="http://schemas.microsoft.com/office/drawing/2014/main" id="{A4E2B7EB-3322-6939-4F16-0187AECE9596}"/>
              </a:ext>
            </a:extLst>
          </p:cNvPr>
          <p:cNvSpPr txBox="1"/>
          <p:nvPr/>
        </p:nvSpPr>
        <p:spPr>
          <a:xfrm>
            <a:off x="8958560" y="2652531"/>
            <a:ext cx="2473285"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Split Train  And Test Data</a:t>
            </a:r>
          </a:p>
        </p:txBody>
      </p:sp>
      <p:sp>
        <p:nvSpPr>
          <p:cNvPr id="135" name="TextBox 134">
            <a:extLst>
              <a:ext uri="{FF2B5EF4-FFF2-40B4-BE49-F238E27FC236}">
                <a16:creationId xmlns:a16="http://schemas.microsoft.com/office/drawing/2014/main" id="{1F873878-DF2F-1D41-749B-2A690E71746F}"/>
              </a:ext>
            </a:extLst>
          </p:cNvPr>
          <p:cNvSpPr txBox="1"/>
          <p:nvPr/>
        </p:nvSpPr>
        <p:spPr>
          <a:xfrm>
            <a:off x="8915517" y="3252124"/>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Dividing the dataset into training and Validation sets to evaluate</a:t>
            </a:r>
            <a:endParaRPr lang="en-IN" sz="1200" dirty="0">
              <a:solidFill>
                <a:schemeClr val="accent1">
                  <a:lumMod val="75000"/>
                </a:schemeClr>
              </a:solidFill>
              <a:latin typeface="Century Gothic" panose="020B0502020202020204" pitchFamily="34" charset="0"/>
            </a:endParaRPr>
          </a:p>
        </p:txBody>
      </p:sp>
      <p:sp>
        <p:nvSpPr>
          <p:cNvPr id="136" name="TextBox 135">
            <a:extLst>
              <a:ext uri="{FF2B5EF4-FFF2-40B4-BE49-F238E27FC236}">
                <a16:creationId xmlns:a16="http://schemas.microsoft.com/office/drawing/2014/main" id="{90836DFA-58CE-8C24-5CC7-F2766E26BC7E}"/>
              </a:ext>
            </a:extLst>
          </p:cNvPr>
          <p:cNvSpPr txBox="1"/>
          <p:nvPr/>
        </p:nvSpPr>
        <p:spPr>
          <a:xfrm>
            <a:off x="2828544" y="1924866"/>
            <a:ext cx="2575642" cy="61555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Model Selection and </a:t>
            </a:r>
          </a:p>
          <a:p>
            <a:r>
              <a:rPr lang="en-US" sz="1700" dirty="0"/>
              <a:t>Model Training</a:t>
            </a:r>
          </a:p>
        </p:txBody>
      </p:sp>
      <p:sp>
        <p:nvSpPr>
          <p:cNvPr id="137" name="TextBox 136">
            <a:extLst>
              <a:ext uri="{FF2B5EF4-FFF2-40B4-BE49-F238E27FC236}">
                <a16:creationId xmlns:a16="http://schemas.microsoft.com/office/drawing/2014/main" id="{A345D7A0-1408-0FE5-DC8B-0F43CF400C6F}"/>
              </a:ext>
            </a:extLst>
          </p:cNvPr>
          <p:cNvSpPr txBox="1"/>
          <p:nvPr/>
        </p:nvSpPr>
        <p:spPr>
          <a:xfrm>
            <a:off x="2828544" y="2507240"/>
            <a:ext cx="254235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Choosing a suitable machine learning algorithm and optimizing its parameters</a:t>
            </a:r>
            <a:endParaRPr lang="en-IN" sz="1200" dirty="0">
              <a:solidFill>
                <a:schemeClr val="accent1">
                  <a:lumMod val="75000"/>
                </a:schemeClr>
              </a:solidFill>
              <a:latin typeface="Century Gothic" panose="020B0502020202020204" pitchFamily="34" charset="0"/>
            </a:endParaRPr>
          </a:p>
        </p:txBody>
      </p:sp>
      <p:sp>
        <p:nvSpPr>
          <p:cNvPr id="138" name="TextBox 137">
            <a:extLst>
              <a:ext uri="{FF2B5EF4-FFF2-40B4-BE49-F238E27FC236}">
                <a16:creationId xmlns:a16="http://schemas.microsoft.com/office/drawing/2014/main" id="{0CCC8C7E-28F6-1E18-14D7-2F9F26D89E1B}"/>
              </a:ext>
            </a:extLst>
          </p:cNvPr>
          <p:cNvSpPr txBox="1"/>
          <p:nvPr/>
        </p:nvSpPr>
        <p:spPr>
          <a:xfrm>
            <a:off x="8915857" y="933903"/>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Model Evaluation</a:t>
            </a:r>
          </a:p>
        </p:txBody>
      </p:sp>
      <p:sp>
        <p:nvSpPr>
          <p:cNvPr id="139" name="TextBox 138">
            <a:extLst>
              <a:ext uri="{FF2B5EF4-FFF2-40B4-BE49-F238E27FC236}">
                <a16:creationId xmlns:a16="http://schemas.microsoft.com/office/drawing/2014/main" id="{A09B762B-A20A-9423-0279-1E507BB3FDD6}"/>
              </a:ext>
            </a:extLst>
          </p:cNvPr>
          <p:cNvSpPr txBox="1"/>
          <p:nvPr/>
        </p:nvSpPr>
        <p:spPr>
          <a:xfrm>
            <a:off x="8925259" y="1348335"/>
            <a:ext cx="2554516"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Assessing the performance of a machine learning model using metrics</a:t>
            </a:r>
            <a:endParaRPr lang="en-IN" sz="1200" dirty="0">
              <a:solidFill>
                <a:schemeClr val="accent1">
                  <a:lumMod val="75000"/>
                </a:schemeClr>
              </a:solidFill>
              <a:latin typeface="Century Gothic" panose="020B0502020202020204" pitchFamily="34" charset="0"/>
            </a:endParaRPr>
          </a:p>
        </p:txBody>
      </p:sp>
      <p:sp>
        <p:nvSpPr>
          <p:cNvPr id="140" name="TextBox 139">
            <a:extLst>
              <a:ext uri="{FF2B5EF4-FFF2-40B4-BE49-F238E27FC236}">
                <a16:creationId xmlns:a16="http://schemas.microsoft.com/office/drawing/2014/main" id="{FB8908B9-BD97-7730-EADB-65E589FF2C42}"/>
              </a:ext>
            </a:extLst>
          </p:cNvPr>
          <p:cNvSpPr txBox="1"/>
          <p:nvPr/>
        </p:nvSpPr>
        <p:spPr>
          <a:xfrm>
            <a:off x="2828543" y="385518"/>
            <a:ext cx="2575642" cy="353943"/>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700" dirty="0"/>
              <a:t>Monitor and Update</a:t>
            </a:r>
          </a:p>
        </p:txBody>
      </p:sp>
      <p:sp>
        <p:nvSpPr>
          <p:cNvPr id="141" name="TextBox 140">
            <a:extLst>
              <a:ext uri="{FF2B5EF4-FFF2-40B4-BE49-F238E27FC236}">
                <a16:creationId xmlns:a16="http://schemas.microsoft.com/office/drawing/2014/main" id="{9FF9DF46-37EA-7140-4AA1-4A309666857C}"/>
              </a:ext>
            </a:extLst>
          </p:cNvPr>
          <p:cNvSpPr txBox="1"/>
          <p:nvPr/>
        </p:nvSpPr>
        <p:spPr>
          <a:xfrm>
            <a:off x="2828203" y="749206"/>
            <a:ext cx="2584647" cy="646331"/>
          </a:xfrm>
          <a:prstGeom prst="rect">
            <a:avLst/>
          </a:prstGeom>
          <a:noFill/>
        </p:spPr>
        <p:txBody>
          <a:bodyPr wrap="square" rtlCol="0">
            <a:spAutoFit/>
          </a:bodyPr>
          <a:lstStyle>
            <a:defPPr>
              <a:defRPr lang="en-US"/>
            </a:defPPr>
            <a:lvl1pPr algn="ctr">
              <a:defRPr b="1">
                <a:solidFill>
                  <a:schemeClr val="accent1">
                    <a:lumMod val="50000"/>
                  </a:schemeClr>
                </a:solidFill>
                <a:latin typeface="Century" panose="02040604050505020304" pitchFamily="18" charset="0"/>
              </a:defRPr>
            </a:lvl1pPr>
          </a:lstStyle>
          <a:p>
            <a:r>
              <a:rPr lang="en-US" sz="1200" dirty="0">
                <a:solidFill>
                  <a:schemeClr val="accent1">
                    <a:lumMod val="75000"/>
                  </a:schemeClr>
                </a:solidFill>
                <a:latin typeface="Century Gothic" panose="020B0502020202020204" pitchFamily="34" charset="0"/>
              </a:rPr>
              <a:t>Continuously monitor the model's performance in the real-world scenario</a:t>
            </a:r>
            <a:endParaRPr lang="en-IN" sz="1200" dirty="0">
              <a:solidFill>
                <a:schemeClr val="accent1">
                  <a:lumMod val="75000"/>
                </a:schemeClr>
              </a:solidFill>
              <a:latin typeface="Century Gothic" panose="020B0502020202020204" pitchFamily="34" charset="0"/>
            </a:endParaRPr>
          </a:p>
        </p:txBody>
      </p:sp>
    </p:spTree>
    <p:extLst>
      <p:ext uri="{BB962C8B-B14F-4D97-AF65-F5344CB8AC3E}">
        <p14:creationId xmlns:p14="http://schemas.microsoft.com/office/powerpoint/2010/main" val="31397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3653C-828F-DF30-7E3F-C5C6ECEAC7B6}"/>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7A45C511-9AA0-D4DE-5DE8-C256E0F76ACF}"/>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87463" y="24948"/>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7" name="Picture 6">
            <a:extLst>
              <a:ext uri="{FF2B5EF4-FFF2-40B4-BE49-F238E27FC236}">
                <a16:creationId xmlns:a16="http://schemas.microsoft.com/office/drawing/2014/main" id="{7213A12C-9178-071A-A045-FD235D9432A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3F6ECAE8-4DEB-624A-0740-D4BB3D0D85D7}"/>
              </a:ext>
            </a:extLst>
          </p:cNvPr>
          <p:cNvSpPr txBox="1"/>
          <p:nvPr/>
        </p:nvSpPr>
        <p:spPr>
          <a:xfrm>
            <a:off x="195941" y="214604"/>
            <a:ext cx="6699381" cy="584775"/>
          </a:xfrm>
          <a:prstGeom prst="rect">
            <a:avLst/>
          </a:prstGeom>
          <a:noFill/>
        </p:spPr>
        <p:txBody>
          <a:bodyPr wrap="square" rtlCol="0">
            <a:spAutoFit/>
          </a:bodyPr>
          <a:lstStyle/>
          <a:p>
            <a:r>
              <a:rPr lang="en-IN" sz="3200" dirty="0">
                <a:latin typeface="Rockwell" panose="02060603020205020403" pitchFamily="18" charset="0"/>
              </a:rPr>
              <a:t>Data Acquisition and Preparation:</a:t>
            </a:r>
            <a:endParaRPr lang="kn-IN" sz="3200" dirty="0">
              <a:latin typeface="Rockwell" panose="02060603020205020403" pitchFamily="18" charset="0"/>
            </a:endParaRPr>
          </a:p>
        </p:txBody>
      </p:sp>
      <p:sp>
        <p:nvSpPr>
          <p:cNvPr id="4" name="TextBox 3">
            <a:extLst>
              <a:ext uri="{FF2B5EF4-FFF2-40B4-BE49-F238E27FC236}">
                <a16:creationId xmlns:a16="http://schemas.microsoft.com/office/drawing/2014/main" id="{99B9D4AF-8636-BEB0-2BF0-F7E685A1DC1A}"/>
              </a:ext>
            </a:extLst>
          </p:cNvPr>
          <p:cNvSpPr txBox="1"/>
          <p:nvPr/>
        </p:nvSpPr>
        <p:spPr>
          <a:xfrm>
            <a:off x="196779" y="997565"/>
            <a:ext cx="7044614" cy="4862870"/>
          </a:xfrm>
          <a:prstGeom prst="rect">
            <a:avLst/>
          </a:prstGeom>
          <a:noFill/>
        </p:spPr>
        <p:txBody>
          <a:bodyPr wrap="square" rtlCol="0">
            <a:spAutoFit/>
          </a:bodyPr>
          <a:lstStyle/>
          <a:p>
            <a:pPr algn="just"/>
            <a:r>
              <a:rPr lang="en-IN" b="1" dirty="0"/>
              <a:t>Dataset Overview:</a:t>
            </a:r>
          </a:p>
          <a:p>
            <a:pPr marL="285750" indent="-285750" algn="just">
              <a:buFont typeface="Arial" panose="020B0604020202020204" pitchFamily="34" charset="0"/>
              <a:buChar char="•"/>
            </a:pPr>
            <a:r>
              <a:rPr lang="en-IN" sz="1600" dirty="0"/>
              <a:t>The dataset contains </a:t>
            </a:r>
            <a:r>
              <a:rPr lang="en-IN" sz="1600" b="1" dirty="0"/>
              <a:t>19,158 rows </a:t>
            </a:r>
            <a:r>
              <a:rPr lang="en-IN" sz="1600" dirty="0"/>
              <a:t>and </a:t>
            </a:r>
            <a:r>
              <a:rPr lang="en-IN" sz="1600" b="1" dirty="0"/>
              <a:t>14 columns</a:t>
            </a:r>
            <a:r>
              <a:rPr lang="en-IN" sz="1600" dirty="0"/>
              <a:t>, representing data scientist’s attributes related to job retention and turnover</a:t>
            </a:r>
          </a:p>
          <a:p>
            <a:pPr algn="just"/>
            <a:endParaRPr lang="en-IN" b="1" dirty="0"/>
          </a:p>
          <a:p>
            <a:pPr algn="just"/>
            <a:r>
              <a:rPr lang="en-IN" b="1" dirty="0"/>
              <a:t>Features(Columns):</a:t>
            </a:r>
          </a:p>
          <a:p>
            <a:pPr marL="285750" indent="-285750" algn="just">
              <a:buFont typeface="Arial" panose="020B0604020202020204" pitchFamily="34" charset="0"/>
              <a:buChar char="•"/>
            </a:pPr>
            <a:r>
              <a:rPr lang="en-IN" sz="1600" b="1" dirty="0"/>
              <a:t>Demographic Information</a:t>
            </a:r>
            <a:r>
              <a:rPr lang="en-IN" sz="1600" dirty="0"/>
              <a:t>: Gender, Education Level, </a:t>
            </a:r>
            <a:r>
              <a:rPr lang="en-IN" sz="1600" dirty="0" err="1"/>
              <a:t>Relevent</a:t>
            </a:r>
            <a:r>
              <a:rPr lang="en-IN" sz="1600" dirty="0"/>
              <a:t> experience</a:t>
            </a:r>
          </a:p>
          <a:p>
            <a:pPr marL="285750" indent="-285750" algn="just">
              <a:buFont typeface="Arial" panose="020B0604020202020204" pitchFamily="34" charset="0"/>
              <a:buChar char="•"/>
            </a:pPr>
            <a:r>
              <a:rPr lang="en-IN" sz="1600" b="1" dirty="0"/>
              <a:t>Performance Metrics</a:t>
            </a:r>
            <a:r>
              <a:rPr lang="en-IN" sz="1600" dirty="0"/>
              <a:t>: Training hours, Experience</a:t>
            </a:r>
          </a:p>
          <a:p>
            <a:pPr marL="285750" indent="-285750" algn="just">
              <a:buFont typeface="Arial" panose="020B0604020202020204" pitchFamily="34" charset="0"/>
              <a:buChar char="•"/>
            </a:pPr>
            <a:r>
              <a:rPr lang="en-IN" sz="1600" b="1" dirty="0"/>
              <a:t>Employment Details</a:t>
            </a:r>
            <a:r>
              <a:rPr lang="en-IN" sz="1600" dirty="0"/>
              <a:t>: Company Size, Company Type, Last New Job</a:t>
            </a:r>
          </a:p>
          <a:p>
            <a:pPr marL="285750" indent="-285750" algn="just">
              <a:buFont typeface="Arial" panose="020B0604020202020204" pitchFamily="34" charset="0"/>
              <a:buChar char="•"/>
            </a:pPr>
            <a:r>
              <a:rPr lang="en-IN" sz="1600" b="1" dirty="0"/>
              <a:t>Location Insights</a:t>
            </a:r>
            <a:r>
              <a:rPr lang="en-IN" sz="1600" dirty="0"/>
              <a:t>: City Development Index, City</a:t>
            </a:r>
          </a:p>
          <a:p>
            <a:pPr marL="285750" indent="-285750" algn="just">
              <a:buFont typeface="Arial" panose="020B0604020202020204" pitchFamily="34" charset="0"/>
              <a:buChar char="•"/>
            </a:pPr>
            <a:endParaRPr lang="en-IN" sz="1600" b="1" dirty="0"/>
          </a:p>
          <a:p>
            <a:pPr algn="just"/>
            <a:r>
              <a:rPr lang="en-IN" b="1" dirty="0"/>
              <a:t>Target Variable(Y):</a:t>
            </a:r>
          </a:p>
          <a:p>
            <a:pPr marL="285750" indent="-285750" algn="just">
              <a:buFont typeface="Arial" panose="020B0604020202020204" pitchFamily="34" charset="0"/>
              <a:buChar char="•"/>
            </a:pPr>
            <a:r>
              <a:rPr lang="en-IN" sz="1600" b="1" dirty="0"/>
              <a:t>0</a:t>
            </a:r>
            <a:r>
              <a:rPr lang="en-IN" sz="1600" dirty="0"/>
              <a:t>: Employee is not likely to change jobs</a:t>
            </a:r>
          </a:p>
          <a:p>
            <a:pPr marL="285750" indent="-285750" algn="just">
              <a:buFont typeface="Arial" panose="020B0604020202020204" pitchFamily="34" charset="0"/>
              <a:buChar char="•"/>
            </a:pPr>
            <a:r>
              <a:rPr lang="en-IN" sz="1600" b="1" dirty="0"/>
              <a:t>1</a:t>
            </a:r>
            <a:r>
              <a:rPr lang="en-IN" sz="1600" dirty="0"/>
              <a:t>:Employee likely to change jobs</a:t>
            </a:r>
          </a:p>
          <a:p>
            <a:pPr marL="285750" indent="-285750" algn="just">
              <a:buFont typeface="Arial" panose="020B0604020202020204" pitchFamily="34" charset="0"/>
              <a:buChar char="•"/>
            </a:pPr>
            <a:endParaRPr lang="en-IN" b="1" dirty="0"/>
          </a:p>
          <a:p>
            <a:pPr algn="just"/>
            <a:r>
              <a:rPr lang="en-IN" b="1" dirty="0"/>
              <a:t>Refinement Techniques:</a:t>
            </a:r>
          </a:p>
          <a:p>
            <a:pPr marL="285750" indent="-285750" algn="just">
              <a:buFont typeface="Arial" panose="020B0604020202020204" pitchFamily="34" charset="0"/>
              <a:buChar char="•"/>
            </a:pPr>
            <a:r>
              <a:rPr lang="en-IN" sz="1600" dirty="0"/>
              <a:t>Feature Engineering</a:t>
            </a:r>
          </a:p>
          <a:p>
            <a:pPr marL="285750" indent="-285750" algn="just">
              <a:buFont typeface="Arial" panose="020B0604020202020204" pitchFamily="34" charset="0"/>
              <a:buChar char="•"/>
            </a:pPr>
            <a:r>
              <a:rPr lang="en-IN" sz="1600" dirty="0"/>
              <a:t>Outlier Handling and Data Normalization </a:t>
            </a:r>
          </a:p>
          <a:p>
            <a:pPr marL="285750" indent="-285750" algn="just">
              <a:buFont typeface="Arial" panose="020B0604020202020204" pitchFamily="34" charset="0"/>
              <a:buChar char="•"/>
            </a:pPr>
            <a:r>
              <a:rPr lang="en-IN" sz="1600" dirty="0"/>
              <a:t>Removal of irrelevant or low </a:t>
            </a:r>
            <a:r>
              <a:rPr lang="en-IN" sz="1600" dirty="0" err="1"/>
              <a:t>impactfull</a:t>
            </a:r>
            <a:r>
              <a:rPr lang="en-IN" sz="1600" dirty="0"/>
              <a:t> features</a:t>
            </a:r>
          </a:p>
        </p:txBody>
      </p:sp>
      <p:pic>
        <p:nvPicPr>
          <p:cNvPr id="6" name="Picture 5">
            <a:extLst>
              <a:ext uri="{FF2B5EF4-FFF2-40B4-BE49-F238E27FC236}">
                <a16:creationId xmlns:a16="http://schemas.microsoft.com/office/drawing/2014/main" id="{676B97C9-14A9-9ED6-8FAE-224EE53B53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3534" y="1323975"/>
            <a:ext cx="4060132" cy="3929160"/>
          </a:xfrm>
          <a:prstGeom prst="rect">
            <a:avLst/>
          </a:prstGeom>
        </p:spPr>
      </p:pic>
    </p:spTree>
    <p:extLst>
      <p:ext uri="{BB962C8B-B14F-4D97-AF65-F5344CB8AC3E}">
        <p14:creationId xmlns:p14="http://schemas.microsoft.com/office/powerpoint/2010/main" val="977532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47A0A-A58C-0B03-F3A6-4358676F002B}"/>
            </a:ext>
          </a:extLst>
        </p:cNvPr>
        <p:cNvGrpSpPr/>
        <p:nvPr/>
      </p:nvGrpSpPr>
      <p:grpSpPr>
        <a:xfrm>
          <a:off x="0" y="0"/>
          <a:ext cx="0" cy="0"/>
          <a:chOff x="0" y="0"/>
          <a:chExt cx="0" cy="0"/>
        </a:xfrm>
      </p:grpSpPr>
      <p:pic>
        <p:nvPicPr>
          <p:cNvPr id="2" name="Picture 1" descr="A close up of a device&#10;&#10;Description automatically generated">
            <a:extLst>
              <a:ext uri="{FF2B5EF4-FFF2-40B4-BE49-F238E27FC236}">
                <a16:creationId xmlns:a16="http://schemas.microsoft.com/office/drawing/2014/main" id="{E7351EF0-E55F-AE10-64C0-83F96CA80CEB}"/>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568801" y="10"/>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9" name="Oval 53">
            <a:extLst>
              <a:ext uri="{FF2B5EF4-FFF2-40B4-BE49-F238E27FC236}">
                <a16:creationId xmlns:a16="http://schemas.microsoft.com/office/drawing/2014/main" id="{D1426DE8-DC57-8215-5E0B-62D39554C7B9}"/>
              </a:ext>
            </a:extLst>
          </p:cNvPr>
          <p:cNvSpPr>
            <a:spLocks noChangeAspect="1"/>
          </p:cNvSpPr>
          <p:nvPr/>
        </p:nvSpPr>
        <p:spPr>
          <a:xfrm>
            <a:off x="11145737" y="780434"/>
            <a:ext cx="45719" cy="73150"/>
          </a:xfrm>
          <a:custGeom>
            <a:avLst/>
            <a:gdLst>
              <a:gd name="connsiteX0" fmla="*/ 0 w 193637"/>
              <a:gd name="connsiteY0" fmla="*/ 158676 h 317351"/>
              <a:gd name="connsiteX1" fmla="*/ 96819 w 193637"/>
              <a:gd name="connsiteY1" fmla="*/ 0 h 317351"/>
              <a:gd name="connsiteX2" fmla="*/ 193638 w 193637"/>
              <a:gd name="connsiteY2" fmla="*/ 158676 h 317351"/>
              <a:gd name="connsiteX3" fmla="*/ 96819 w 193637"/>
              <a:gd name="connsiteY3" fmla="*/ 317352 h 317351"/>
              <a:gd name="connsiteX4" fmla="*/ 0 w 193637"/>
              <a:gd name="connsiteY4" fmla="*/ 158676 h 317351"/>
              <a:gd name="connsiteX0" fmla="*/ 0 w 193638"/>
              <a:gd name="connsiteY0" fmla="*/ 158676 h 317352"/>
              <a:gd name="connsiteX1" fmla="*/ 96819 w 193638"/>
              <a:gd name="connsiteY1" fmla="*/ 0 h 317352"/>
              <a:gd name="connsiteX2" fmla="*/ 193638 w 193638"/>
              <a:gd name="connsiteY2" fmla="*/ 158676 h 317352"/>
              <a:gd name="connsiteX3" fmla="*/ 96819 w 193638"/>
              <a:gd name="connsiteY3" fmla="*/ 317352 h 317352"/>
              <a:gd name="connsiteX4" fmla="*/ 0 w 193638"/>
              <a:gd name="connsiteY4" fmla="*/ 158676 h 317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38" h="317352">
                <a:moveTo>
                  <a:pt x="0" y="158676"/>
                </a:moveTo>
                <a:cubicBezTo>
                  <a:pt x="0" y="71042"/>
                  <a:pt x="91757" y="0"/>
                  <a:pt x="96819" y="0"/>
                </a:cubicBezTo>
                <a:cubicBezTo>
                  <a:pt x="101881" y="0"/>
                  <a:pt x="193638" y="71042"/>
                  <a:pt x="193638" y="158676"/>
                </a:cubicBezTo>
                <a:cubicBezTo>
                  <a:pt x="193638" y="246310"/>
                  <a:pt x="150291" y="317352"/>
                  <a:pt x="96819" y="317352"/>
                </a:cubicBezTo>
                <a:cubicBezTo>
                  <a:pt x="43347" y="317352"/>
                  <a:pt x="0" y="246310"/>
                  <a:pt x="0" y="158676"/>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Rounded Corners 154">
            <a:extLst>
              <a:ext uri="{FF2B5EF4-FFF2-40B4-BE49-F238E27FC236}">
                <a16:creationId xmlns:a16="http://schemas.microsoft.com/office/drawing/2014/main" id="{F3F0610A-1728-E1C8-A43D-29AED55D4AA2}"/>
              </a:ext>
            </a:extLst>
          </p:cNvPr>
          <p:cNvSpPr/>
          <p:nvPr/>
        </p:nvSpPr>
        <p:spPr>
          <a:xfrm rot="5400000" flipH="1">
            <a:off x="10434755" y="2457356"/>
            <a:ext cx="169390" cy="51440"/>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6" name="Rectangle: Rounded Corners 155">
            <a:extLst>
              <a:ext uri="{FF2B5EF4-FFF2-40B4-BE49-F238E27FC236}">
                <a16:creationId xmlns:a16="http://schemas.microsoft.com/office/drawing/2014/main" id="{ABBCFEA5-99C0-D1A4-B066-52D70EF7E61F}"/>
              </a:ext>
            </a:extLst>
          </p:cNvPr>
          <p:cNvSpPr/>
          <p:nvPr/>
        </p:nvSpPr>
        <p:spPr>
          <a:xfrm rot="5400000" flipH="1" flipV="1">
            <a:off x="10286516" y="2705235"/>
            <a:ext cx="671484" cy="162055"/>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3" name="Rectangle: Rounded Corners 162">
            <a:extLst>
              <a:ext uri="{FF2B5EF4-FFF2-40B4-BE49-F238E27FC236}">
                <a16:creationId xmlns:a16="http://schemas.microsoft.com/office/drawing/2014/main" id="{0CFD776D-0315-355C-08C7-7B53103608E3}"/>
              </a:ext>
            </a:extLst>
          </p:cNvPr>
          <p:cNvSpPr/>
          <p:nvPr/>
        </p:nvSpPr>
        <p:spPr>
          <a:xfrm rot="5400000">
            <a:off x="9961247" y="1539518"/>
            <a:ext cx="406966" cy="59554"/>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5" name="Rectangle: Rounded Corners 164">
            <a:extLst>
              <a:ext uri="{FF2B5EF4-FFF2-40B4-BE49-F238E27FC236}">
                <a16:creationId xmlns:a16="http://schemas.microsoft.com/office/drawing/2014/main" id="{2E5D26FD-44CD-B5D0-3DE2-84D45BA35804}"/>
              </a:ext>
            </a:extLst>
          </p:cNvPr>
          <p:cNvSpPr/>
          <p:nvPr/>
        </p:nvSpPr>
        <p:spPr>
          <a:xfrm rot="10800000">
            <a:off x="11266137" y="1475623"/>
            <a:ext cx="197220"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6" name="Rectangle: Rounded Corners 165">
            <a:extLst>
              <a:ext uri="{FF2B5EF4-FFF2-40B4-BE49-F238E27FC236}">
                <a16:creationId xmlns:a16="http://schemas.microsoft.com/office/drawing/2014/main" id="{EF8D7968-4361-4D32-3401-58AAAA638A11}"/>
              </a:ext>
            </a:extLst>
          </p:cNvPr>
          <p:cNvSpPr/>
          <p:nvPr/>
        </p:nvSpPr>
        <p:spPr>
          <a:xfrm rot="10800000">
            <a:off x="9586289" y="1599827"/>
            <a:ext cx="197220"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7" name="Rectangle: Rounded Corners 166">
            <a:extLst>
              <a:ext uri="{FF2B5EF4-FFF2-40B4-BE49-F238E27FC236}">
                <a16:creationId xmlns:a16="http://schemas.microsoft.com/office/drawing/2014/main" id="{B4D312A8-7678-C94B-ECB2-E6E30AE2DAD4}"/>
              </a:ext>
            </a:extLst>
          </p:cNvPr>
          <p:cNvSpPr/>
          <p:nvPr/>
        </p:nvSpPr>
        <p:spPr>
          <a:xfrm rot="10800000" flipV="1">
            <a:off x="9563049" y="1420736"/>
            <a:ext cx="440921"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8" name="Rectangle: Rounded Corners 167">
            <a:extLst>
              <a:ext uri="{FF2B5EF4-FFF2-40B4-BE49-F238E27FC236}">
                <a16:creationId xmlns:a16="http://schemas.microsoft.com/office/drawing/2014/main" id="{A2B075BB-968D-C12C-1EEC-D879D54397AB}"/>
              </a:ext>
            </a:extLst>
          </p:cNvPr>
          <p:cNvSpPr/>
          <p:nvPr/>
        </p:nvSpPr>
        <p:spPr>
          <a:xfrm rot="10800000">
            <a:off x="10888322" y="1478514"/>
            <a:ext cx="246044" cy="45719"/>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9" name="Rectangle: Rounded Corners 168">
            <a:extLst>
              <a:ext uri="{FF2B5EF4-FFF2-40B4-BE49-F238E27FC236}">
                <a16:creationId xmlns:a16="http://schemas.microsoft.com/office/drawing/2014/main" id="{2126A6F8-0ABE-74E2-3AA7-144B0819C505}"/>
              </a:ext>
            </a:extLst>
          </p:cNvPr>
          <p:cNvSpPr/>
          <p:nvPr/>
        </p:nvSpPr>
        <p:spPr>
          <a:xfrm rot="5400000" flipV="1">
            <a:off x="10576118" y="1564938"/>
            <a:ext cx="407678" cy="60184"/>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0" name="Rectangle: Rounded Corners 169">
            <a:extLst>
              <a:ext uri="{FF2B5EF4-FFF2-40B4-BE49-F238E27FC236}">
                <a16:creationId xmlns:a16="http://schemas.microsoft.com/office/drawing/2014/main" id="{C339B114-42D3-07C3-51FA-F10AA33A7092}"/>
              </a:ext>
            </a:extLst>
          </p:cNvPr>
          <p:cNvSpPr/>
          <p:nvPr/>
        </p:nvSpPr>
        <p:spPr>
          <a:xfrm rot="5400000" flipH="1">
            <a:off x="10113475" y="2457356"/>
            <a:ext cx="169390" cy="51440"/>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4" name="Rectangle: Rounded Corners 283">
            <a:extLst>
              <a:ext uri="{FF2B5EF4-FFF2-40B4-BE49-F238E27FC236}">
                <a16:creationId xmlns:a16="http://schemas.microsoft.com/office/drawing/2014/main" id="{7574BF75-9FAC-8E4B-747A-96A8C458216A}"/>
              </a:ext>
            </a:extLst>
          </p:cNvPr>
          <p:cNvSpPr/>
          <p:nvPr/>
        </p:nvSpPr>
        <p:spPr>
          <a:xfrm rot="5400000" flipH="1" flipV="1">
            <a:off x="10345946" y="4291928"/>
            <a:ext cx="671484" cy="162055"/>
          </a:xfrm>
          <a:prstGeom prst="roundRect">
            <a:avLst>
              <a:gd name="adj" fmla="val 50000"/>
            </a:avLst>
          </a:prstGeom>
          <a:solidFill>
            <a:schemeClr val="bg1">
              <a:lumMod val="95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850BF530-5906-72ED-2DFC-FC8D556ADEE6}"/>
              </a:ext>
            </a:extLst>
          </p:cNvPr>
          <p:cNvSpPr txBox="1"/>
          <p:nvPr/>
        </p:nvSpPr>
        <p:spPr>
          <a:xfrm>
            <a:off x="205274" y="261258"/>
            <a:ext cx="5243804" cy="584775"/>
          </a:xfrm>
          <a:prstGeom prst="rect">
            <a:avLst/>
          </a:prstGeom>
          <a:noFill/>
        </p:spPr>
        <p:txBody>
          <a:bodyPr wrap="square" rtlCol="0">
            <a:spAutoFit/>
          </a:bodyPr>
          <a:lstStyle/>
          <a:p>
            <a:r>
              <a:rPr lang="en-IN" sz="3200" dirty="0">
                <a:latin typeface="Rockwell" panose="02060603020205020403" pitchFamily="18" charset="0"/>
              </a:rPr>
              <a:t>Exploratory  Data Analysis</a:t>
            </a:r>
            <a:endParaRPr lang="kn-IN" sz="3200" dirty="0">
              <a:latin typeface="Rockwell" panose="02060603020205020403" pitchFamily="18" charset="0"/>
            </a:endParaRPr>
          </a:p>
        </p:txBody>
      </p:sp>
      <p:pic>
        <p:nvPicPr>
          <p:cNvPr id="6" name="Picture 5">
            <a:extLst>
              <a:ext uri="{FF2B5EF4-FFF2-40B4-BE49-F238E27FC236}">
                <a16:creationId xmlns:a16="http://schemas.microsoft.com/office/drawing/2014/main" id="{F8B40D24-F677-C69F-80E0-BA7DA81387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2278" y="3470915"/>
            <a:ext cx="3666929" cy="2397770"/>
          </a:xfrm>
          <a:prstGeom prst="rect">
            <a:avLst/>
          </a:prstGeom>
        </p:spPr>
      </p:pic>
      <p:pic>
        <p:nvPicPr>
          <p:cNvPr id="9" name="Picture 8">
            <a:extLst>
              <a:ext uri="{FF2B5EF4-FFF2-40B4-BE49-F238E27FC236}">
                <a16:creationId xmlns:a16="http://schemas.microsoft.com/office/drawing/2014/main" id="{A4C62BFD-05A7-4E41-2C38-B82BA49A6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2278" y="625152"/>
            <a:ext cx="3666930" cy="2310743"/>
          </a:xfrm>
          <a:prstGeom prst="rect">
            <a:avLst/>
          </a:prstGeom>
        </p:spPr>
      </p:pic>
      <p:sp>
        <p:nvSpPr>
          <p:cNvPr id="11" name="Rectangle 10">
            <a:extLst>
              <a:ext uri="{FF2B5EF4-FFF2-40B4-BE49-F238E27FC236}">
                <a16:creationId xmlns:a16="http://schemas.microsoft.com/office/drawing/2014/main" id="{1E0AAEE1-31E0-D257-F847-F749B609C9A7}"/>
              </a:ext>
            </a:extLst>
          </p:cNvPr>
          <p:cNvSpPr/>
          <p:nvPr/>
        </p:nvSpPr>
        <p:spPr>
          <a:xfrm>
            <a:off x="8406878" y="6416321"/>
            <a:ext cx="522515" cy="180689"/>
          </a:xfrm>
          <a:prstGeom prst="rect">
            <a:avLst/>
          </a:prstGeom>
          <a:solidFill>
            <a:srgbClr val="CCE9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n-IN" dirty="0"/>
          </a:p>
        </p:txBody>
      </p:sp>
      <p:sp>
        <p:nvSpPr>
          <p:cNvPr id="16" name="Rectangle 15">
            <a:extLst>
              <a:ext uri="{FF2B5EF4-FFF2-40B4-BE49-F238E27FC236}">
                <a16:creationId xmlns:a16="http://schemas.microsoft.com/office/drawing/2014/main" id="{8F083D85-8E60-9082-CC0D-4AAB26AB00B9}"/>
              </a:ext>
            </a:extLst>
          </p:cNvPr>
          <p:cNvSpPr/>
          <p:nvPr/>
        </p:nvSpPr>
        <p:spPr>
          <a:xfrm flipV="1">
            <a:off x="8406878" y="6142503"/>
            <a:ext cx="522515" cy="18068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n-IN"/>
          </a:p>
        </p:txBody>
      </p:sp>
      <p:sp>
        <p:nvSpPr>
          <p:cNvPr id="24" name="TextBox 23">
            <a:extLst>
              <a:ext uri="{FF2B5EF4-FFF2-40B4-BE49-F238E27FC236}">
                <a16:creationId xmlns:a16="http://schemas.microsoft.com/office/drawing/2014/main" id="{6CDE5DF7-47B2-A4FC-7E2E-10C649EB8E04}"/>
              </a:ext>
            </a:extLst>
          </p:cNvPr>
          <p:cNvSpPr txBox="1"/>
          <p:nvPr/>
        </p:nvSpPr>
        <p:spPr>
          <a:xfrm>
            <a:off x="9050695" y="6082410"/>
            <a:ext cx="1837628" cy="553998"/>
          </a:xfrm>
          <a:prstGeom prst="rect">
            <a:avLst/>
          </a:prstGeom>
          <a:noFill/>
        </p:spPr>
        <p:txBody>
          <a:bodyPr wrap="square" rtlCol="0">
            <a:spAutoFit/>
          </a:bodyPr>
          <a:lstStyle/>
          <a:p>
            <a:r>
              <a:rPr lang="en-IN" sz="1000" b="1" dirty="0"/>
              <a:t>Looking for job change(1)</a:t>
            </a:r>
          </a:p>
          <a:p>
            <a:endParaRPr lang="en-IN" sz="1000" b="1" dirty="0"/>
          </a:p>
          <a:p>
            <a:r>
              <a:rPr lang="en-IN" sz="1000" b="1" dirty="0"/>
              <a:t>Not looking for Job Change(0)</a:t>
            </a:r>
            <a:endParaRPr lang="kn-IN" sz="1000" b="1" dirty="0"/>
          </a:p>
        </p:txBody>
      </p:sp>
      <p:sp>
        <p:nvSpPr>
          <p:cNvPr id="25" name="TextBox 24">
            <a:extLst>
              <a:ext uri="{FF2B5EF4-FFF2-40B4-BE49-F238E27FC236}">
                <a16:creationId xmlns:a16="http://schemas.microsoft.com/office/drawing/2014/main" id="{63ED6F68-6003-DCBC-9A0F-6FDBC99B84B3}"/>
              </a:ext>
            </a:extLst>
          </p:cNvPr>
          <p:cNvSpPr txBox="1"/>
          <p:nvPr/>
        </p:nvSpPr>
        <p:spPr>
          <a:xfrm>
            <a:off x="8192278" y="3069266"/>
            <a:ext cx="3666929" cy="307777"/>
          </a:xfrm>
          <a:prstGeom prst="rect">
            <a:avLst/>
          </a:prstGeom>
          <a:noFill/>
        </p:spPr>
        <p:txBody>
          <a:bodyPr wrap="square" rtlCol="0">
            <a:spAutoFit/>
          </a:bodyPr>
          <a:lstStyle/>
          <a:p>
            <a:pPr algn="ctr"/>
            <a:r>
              <a:rPr lang="en-IN" sz="1400" b="1" dirty="0"/>
              <a:t>Distribution of Target Variable</a:t>
            </a:r>
            <a:endParaRPr lang="kn-IN" sz="1400" b="1" dirty="0"/>
          </a:p>
        </p:txBody>
      </p:sp>
      <p:pic>
        <p:nvPicPr>
          <p:cNvPr id="26" name="Picture 25">
            <a:extLst>
              <a:ext uri="{FF2B5EF4-FFF2-40B4-BE49-F238E27FC236}">
                <a16:creationId xmlns:a16="http://schemas.microsoft.com/office/drawing/2014/main" id="{C0733D9F-0F18-E9A6-83F2-5EE3ED57185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88322" y="6227099"/>
            <a:ext cx="1247694" cy="518934"/>
          </a:xfrm>
          <a:prstGeom prst="rect">
            <a:avLst/>
          </a:prstGeom>
        </p:spPr>
      </p:pic>
      <p:sp>
        <p:nvSpPr>
          <p:cNvPr id="27" name="TextBox 26">
            <a:extLst>
              <a:ext uri="{FF2B5EF4-FFF2-40B4-BE49-F238E27FC236}">
                <a16:creationId xmlns:a16="http://schemas.microsoft.com/office/drawing/2014/main" id="{ED1F2C3F-E6A8-F448-319F-BE5231DDAC4C}"/>
              </a:ext>
            </a:extLst>
          </p:cNvPr>
          <p:cNvSpPr txBox="1"/>
          <p:nvPr/>
        </p:nvSpPr>
        <p:spPr>
          <a:xfrm>
            <a:off x="205274" y="853583"/>
            <a:ext cx="7262163" cy="4524315"/>
          </a:xfrm>
          <a:prstGeom prst="rect">
            <a:avLst/>
          </a:prstGeom>
          <a:noFill/>
        </p:spPr>
        <p:txBody>
          <a:bodyPr wrap="square" rtlCol="0">
            <a:spAutoFit/>
          </a:bodyPr>
          <a:lstStyle/>
          <a:p>
            <a:pPr marL="285750" indent="-285750" algn="just">
              <a:buFont typeface="Arial" panose="020B0604020202020204" pitchFamily="34" charset="0"/>
              <a:buChar char="•"/>
            </a:pPr>
            <a:r>
              <a:rPr lang="en-GB" sz="1600" dirty="0"/>
              <a:t> Exploratory Data Analysis (EDA) was conducted to examine the distribution of features, uncover patterns, and derive insights from both numerical and categorical variables</a:t>
            </a:r>
          </a:p>
          <a:p>
            <a:pPr marL="285750" indent="-285750" algn="just">
              <a:buFont typeface="Arial" panose="020B0604020202020204" pitchFamily="34" charset="0"/>
              <a:buChar char="•"/>
            </a:pPr>
            <a:r>
              <a:rPr lang="en-GB" sz="1600" dirty="0"/>
              <a:t>Analysis of the target variable showed a clear class imbalance, where approximately </a:t>
            </a:r>
            <a:r>
              <a:rPr lang="en-GB" sz="1600" b="1" dirty="0"/>
              <a:t>75% </a:t>
            </a:r>
            <a:r>
              <a:rPr lang="en-GB" sz="1600" dirty="0"/>
              <a:t>of employees were not considering a job change, while </a:t>
            </a:r>
            <a:r>
              <a:rPr lang="en-GB" sz="1600" b="1" dirty="0"/>
              <a:t>25% </a:t>
            </a:r>
            <a:r>
              <a:rPr lang="en-GB" sz="1600" dirty="0"/>
              <a:t>were open to switching jobs</a:t>
            </a:r>
          </a:p>
          <a:p>
            <a:pPr marL="285750" indent="-285750" algn="just">
              <a:buFont typeface="Arial" panose="020B0604020202020204" pitchFamily="34" charset="0"/>
              <a:buChar char="•"/>
            </a:pPr>
            <a:r>
              <a:rPr lang="en-GB" sz="1600" dirty="0"/>
              <a:t>A correlation matrix was applied to </a:t>
            </a:r>
            <a:r>
              <a:rPr lang="en-GB" sz="1600" dirty="0" err="1"/>
              <a:t>analyze</a:t>
            </a:r>
            <a:r>
              <a:rPr lang="en-GB" sz="1600" dirty="0"/>
              <a:t> relationships among numerical attributes, revealing notable associations such as a positive relationship between </a:t>
            </a:r>
            <a:r>
              <a:rPr lang="en-GB" sz="1600" b="1" dirty="0"/>
              <a:t>experience</a:t>
            </a:r>
            <a:r>
              <a:rPr lang="en-GB" sz="1600" dirty="0"/>
              <a:t> and </a:t>
            </a:r>
            <a:r>
              <a:rPr lang="en-GB" sz="1600" b="1" dirty="0" err="1"/>
              <a:t>last_new_job</a:t>
            </a:r>
            <a:endParaRPr lang="en-GB" sz="1600" b="1" dirty="0"/>
          </a:p>
          <a:p>
            <a:pPr marL="285750" indent="-285750" algn="just">
              <a:buFont typeface="Arial" panose="020B0604020202020204" pitchFamily="34" charset="0"/>
              <a:buChar char="•"/>
            </a:pPr>
            <a:r>
              <a:rPr lang="en-GB" sz="1600" dirty="0"/>
              <a:t>Stacked bar plots and Density plots were utilized to explore </a:t>
            </a:r>
            <a:r>
              <a:rPr lang="en-GB" sz="1600" b="1" dirty="0"/>
              <a:t>interactions among </a:t>
            </a:r>
            <a:r>
              <a:rPr lang="en-GB" sz="1600" dirty="0"/>
              <a:t>important </a:t>
            </a:r>
            <a:r>
              <a:rPr lang="en-GB" sz="1600" b="1" dirty="0"/>
              <a:t>numerical variables</a:t>
            </a:r>
            <a:r>
              <a:rPr lang="en-GB" sz="1600" dirty="0"/>
              <a:t>, including </a:t>
            </a:r>
            <a:r>
              <a:rPr lang="en-GB" sz="1600" b="1" dirty="0"/>
              <a:t>experience, </a:t>
            </a:r>
            <a:r>
              <a:rPr lang="en-GB" sz="1600" b="1" dirty="0" err="1"/>
              <a:t>training_hours</a:t>
            </a:r>
            <a:r>
              <a:rPr lang="en-GB" sz="1600" dirty="0"/>
              <a:t>, and </a:t>
            </a:r>
            <a:r>
              <a:rPr lang="en-GB" sz="1600" b="1" dirty="0" err="1"/>
              <a:t>company_size</a:t>
            </a:r>
            <a:r>
              <a:rPr lang="en-GB" sz="1600" dirty="0"/>
              <a:t> and </a:t>
            </a:r>
            <a:r>
              <a:rPr lang="en-GB" sz="1600" b="1" dirty="0"/>
              <a:t>Categorical columns </a:t>
            </a:r>
            <a:r>
              <a:rPr lang="en-GB" sz="1600" dirty="0"/>
              <a:t>with </a:t>
            </a:r>
            <a:r>
              <a:rPr lang="en-GB" sz="1600" b="1" dirty="0"/>
              <a:t>target</a:t>
            </a:r>
          </a:p>
          <a:p>
            <a:pPr marL="285750" indent="-285750" algn="just">
              <a:buFont typeface="Arial" panose="020B0604020202020204" pitchFamily="34" charset="0"/>
              <a:buChar char="•"/>
            </a:pPr>
            <a:r>
              <a:rPr lang="en-GB" sz="1600" dirty="0"/>
              <a:t>Outliers present in numerical features, particularly </a:t>
            </a:r>
            <a:r>
              <a:rPr lang="en-GB" sz="1600" b="1" dirty="0" err="1"/>
              <a:t>training_hours</a:t>
            </a:r>
            <a:r>
              <a:rPr lang="en-GB" sz="1600" b="1" dirty="0"/>
              <a:t>, </a:t>
            </a:r>
            <a:r>
              <a:rPr lang="en-GB" sz="1600" dirty="0"/>
              <a:t>were detected and their influence on model performance was assessed during the data preprocessing stage</a:t>
            </a:r>
          </a:p>
          <a:p>
            <a:pPr marL="285750" indent="-285750" algn="just">
              <a:buFont typeface="Arial" panose="020B0604020202020204" pitchFamily="34" charset="0"/>
              <a:buChar char="•"/>
            </a:pPr>
            <a:r>
              <a:rPr lang="en-GB" sz="1600" dirty="0"/>
              <a:t>Both univariate and bivariate visualizations—such as </a:t>
            </a:r>
            <a:r>
              <a:rPr lang="en-GB" sz="1600" b="1" dirty="0"/>
              <a:t>histograms</a:t>
            </a:r>
            <a:r>
              <a:rPr lang="en-GB" sz="1600" dirty="0"/>
              <a:t>, </a:t>
            </a:r>
            <a:r>
              <a:rPr lang="en-GB" sz="1600" b="1" dirty="0"/>
              <a:t>heatmaps</a:t>
            </a:r>
            <a:r>
              <a:rPr lang="en-GB" sz="1600" dirty="0"/>
              <a:t>, and </a:t>
            </a:r>
            <a:r>
              <a:rPr lang="en-GB" sz="1600" b="1" dirty="0"/>
              <a:t>pie charts</a:t>
            </a:r>
            <a:r>
              <a:rPr lang="en-GB" sz="1600" dirty="0"/>
              <a:t>—were used to better understand feature distributions and their relationship with the target variable</a:t>
            </a:r>
            <a:endParaRPr lang="kn-IN" sz="1600" dirty="0"/>
          </a:p>
        </p:txBody>
      </p:sp>
    </p:spTree>
    <p:extLst>
      <p:ext uri="{BB962C8B-B14F-4D97-AF65-F5344CB8AC3E}">
        <p14:creationId xmlns:p14="http://schemas.microsoft.com/office/powerpoint/2010/main" val="2536762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6" name="TextBox 5">
            <a:extLst>
              <a:ext uri="{FF2B5EF4-FFF2-40B4-BE49-F238E27FC236}">
                <a16:creationId xmlns:a16="http://schemas.microsoft.com/office/drawing/2014/main" id="{2F5CC15C-9840-3F63-0569-899F3C95BAE8}"/>
              </a:ext>
            </a:extLst>
          </p:cNvPr>
          <p:cNvSpPr txBox="1"/>
          <p:nvPr/>
        </p:nvSpPr>
        <p:spPr>
          <a:xfrm>
            <a:off x="170287" y="196754"/>
            <a:ext cx="783538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strike="noStrike" kern="1200" cap="none" spc="0" normalizeH="0" baseline="0" noProof="0" dirty="0">
                <a:ln>
                  <a:noFill/>
                </a:ln>
                <a:solidFill>
                  <a:prstClr val="black"/>
                </a:solidFill>
                <a:effectLst/>
                <a:uLnTx/>
                <a:uFillTx/>
                <a:latin typeface="Rockwell" panose="02060603020205020403" pitchFamily="18" charset="0"/>
              </a:rPr>
              <a:t>Continuous Variable Insights for Employee Retention Prediction </a:t>
            </a:r>
            <a:r>
              <a:rPr kumimoji="0" lang="en-US" sz="2800" i="0" strike="noStrike" kern="1200" cap="none" spc="0" normalizeH="0" baseline="0" noProof="0" dirty="0">
                <a:ln>
                  <a:noFill/>
                </a:ln>
                <a:solidFill>
                  <a:prstClr val="black"/>
                </a:solidFill>
                <a:effectLst/>
                <a:uLnTx/>
                <a:uFillTx/>
                <a:latin typeface="Rockwell" panose="02060603020205020403" pitchFamily="18" charset="0"/>
              </a:rPr>
              <a:t>Dataset</a:t>
            </a:r>
            <a:endParaRPr kumimoji="0" lang="en-IN" sz="2800" i="0" strike="noStrike" kern="1200" cap="none" spc="0" normalizeH="0" baseline="0" noProof="0" dirty="0">
              <a:ln>
                <a:noFill/>
              </a:ln>
              <a:solidFill>
                <a:prstClr val="black"/>
              </a:solidFill>
              <a:effectLst/>
              <a:uLnTx/>
              <a:uFillTx/>
              <a:latin typeface="Rockwell" panose="02060603020205020403" pitchFamily="18" charset="0"/>
            </a:endParaRPr>
          </a:p>
        </p:txBody>
      </p:sp>
      <p:pic>
        <p:nvPicPr>
          <p:cNvPr id="8" name="Picture 7">
            <a:extLst>
              <a:ext uri="{FF2B5EF4-FFF2-40B4-BE49-F238E27FC236}">
                <a16:creationId xmlns:a16="http://schemas.microsoft.com/office/drawing/2014/main" id="{EB055865-446A-F3DB-1542-4901142E73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0780" y="1469444"/>
            <a:ext cx="6411220" cy="4757655"/>
          </a:xfrm>
          <a:prstGeom prst="rect">
            <a:avLst/>
          </a:prstGeom>
        </p:spPr>
      </p:pic>
      <p:sp>
        <p:nvSpPr>
          <p:cNvPr id="9" name="TextBox 8">
            <a:extLst>
              <a:ext uri="{FF2B5EF4-FFF2-40B4-BE49-F238E27FC236}">
                <a16:creationId xmlns:a16="http://schemas.microsoft.com/office/drawing/2014/main" id="{951F0FEF-9FF5-6EFF-7C9B-D578240C222D}"/>
              </a:ext>
            </a:extLst>
          </p:cNvPr>
          <p:cNvSpPr txBox="1"/>
          <p:nvPr/>
        </p:nvSpPr>
        <p:spPr>
          <a:xfrm>
            <a:off x="93306" y="1371600"/>
            <a:ext cx="5598367" cy="5416868"/>
          </a:xfrm>
          <a:prstGeom prst="rect">
            <a:avLst/>
          </a:prstGeom>
          <a:noFill/>
        </p:spPr>
        <p:txBody>
          <a:bodyPr wrap="square" rtlCol="0">
            <a:spAutoFit/>
          </a:bodyPr>
          <a:lstStyle/>
          <a:p>
            <a:pPr algn="just"/>
            <a:r>
              <a:rPr lang="en-IN" b="1" dirty="0"/>
              <a:t>Experience:</a:t>
            </a:r>
          </a:p>
          <a:p>
            <a:pPr marL="285750" indent="-285750" algn="just">
              <a:buFont typeface="Arial" panose="020B0604020202020204" pitchFamily="34" charset="0"/>
              <a:buChar char="•"/>
            </a:pPr>
            <a:r>
              <a:rPr lang="en-IN" sz="1600" dirty="0"/>
              <a:t>Most employees have less than 10 years of work experience, indicating a workforce predominantly in the early to mid-stage of their careers</a:t>
            </a:r>
          </a:p>
          <a:p>
            <a:pPr algn="just"/>
            <a:r>
              <a:rPr lang="en-IN" b="1" dirty="0"/>
              <a:t>Training Hours:</a:t>
            </a:r>
          </a:p>
          <a:p>
            <a:pPr marL="285750" indent="-285750" algn="just">
              <a:buFont typeface="Arial" panose="020B0604020202020204" pitchFamily="34" charset="0"/>
              <a:buChar char="•"/>
            </a:pPr>
            <a:r>
              <a:rPr lang="en-IN" sz="1600" dirty="0"/>
              <a:t>A large proportion of employees completed fewer than 90 training hours, indicating that most employees receive basic to moderate levels of training</a:t>
            </a:r>
          </a:p>
          <a:p>
            <a:pPr algn="just"/>
            <a:r>
              <a:rPr lang="en-IN" b="1" dirty="0"/>
              <a:t>Company Size:</a:t>
            </a:r>
          </a:p>
          <a:p>
            <a:pPr marL="285750" indent="-285750" algn="just">
              <a:buFont typeface="Arial" panose="020B0604020202020204" pitchFamily="34" charset="0"/>
              <a:buChar char="•"/>
            </a:pPr>
            <a:r>
              <a:rPr lang="en-IN" sz="1600" dirty="0"/>
              <a:t>Most Employees are associated with small to mid-sized companies, with a higher concentration in smaller organizations</a:t>
            </a:r>
          </a:p>
          <a:p>
            <a:pPr algn="just"/>
            <a:r>
              <a:rPr lang="en-IN" b="1" dirty="0"/>
              <a:t>Last New Job:</a:t>
            </a:r>
          </a:p>
          <a:p>
            <a:pPr marL="285750" indent="-285750" algn="just">
              <a:buFont typeface="Arial" panose="020B0604020202020204" pitchFamily="34" charset="0"/>
              <a:buChar char="•"/>
            </a:pPr>
            <a:r>
              <a:rPr lang="en-IN" sz="1600" dirty="0"/>
              <a:t>A majority of employees switched jobs within 1-2 years, indicating relatively short job tenures</a:t>
            </a:r>
          </a:p>
          <a:p>
            <a:r>
              <a:rPr lang="en-IN" b="1" dirty="0"/>
              <a:t>City Development Index:</a:t>
            </a:r>
          </a:p>
          <a:p>
            <a:pPr marL="285750" indent="-285750" algn="just">
              <a:buFont typeface="Arial" panose="020B0604020202020204" pitchFamily="34" charset="0"/>
              <a:buChar char="•"/>
            </a:pPr>
            <a:r>
              <a:rPr lang="en-IN" sz="1600" dirty="0"/>
              <a:t>The city Development index distribution is concentrated towards higher values, reflecting that most employees are located in well-developed urban areas with better infrastructure and economic conditions, which may influence retention patterns</a:t>
            </a:r>
            <a:endParaRPr lang="kn-IN" sz="1600" dirty="0"/>
          </a:p>
        </p:txBody>
      </p:sp>
    </p:spTree>
    <p:extLst>
      <p:ext uri="{BB962C8B-B14F-4D97-AF65-F5344CB8AC3E}">
        <p14:creationId xmlns:p14="http://schemas.microsoft.com/office/powerpoint/2010/main" val="25405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E30B5B-041B-BE7E-6868-0352D5CB0FCD}"/>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ight Triangle 43">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close up of a device&#10;&#10;Description automatically generated">
            <a:extLst>
              <a:ext uri="{FF2B5EF4-FFF2-40B4-BE49-F238E27FC236}">
                <a16:creationId xmlns:a16="http://schemas.microsoft.com/office/drawing/2014/main" id="{4DFF82D2-7BFF-8208-4C33-F3F5CEC4BB09}"/>
              </a:ext>
            </a:extLst>
          </p:cNvPr>
          <p:cNvPicPr>
            <a:picLocks noChangeAspect="1"/>
          </p:cNvPicPr>
          <p:nvPr/>
        </p:nvPicPr>
        <p:blipFill rotWithShape="1">
          <a:blip r:embed="rId2">
            <a:extLst>
              <a:ext uri="{28A0092B-C50C-407E-A947-70E740481C1C}">
                <a14:useLocalDpi xmlns:a14="http://schemas.microsoft.com/office/drawing/2010/main" val="0"/>
              </a:ext>
            </a:extLst>
          </a:blip>
          <a:srcRect l="28821" r="28864"/>
          <a:stretch/>
        </p:blipFill>
        <p:spPr>
          <a:xfrm>
            <a:off x="7624785" y="0"/>
            <a:ext cx="456721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5" name="Rectangle 44">
            <a:extLst>
              <a:ext uri="{FF2B5EF4-FFF2-40B4-BE49-F238E27FC236}">
                <a16:creationId xmlns:a16="http://schemas.microsoft.com/office/drawing/2014/main" id="{086A5A31-B10A-4793-84D4-D785959AE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201" y="623275"/>
            <a:ext cx="5141626"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FD63D55-FEFD-1454-0A3B-9C645912BBB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17" name="TextBox 16">
            <a:extLst>
              <a:ext uri="{FF2B5EF4-FFF2-40B4-BE49-F238E27FC236}">
                <a16:creationId xmlns:a16="http://schemas.microsoft.com/office/drawing/2014/main" id="{F4DB03D0-378E-8780-D813-E88218E2E5D8}"/>
              </a:ext>
            </a:extLst>
          </p:cNvPr>
          <p:cNvSpPr txBox="1"/>
          <p:nvPr/>
        </p:nvSpPr>
        <p:spPr>
          <a:xfrm>
            <a:off x="149290" y="102637"/>
            <a:ext cx="6023226" cy="1203649"/>
          </a:xfrm>
          <a:prstGeom prst="rect">
            <a:avLst/>
          </a:prstGeom>
        </p:spPr>
        <p:txBody>
          <a:bodyPr vert="horz" lIns="91440" tIns="45720" rIns="91440" bIns="45720" rtlCol="0" anchor="ctr">
            <a:noAutofit/>
          </a:bodyPr>
          <a:lstStyle/>
          <a:p>
            <a:pPr marL="0" marR="0" lvl="0" indent="0" algn="ctr" fontAlgn="auto">
              <a:lnSpc>
                <a:spcPct val="90000"/>
              </a:lnSpc>
              <a:spcBef>
                <a:spcPct val="0"/>
              </a:spcBef>
              <a:spcAft>
                <a:spcPts val="600"/>
              </a:spcAft>
              <a:buClrTx/>
              <a:buSzTx/>
              <a:tabLst/>
              <a:defRPr/>
            </a:pPr>
            <a:r>
              <a:rPr kumimoji="0" lang="en-US" sz="2800" i="0" strike="noStrike" cap="none" spc="0" normalizeH="0" baseline="0" noProof="0" dirty="0">
                <a:ln>
                  <a:noFill/>
                </a:ln>
                <a:effectLst/>
                <a:uLnTx/>
                <a:uFillTx/>
                <a:latin typeface="Rockwell" panose="02060603020205020403" pitchFamily="18" charset="0"/>
                <a:ea typeface="+mj-ea"/>
                <a:cs typeface="+mj-cs"/>
              </a:rPr>
              <a:t>Correlation Insights </a:t>
            </a:r>
            <a:r>
              <a:rPr lang="en-US" sz="2800" dirty="0">
                <a:latin typeface="Rockwell" panose="02060603020205020403" pitchFamily="18" charset="0"/>
                <a:ea typeface="+mj-ea"/>
                <a:cs typeface="+mj-cs"/>
              </a:rPr>
              <a:t>for Employee Retention Prediction Dataset</a:t>
            </a:r>
            <a:endParaRPr kumimoji="0" lang="en-US" sz="2800" i="0" strike="noStrike" cap="none" spc="0" normalizeH="0" baseline="0" noProof="0" dirty="0">
              <a:ln>
                <a:noFill/>
              </a:ln>
              <a:effectLst/>
              <a:uLnTx/>
              <a:uFillTx/>
              <a:latin typeface="Rockwell" panose="02060603020205020403" pitchFamily="18" charset="0"/>
              <a:ea typeface="+mj-ea"/>
              <a:cs typeface="+mj-cs"/>
            </a:endParaRPr>
          </a:p>
        </p:txBody>
      </p:sp>
      <p:pic>
        <p:nvPicPr>
          <p:cNvPr id="4" name="Picture 3">
            <a:extLst>
              <a:ext uri="{FF2B5EF4-FFF2-40B4-BE49-F238E27FC236}">
                <a16:creationId xmlns:a16="http://schemas.microsoft.com/office/drawing/2014/main" id="{5011406D-1902-5DAD-6105-5B01EF1F72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4867" y="634479"/>
            <a:ext cx="5141627" cy="5600246"/>
          </a:xfrm>
          <a:prstGeom prst="rect">
            <a:avLst/>
          </a:prstGeom>
        </p:spPr>
      </p:pic>
      <p:sp>
        <p:nvSpPr>
          <p:cNvPr id="2" name="TextBox 1">
            <a:extLst>
              <a:ext uri="{FF2B5EF4-FFF2-40B4-BE49-F238E27FC236}">
                <a16:creationId xmlns:a16="http://schemas.microsoft.com/office/drawing/2014/main" id="{B1A4BE50-08CD-9ABC-388F-6D4DF455CA36}"/>
              </a:ext>
            </a:extLst>
          </p:cNvPr>
          <p:cNvSpPr txBox="1"/>
          <p:nvPr/>
        </p:nvSpPr>
        <p:spPr>
          <a:xfrm>
            <a:off x="256870" y="1054359"/>
            <a:ext cx="6023226" cy="5478423"/>
          </a:xfrm>
          <a:prstGeom prst="rect">
            <a:avLst/>
          </a:prstGeom>
          <a:noFill/>
        </p:spPr>
        <p:txBody>
          <a:bodyPr wrap="square" rtlCol="0">
            <a:spAutoFit/>
          </a:bodyPr>
          <a:lstStyle/>
          <a:p>
            <a:pPr algn="just"/>
            <a:r>
              <a:rPr lang="en-IN" b="1" dirty="0"/>
              <a:t>Experience VS Last New Job – Correlation: 0.48</a:t>
            </a:r>
          </a:p>
          <a:p>
            <a:pPr marL="285750" indent="-285750" algn="just">
              <a:buFont typeface="Arial" panose="020B0604020202020204" pitchFamily="34" charset="0"/>
              <a:buChar char="•"/>
            </a:pPr>
            <a:r>
              <a:rPr lang="en-IN" sz="1600" dirty="0"/>
              <a:t> Moderate positive correlation</a:t>
            </a:r>
          </a:p>
          <a:p>
            <a:pPr marL="285750" indent="-285750" algn="just">
              <a:buFont typeface="Arial" panose="020B0604020202020204" pitchFamily="34" charset="0"/>
              <a:buChar char="•"/>
            </a:pPr>
            <a:r>
              <a:rPr lang="en-IN" sz="1600" dirty="0"/>
              <a:t>This shows more experienced employees tend to switch jobs less frequently</a:t>
            </a:r>
          </a:p>
          <a:p>
            <a:pPr marL="285750" indent="-285750" algn="just">
              <a:buFont typeface="Arial" panose="020B0604020202020204" pitchFamily="34" charset="0"/>
              <a:buChar char="•"/>
            </a:pPr>
            <a:endParaRPr lang="en-IN" sz="1600" dirty="0"/>
          </a:p>
          <a:p>
            <a:pPr algn="just"/>
            <a:r>
              <a:rPr lang="en-IN" b="1" dirty="0"/>
              <a:t>Experience VS Company Size – Correlation: 0.08</a:t>
            </a:r>
          </a:p>
          <a:p>
            <a:pPr marL="285750" indent="-285750" algn="just">
              <a:buFont typeface="Arial" panose="020B0604020202020204" pitchFamily="34" charset="0"/>
              <a:buChar char="•"/>
            </a:pPr>
            <a:r>
              <a:rPr lang="en-IN" sz="1600" dirty="0"/>
              <a:t>Weak positive correlation </a:t>
            </a:r>
          </a:p>
          <a:p>
            <a:pPr marL="285750" indent="-285750" algn="just">
              <a:buFont typeface="Arial" panose="020B0604020202020204" pitchFamily="34" charset="0"/>
              <a:buChar char="•"/>
            </a:pPr>
            <a:r>
              <a:rPr lang="en-IN" sz="1600" dirty="0"/>
              <a:t>Company size is almost independent of employees experience</a:t>
            </a:r>
          </a:p>
          <a:p>
            <a:pPr algn="just"/>
            <a:endParaRPr lang="en-IN" b="1" dirty="0"/>
          </a:p>
          <a:p>
            <a:pPr algn="just"/>
            <a:r>
              <a:rPr lang="en-IN" b="1" dirty="0"/>
              <a:t>Company size vs Last New Job – Correlation: 0.07</a:t>
            </a:r>
          </a:p>
          <a:p>
            <a:pPr marL="285750" indent="-285750" algn="just">
              <a:buFont typeface="Arial" panose="020B0604020202020204" pitchFamily="34" charset="0"/>
              <a:buChar char="•"/>
            </a:pPr>
            <a:r>
              <a:rPr lang="en-IN" sz="1600" dirty="0"/>
              <a:t>Weak correlation</a:t>
            </a:r>
          </a:p>
          <a:p>
            <a:pPr marL="285750" indent="-285750" algn="just">
              <a:buFont typeface="Arial" panose="020B0604020202020204" pitchFamily="34" charset="0"/>
              <a:buChar char="•"/>
            </a:pPr>
            <a:r>
              <a:rPr lang="en-IN" sz="1600" dirty="0"/>
              <a:t>Job-switching </a:t>
            </a:r>
            <a:r>
              <a:rPr lang="en-IN" sz="1600" dirty="0" err="1"/>
              <a:t>behavior</a:t>
            </a:r>
            <a:r>
              <a:rPr lang="en-IN" sz="1600" dirty="0"/>
              <a:t> is not strongly influenced by company size</a:t>
            </a:r>
          </a:p>
          <a:p>
            <a:pPr algn="just"/>
            <a:endParaRPr lang="en-IN" b="1" dirty="0"/>
          </a:p>
          <a:p>
            <a:pPr algn="just"/>
            <a:r>
              <a:rPr lang="en-IN" b="1" dirty="0"/>
              <a:t>Training Hours vs Experience – Correlation: 0.00</a:t>
            </a:r>
          </a:p>
          <a:p>
            <a:pPr marL="285750" indent="-285750" algn="just">
              <a:buFont typeface="Arial" panose="020B0604020202020204" pitchFamily="34" charset="0"/>
              <a:buChar char="•"/>
            </a:pPr>
            <a:r>
              <a:rPr lang="en-IN" sz="1600" dirty="0"/>
              <a:t>No correlation/Extremely weak</a:t>
            </a:r>
          </a:p>
          <a:p>
            <a:pPr marL="285750" indent="-285750" algn="just">
              <a:buFont typeface="Arial" panose="020B0604020202020204" pitchFamily="34" charset="0"/>
              <a:buChar char="•"/>
            </a:pPr>
            <a:r>
              <a:rPr lang="en-IN" sz="1600" dirty="0"/>
              <a:t>Experience level does not influence training hours</a:t>
            </a:r>
          </a:p>
          <a:p>
            <a:pPr algn="just"/>
            <a:endParaRPr lang="en-IN" b="1" dirty="0"/>
          </a:p>
          <a:p>
            <a:pPr algn="just"/>
            <a:r>
              <a:rPr lang="en-IN" b="1" dirty="0"/>
              <a:t>Training Hours vs Company size – Correlation: -0.01</a:t>
            </a:r>
          </a:p>
          <a:p>
            <a:pPr marL="285750" indent="-285750" algn="just">
              <a:buFont typeface="Arial" panose="020B0604020202020204" pitchFamily="34" charset="0"/>
              <a:buChar char="•"/>
            </a:pPr>
            <a:r>
              <a:rPr lang="en-IN" sz="1400" dirty="0"/>
              <a:t>Negligible negative correlation</a:t>
            </a:r>
          </a:p>
          <a:p>
            <a:pPr marL="285750" indent="-285750" algn="just">
              <a:buFont typeface="Arial" panose="020B0604020202020204" pitchFamily="34" charset="0"/>
              <a:buChar char="•"/>
            </a:pPr>
            <a:r>
              <a:rPr lang="en-IN" sz="1400" dirty="0"/>
              <a:t>Company size have no impact on training hours</a:t>
            </a:r>
          </a:p>
          <a:p>
            <a:pPr marL="285750" indent="-285750">
              <a:buFont typeface="Arial" panose="020B0604020202020204" pitchFamily="34" charset="0"/>
              <a:buChar char="•"/>
            </a:pPr>
            <a:endParaRPr lang="kn-IN" dirty="0"/>
          </a:p>
        </p:txBody>
      </p:sp>
    </p:spTree>
    <p:extLst>
      <p:ext uri="{BB962C8B-B14F-4D97-AF65-F5344CB8AC3E}">
        <p14:creationId xmlns:p14="http://schemas.microsoft.com/office/powerpoint/2010/main" val="109571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1C5D34-B163-13E4-421D-8024F90682B9}"/>
            </a:ext>
          </a:extLst>
        </p:cNvPr>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close up of a device&#10;&#10;Description automatically generated">
            <a:extLst>
              <a:ext uri="{FF2B5EF4-FFF2-40B4-BE49-F238E27FC236}">
                <a16:creationId xmlns:a16="http://schemas.microsoft.com/office/drawing/2014/main" id="{DDF287BC-A368-474A-A48F-F2385C28A46E}"/>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288507" y="-314810"/>
            <a:ext cx="13914922" cy="7172810"/>
          </a:xfrm>
          <a:prstGeom prst="rect">
            <a:avLst/>
          </a:prstGeom>
        </p:spPr>
      </p:pic>
      <p:sp>
        <p:nvSpPr>
          <p:cNvPr id="2" name="TextBox 1">
            <a:extLst>
              <a:ext uri="{FF2B5EF4-FFF2-40B4-BE49-F238E27FC236}">
                <a16:creationId xmlns:a16="http://schemas.microsoft.com/office/drawing/2014/main" id="{BEF4921E-4AEE-B94D-49CA-E2593B29383A}"/>
              </a:ext>
            </a:extLst>
          </p:cNvPr>
          <p:cNvSpPr txBox="1"/>
          <p:nvPr/>
        </p:nvSpPr>
        <p:spPr>
          <a:xfrm>
            <a:off x="210207" y="147146"/>
            <a:ext cx="10113664" cy="646331"/>
          </a:xfrm>
          <a:prstGeom prst="rect">
            <a:avLst/>
          </a:prstGeom>
          <a:noFill/>
        </p:spPr>
        <p:txBody>
          <a:bodyPr wrap="square" rtlCol="0">
            <a:spAutoFit/>
          </a:bodyPr>
          <a:lstStyle/>
          <a:p>
            <a:r>
              <a:rPr lang="en-IN" sz="3600" dirty="0">
                <a:latin typeface="Rockwell" panose="02060603020205020403" pitchFamily="18" charset="0"/>
              </a:rPr>
              <a:t>Continuous Features vs Target</a:t>
            </a:r>
            <a:endParaRPr lang="kn-IN" sz="3600" dirty="0">
              <a:latin typeface="Rockwell" panose="02060603020205020403" pitchFamily="18" charset="0"/>
            </a:endParaRPr>
          </a:p>
        </p:txBody>
      </p:sp>
      <p:pic>
        <p:nvPicPr>
          <p:cNvPr id="6" name="Picture 5">
            <a:extLst>
              <a:ext uri="{FF2B5EF4-FFF2-40B4-BE49-F238E27FC236}">
                <a16:creationId xmlns:a16="http://schemas.microsoft.com/office/drawing/2014/main" id="{B780819F-6E30-8E91-B418-053DB9125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77" y="793477"/>
            <a:ext cx="13090847" cy="3937143"/>
          </a:xfrm>
          <a:prstGeom prst="rect">
            <a:avLst/>
          </a:prstGeom>
        </p:spPr>
      </p:pic>
      <p:pic>
        <p:nvPicPr>
          <p:cNvPr id="7" name="Picture 6">
            <a:extLst>
              <a:ext uri="{FF2B5EF4-FFF2-40B4-BE49-F238E27FC236}">
                <a16:creationId xmlns:a16="http://schemas.microsoft.com/office/drawing/2014/main" id="{F735819A-1769-1124-79A3-9D23648EB8F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763220" y="6213125"/>
            <a:ext cx="1785976" cy="462949"/>
          </a:xfrm>
          <a:prstGeom prst="rect">
            <a:avLst/>
          </a:prstGeom>
        </p:spPr>
      </p:pic>
      <p:sp>
        <p:nvSpPr>
          <p:cNvPr id="4" name="TextBox 3">
            <a:extLst>
              <a:ext uri="{FF2B5EF4-FFF2-40B4-BE49-F238E27FC236}">
                <a16:creationId xmlns:a16="http://schemas.microsoft.com/office/drawing/2014/main" id="{7C39A24A-2AD4-3401-085D-793C870FF848}"/>
              </a:ext>
            </a:extLst>
          </p:cNvPr>
          <p:cNvSpPr txBox="1"/>
          <p:nvPr/>
        </p:nvSpPr>
        <p:spPr>
          <a:xfrm>
            <a:off x="0" y="4842588"/>
            <a:ext cx="11495314" cy="1815882"/>
          </a:xfrm>
          <a:prstGeom prst="rect">
            <a:avLst/>
          </a:prstGeom>
          <a:noFill/>
        </p:spPr>
        <p:txBody>
          <a:bodyPr wrap="square" rtlCol="0">
            <a:spAutoFit/>
          </a:bodyPr>
          <a:lstStyle/>
          <a:p>
            <a:pPr algn="just"/>
            <a:r>
              <a:rPr lang="en-GB" sz="1600" dirty="0"/>
              <a:t>The density plots comparing continuous features with the target variable indicate that employee retention (Target = 0) dominates across key ranges. For experience, higher experience levels show a stronger concentration of employees who stayed, while lower experience exhibits more overlap, suggesting experience has a meaningful influence on retention. In the last new job plot, the 0–1 year range clearly shows a higher density for Target = 0, indicating that employees who changed jobs recently are more likely to stay rather than leave. Similarly, in the company size plot, the 0–2000 company size range shows a stronger blue peak, confirming higher retention even in smaller organizations. Although overlap exists between classes in all three plots, the dominance of Target = 0 in these key ranges suggests these features have a moderate but informative influence on employee retention.</a:t>
            </a:r>
            <a:endParaRPr lang="kn-IN" sz="1600" dirty="0"/>
          </a:p>
        </p:txBody>
      </p:sp>
    </p:spTree>
    <p:extLst>
      <p:ext uri="{BB962C8B-B14F-4D97-AF65-F5344CB8AC3E}">
        <p14:creationId xmlns:p14="http://schemas.microsoft.com/office/powerpoint/2010/main" val="854972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319C82-C0EA-56BF-4058-8F08BADEA890}"/>
            </a:ext>
          </a:extLst>
        </p:cNvPr>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1FFDD2F9-455C-A8C6-4259-3EC795A6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close up of a device&#10;&#10;Description automatically generated">
            <a:extLst>
              <a:ext uri="{FF2B5EF4-FFF2-40B4-BE49-F238E27FC236}">
                <a16:creationId xmlns:a16="http://schemas.microsoft.com/office/drawing/2014/main" id="{D1650E3E-58A9-87CA-6629-F516F12E7461}"/>
              </a:ext>
            </a:extLst>
          </p:cNvPr>
          <p:cNvPicPr>
            <a:picLocks noChangeAspect="1"/>
          </p:cNvPicPr>
          <p:nvPr/>
        </p:nvPicPr>
        <p:blipFill rotWithShape="1">
          <a:blip r:embed="rId2">
            <a:extLst>
              <a:ext uri="{28A0092B-C50C-407E-A947-70E740481C1C}">
                <a14:useLocalDpi xmlns:a14="http://schemas.microsoft.com/office/drawing/2010/main" val="0"/>
              </a:ext>
            </a:extLst>
          </a:blip>
          <a:srcRect l="20688"/>
          <a:stretch/>
        </p:blipFill>
        <p:spPr>
          <a:xfrm>
            <a:off x="0" y="10"/>
            <a:ext cx="9669642" cy="6857990"/>
          </a:xfrm>
          <a:prstGeom prst="rect">
            <a:avLst/>
          </a:prstGeom>
        </p:spPr>
      </p:pic>
      <p:sp>
        <p:nvSpPr>
          <p:cNvPr id="85" name="Rectangle 84">
            <a:extLst>
              <a:ext uri="{FF2B5EF4-FFF2-40B4-BE49-F238E27FC236}">
                <a16:creationId xmlns:a16="http://schemas.microsoft.com/office/drawing/2014/main" id="{B155B316-C7BB-24FD-07A8-AB8A4B1F8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45B15AD0-C727-A208-0BAE-C3601C170123}"/>
              </a:ext>
            </a:extLst>
          </p:cNvPr>
          <p:cNvSpPr txBox="1"/>
          <p:nvPr/>
        </p:nvSpPr>
        <p:spPr>
          <a:xfrm>
            <a:off x="133537" y="247470"/>
            <a:ext cx="7128953" cy="494939"/>
          </a:xfrm>
          <a:prstGeom prst="rect">
            <a:avLst/>
          </a:prstGeom>
        </p:spPr>
        <p:txBody>
          <a:bodyPr vert="horz" lIns="91440" tIns="45720" rIns="91440" bIns="45720" rtlCol="0" anchor="ctr">
            <a:normAutofit/>
          </a:bodyPr>
          <a:lstStyle/>
          <a:p>
            <a:pPr marL="0" marR="0" lvl="0" indent="0" fontAlgn="auto">
              <a:lnSpc>
                <a:spcPct val="90000"/>
              </a:lnSpc>
              <a:spcBef>
                <a:spcPct val="0"/>
              </a:spcBef>
              <a:spcAft>
                <a:spcPts val="600"/>
              </a:spcAft>
              <a:buClrTx/>
              <a:buSzTx/>
              <a:tabLst/>
              <a:defRPr/>
            </a:pPr>
            <a:r>
              <a:rPr lang="en-US" sz="2800" dirty="0">
                <a:latin typeface="Rockwell" panose="02060603020205020403" pitchFamily="18" charset="0"/>
                <a:ea typeface="+mj-ea"/>
                <a:cs typeface="+mj-cs"/>
              </a:rPr>
              <a:t>CATEGORICAL FEATURE vs TARGET</a:t>
            </a:r>
            <a:endParaRPr kumimoji="0" lang="en-US" sz="2800" i="0" strike="noStrike" cap="none" spc="0" normalizeH="0" baseline="0" noProof="0" dirty="0">
              <a:ln>
                <a:noFill/>
              </a:ln>
              <a:effectLst/>
              <a:uLnTx/>
              <a:uFillTx/>
              <a:latin typeface="Rockwell" panose="02060603020205020403" pitchFamily="18" charset="0"/>
              <a:ea typeface="+mj-ea"/>
              <a:cs typeface="+mj-cs"/>
            </a:endParaRPr>
          </a:p>
        </p:txBody>
      </p:sp>
      <p:pic>
        <p:nvPicPr>
          <p:cNvPr id="5" name="Picture 4">
            <a:extLst>
              <a:ext uri="{FF2B5EF4-FFF2-40B4-BE49-F238E27FC236}">
                <a16:creationId xmlns:a16="http://schemas.microsoft.com/office/drawing/2014/main" id="{2723522E-666F-054A-FF0A-A91C043BC47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186669" y="6395051"/>
            <a:ext cx="1785976" cy="462949"/>
          </a:xfrm>
          <a:prstGeom prst="rect">
            <a:avLst/>
          </a:prstGeom>
        </p:spPr>
      </p:pic>
      <p:sp>
        <p:nvSpPr>
          <p:cNvPr id="10" name="Rectangle 1">
            <a:extLst>
              <a:ext uri="{FF2B5EF4-FFF2-40B4-BE49-F238E27FC236}">
                <a16:creationId xmlns:a16="http://schemas.microsoft.com/office/drawing/2014/main" id="{FA059ECC-B2D9-EFF9-F471-4C82F3C62E50}"/>
              </a:ext>
            </a:extLst>
          </p:cNvPr>
          <p:cNvSpPr>
            <a:spLocks noChangeArrowheads="1"/>
          </p:cNvSpPr>
          <p:nvPr/>
        </p:nvSpPr>
        <p:spPr bwMode="auto">
          <a:xfrm>
            <a:off x="0" y="-247469"/>
            <a:ext cx="184731" cy="494939"/>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58700"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DC4C05B-D7FF-B44D-0D65-A09FF4AE7E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077" y="742409"/>
            <a:ext cx="7128952" cy="5652642"/>
          </a:xfrm>
          <a:prstGeom prst="rect">
            <a:avLst/>
          </a:prstGeom>
        </p:spPr>
      </p:pic>
      <p:sp>
        <p:nvSpPr>
          <p:cNvPr id="3" name="TextBox 2">
            <a:extLst>
              <a:ext uri="{FF2B5EF4-FFF2-40B4-BE49-F238E27FC236}">
                <a16:creationId xmlns:a16="http://schemas.microsoft.com/office/drawing/2014/main" id="{C2598860-69A2-5A5C-05AD-91FF3B395057}"/>
              </a:ext>
            </a:extLst>
          </p:cNvPr>
          <p:cNvSpPr txBox="1"/>
          <p:nvPr/>
        </p:nvSpPr>
        <p:spPr>
          <a:xfrm>
            <a:off x="156149" y="673829"/>
            <a:ext cx="4806006" cy="5386090"/>
          </a:xfrm>
          <a:prstGeom prst="rect">
            <a:avLst/>
          </a:prstGeom>
          <a:noFill/>
        </p:spPr>
        <p:txBody>
          <a:bodyPr wrap="square" rtlCol="0">
            <a:spAutoFit/>
          </a:bodyPr>
          <a:lstStyle/>
          <a:p>
            <a:pPr algn="just"/>
            <a:r>
              <a:rPr lang="en-GB" sz="1400" b="1" dirty="0"/>
              <a:t>Gender:</a:t>
            </a:r>
          </a:p>
          <a:p>
            <a:pPr marL="285750" indent="-285750" algn="just">
              <a:buFont typeface="Arial" panose="020B0604020202020204" pitchFamily="34" charset="0"/>
              <a:buChar char="•"/>
            </a:pPr>
            <a:r>
              <a:rPr lang="en-GB" sz="1200" dirty="0"/>
              <a:t>Both male and female employees show higher retention (Target = 0) than attrition.</a:t>
            </a:r>
          </a:p>
          <a:p>
            <a:pPr marL="285750" indent="-285750" algn="just">
              <a:buFont typeface="Arial" panose="020B0604020202020204" pitchFamily="34" charset="0"/>
              <a:buChar char="•"/>
            </a:pPr>
            <a:r>
              <a:rPr lang="en-GB" sz="1200" dirty="0"/>
              <a:t>Retention is around 75–80%, attrition around 20–25%.Gender has minimal impact on employee retention.</a:t>
            </a:r>
          </a:p>
          <a:p>
            <a:pPr algn="just"/>
            <a:r>
              <a:rPr lang="en-GB" sz="1400" b="1" dirty="0"/>
              <a:t>Education Level:</a:t>
            </a:r>
          </a:p>
          <a:p>
            <a:pPr marL="285750" indent="-285750" algn="just">
              <a:buFont typeface="Arial" panose="020B0604020202020204" pitchFamily="34" charset="0"/>
              <a:buChar char="•"/>
            </a:pPr>
            <a:r>
              <a:rPr lang="en-GB" sz="1200" dirty="0"/>
              <a:t>All education levels show retention above 70%. Graduate and PhD categories show slightly higher retention.</a:t>
            </a:r>
          </a:p>
          <a:p>
            <a:pPr marL="285750" indent="-285750" algn="just">
              <a:buFont typeface="Arial" panose="020B0604020202020204" pitchFamily="34" charset="0"/>
              <a:buChar char="•"/>
            </a:pPr>
            <a:r>
              <a:rPr lang="en-GB" sz="1200" dirty="0"/>
              <a:t>Education level has a moderate influence, not a strong driver.</a:t>
            </a:r>
          </a:p>
          <a:p>
            <a:pPr algn="just"/>
            <a:r>
              <a:rPr lang="en-GB" sz="1400" b="1" dirty="0"/>
              <a:t>Major Discipline:</a:t>
            </a:r>
          </a:p>
          <a:p>
            <a:pPr marL="285750" indent="-285750" algn="just">
              <a:buFont typeface="Arial" panose="020B0604020202020204" pitchFamily="34" charset="0"/>
              <a:buChar char="•"/>
            </a:pPr>
            <a:r>
              <a:rPr lang="en-GB" sz="1200" dirty="0"/>
              <a:t>Retention remains consistently high (≈72–78%) across all disciplines. Differences between disciplines are small.</a:t>
            </a:r>
          </a:p>
          <a:p>
            <a:pPr marL="285750" indent="-285750" algn="just">
              <a:buFont typeface="Arial" panose="020B0604020202020204" pitchFamily="34" charset="0"/>
              <a:buChar char="•"/>
            </a:pPr>
            <a:r>
              <a:rPr lang="en-GB" sz="1200" dirty="0"/>
              <a:t>Major discipline alone does not strongly affect attrition</a:t>
            </a:r>
            <a:r>
              <a:rPr lang="en-GB" sz="1400" dirty="0"/>
              <a:t>.</a:t>
            </a:r>
          </a:p>
          <a:p>
            <a:pPr algn="just"/>
            <a:r>
              <a:rPr lang="en-GB" sz="1400" b="1" dirty="0"/>
              <a:t>Relevant Experience:</a:t>
            </a:r>
          </a:p>
          <a:p>
            <a:pPr marL="285750" indent="-285750" algn="just">
              <a:buFont typeface="Arial" panose="020B0604020202020204" pitchFamily="34" charset="0"/>
              <a:buChar char="•"/>
            </a:pPr>
            <a:r>
              <a:rPr lang="en-GB" sz="1200" dirty="0"/>
              <a:t>Employees with relevant experience show higher retention (~78–80%). Employees without relevant experience show slightly higher attrition.</a:t>
            </a:r>
          </a:p>
          <a:p>
            <a:pPr marL="285750" indent="-285750" algn="just">
              <a:buFont typeface="Arial" panose="020B0604020202020204" pitchFamily="34" charset="0"/>
              <a:buChar char="•"/>
            </a:pPr>
            <a:r>
              <a:rPr lang="en-GB" sz="1200" dirty="0"/>
              <a:t>Relevant experience has a noticeable influence.</a:t>
            </a:r>
          </a:p>
          <a:p>
            <a:pPr algn="just"/>
            <a:r>
              <a:rPr lang="en-GB" sz="1400" b="1" dirty="0"/>
              <a:t>Enrolled University:</a:t>
            </a:r>
          </a:p>
          <a:p>
            <a:pPr marL="285750" indent="-285750" algn="just">
              <a:buFont typeface="Arial" panose="020B0604020202020204" pitchFamily="34" charset="0"/>
              <a:buChar char="•"/>
            </a:pPr>
            <a:r>
              <a:rPr lang="en-GB" sz="1200" dirty="0"/>
              <a:t>Retention dominates across full-time, part-time, and not-enrolled categories.</a:t>
            </a:r>
          </a:p>
          <a:p>
            <a:pPr marL="285750" indent="-285750" algn="just">
              <a:buFont typeface="Arial" panose="020B0604020202020204" pitchFamily="34" charset="0"/>
              <a:buChar char="•"/>
            </a:pPr>
            <a:r>
              <a:rPr lang="en-GB" sz="1200" dirty="0"/>
              <a:t>Retention stays around 73–80%. </a:t>
            </a:r>
            <a:r>
              <a:rPr lang="en-GB" sz="1200" dirty="0" err="1"/>
              <a:t>Enrollment</a:t>
            </a:r>
            <a:r>
              <a:rPr lang="en-GB" sz="1200" dirty="0"/>
              <a:t> status has limited influence</a:t>
            </a:r>
            <a:r>
              <a:rPr lang="en-GB" sz="1400" dirty="0"/>
              <a:t>.</a:t>
            </a:r>
          </a:p>
          <a:p>
            <a:pPr algn="just"/>
            <a:r>
              <a:rPr lang="en-GB" sz="1400" b="1" dirty="0"/>
              <a:t>Company Type:</a:t>
            </a:r>
          </a:p>
          <a:p>
            <a:pPr marL="285750" indent="-285750" algn="just">
              <a:buFont typeface="Arial" panose="020B0604020202020204" pitchFamily="34" charset="0"/>
              <a:buChar char="•"/>
            </a:pPr>
            <a:r>
              <a:rPr lang="en-GB" sz="1200" dirty="0"/>
              <a:t>All company types show higher retention than attrition. Retention ranges around 72–85%.</a:t>
            </a:r>
          </a:p>
          <a:p>
            <a:pPr marL="285750" indent="-285750" algn="just">
              <a:buFont typeface="Arial" panose="020B0604020202020204" pitchFamily="34" charset="0"/>
              <a:buChar char="•"/>
            </a:pPr>
            <a:r>
              <a:rPr lang="en-GB" sz="1200" dirty="0"/>
              <a:t>Company type shows weak standalone impact</a:t>
            </a:r>
            <a:r>
              <a:rPr lang="en-GB" sz="1400" dirty="0"/>
              <a:t>.</a:t>
            </a:r>
            <a:endParaRPr lang="kn-IN" sz="1400" dirty="0"/>
          </a:p>
        </p:txBody>
      </p:sp>
    </p:spTree>
    <p:extLst>
      <p:ext uri="{BB962C8B-B14F-4D97-AF65-F5344CB8AC3E}">
        <p14:creationId xmlns:p14="http://schemas.microsoft.com/office/powerpoint/2010/main" val="2269316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0"/>
            <a:ext cx="12225241" cy="6875413"/>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2" name="Picture 1" descr="A hand pointing at a group of people&#10;&#10;Description automatically generated">
            <a:extLst>
              <a:ext uri="{FF2B5EF4-FFF2-40B4-BE49-F238E27FC236}">
                <a16:creationId xmlns:a16="http://schemas.microsoft.com/office/drawing/2014/main" id="{EACA42D4-2654-E006-F872-4BA215323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2204" y="2224716"/>
            <a:ext cx="4026416" cy="2988416"/>
          </a:xfrm>
          <a:prstGeom prst="rect">
            <a:avLst/>
          </a:prstGeom>
        </p:spPr>
      </p:pic>
      <p:sp>
        <p:nvSpPr>
          <p:cNvPr id="3" name="TextBox 2">
            <a:extLst>
              <a:ext uri="{FF2B5EF4-FFF2-40B4-BE49-F238E27FC236}">
                <a16:creationId xmlns:a16="http://schemas.microsoft.com/office/drawing/2014/main" id="{E4D09D70-4603-C5A2-C2F6-7ADC4BB1BA59}"/>
              </a:ext>
            </a:extLst>
          </p:cNvPr>
          <p:cNvSpPr txBox="1"/>
          <p:nvPr/>
        </p:nvSpPr>
        <p:spPr>
          <a:xfrm>
            <a:off x="241738" y="241739"/>
            <a:ext cx="5023945" cy="646331"/>
          </a:xfrm>
          <a:prstGeom prst="rect">
            <a:avLst/>
          </a:prstGeom>
          <a:noFill/>
        </p:spPr>
        <p:txBody>
          <a:bodyPr wrap="square" rtlCol="0">
            <a:spAutoFit/>
          </a:bodyPr>
          <a:lstStyle/>
          <a:p>
            <a:r>
              <a:rPr lang="en-IN" sz="3600" b="1" dirty="0">
                <a:latin typeface="Rockwell" panose="02060603020205020403" pitchFamily="18" charset="0"/>
              </a:rPr>
              <a:t>Preprocessing</a:t>
            </a:r>
            <a:endParaRPr lang="kn-IN" sz="3600" b="1" dirty="0">
              <a:latin typeface="Rockwell" panose="02060603020205020403" pitchFamily="18" charset="0"/>
            </a:endParaRPr>
          </a:p>
        </p:txBody>
      </p:sp>
      <p:sp>
        <p:nvSpPr>
          <p:cNvPr id="8" name="TextBox 7">
            <a:extLst>
              <a:ext uri="{FF2B5EF4-FFF2-40B4-BE49-F238E27FC236}">
                <a16:creationId xmlns:a16="http://schemas.microsoft.com/office/drawing/2014/main" id="{BCE7FA65-031C-32BA-3A42-193E0C2E1EC7}"/>
              </a:ext>
            </a:extLst>
          </p:cNvPr>
          <p:cNvSpPr txBox="1"/>
          <p:nvPr/>
        </p:nvSpPr>
        <p:spPr>
          <a:xfrm>
            <a:off x="157918" y="888070"/>
            <a:ext cx="5686095" cy="6586418"/>
          </a:xfrm>
          <a:prstGeom prst="rect">
            <a:avLst/>
          </a:prstGeom>
          <a:noFill/>
        </p:spPr>
        <p:txBody>
          <a:bodyPr wrap="square" rtlCol="0">
            <a:spAutoFit/>
          </a:bodyPr>
          <a:lstStyle/>
          <a:p>
            <a:pPr algn="just"/>
            <a:r>
              <a:rPr lang="en-IN" b="1" dirty="0"/>
              <a:t>1</a:t>
            </a:r>
            <a:r>
              <a:rPr lang="en-IN" sz="1600" b="1" dirty="0"/>
              <a:t>.</a:t>
            </a:r>
            <a:r>
              <a:rPr lang="en-IN" sz="1600" dirty="0"/>
              <a:t>Handling Missing Values:</a:t>
            </a:r>
          </a:p>
          <a:p>
            <a:pPr algn="just"/>
            <a:r>
              <a:rPr lang="en-IN" sz="1600" dirty="0"/>
              <a:t>All the categorical columns  (gender, </a:t>
            </a:r>
            <a:r>
              <a:rPr lang="en-IN" sz="1600" dirty="0" err="1"/>
              <a:t>enrolled_university</a:t>
            </a:r>
            <a:r>
              <a:rPr lang="en-IN" sz="1600" dirty="0"/>
              <a:t>, education level, major discipline, company type) were filled using the mode (most frequently repeated value)</a:t>
            </a:r>
          </a:p>
          <a:p>
            <a:pPr algn="just"/>
            <a:endParaRPr lang="en-IN" sz="1600" dirty="0"/>
          </a:p>
          <a:p>
            <a:pPr algn="just"/>
            <a:r>
              <a:rPr lang="en-IN" sz="1600" b="1" dirty="0"/>
              <a:t>2.</a:t>
            </a:r>
            <a:r>
              <a:rPr lang="en-IN" sz="1600" dirty="0"/>
              <a:t>Removing </a:t>
            </a:r>
            <a:r>
              <a:rPr lang="en-IN" sz="1600" dirty="0" err="1"/>
              <a:t>irrelavent</a:t>
            </a:r>
            <a:r>
              <a:rPr lang="en-IN" sz="1600" dirty="0"/>
              <a:t> columns: like </a:t>
            </a:r>
            <a:r>
              <a:rPr lang="en-IN" sz="1600" dirty="0" err="1"/>
              <a:t>enrollee_id</a:t>
            </a:r>
            <a:endParaRPr lang="en-IN" sz="1600" dirty="0"/>
          </a:p>
          <a:p>
            <a:pPr algn="just"/>
            <a:endParaRPr lang="en-IN" sz="1600" dirty="0"/>
          </a:p>
          <a:p>
            <a:pPr algn="just"/>
            <a:r>
              <a:rPr lang="en-IN" sz="1600" b="1" dirty="0"/>
              <a:t>3.</a:t>
            </a:r>
            <a:r>
              <a:rPr lang="en-IN" sz="1600" dirty="0"/>
              <a:t>Encoding Categorical columns Using label encoder</a:t>
            </a:r>
          </a:p>
          <a:p>
            <a:pPr algn="just"/>
            <a:endParaRPr lang="en-IN" sz="1600" dirty="0"/>
          </a:p>
          <a:p>
            <a:pPr algn="just"/>
            <a:r>
              <a:rPr lang="en-IN" sz="1600" b="1" dirty="0"/>
              <a:t>4.</a:t>
            </a:r>
            <a:r>
              <a:rPr lang="en-IN" sz="1600" dirty="0"/>
              <a:t>Outlier Handling:</a:t>
            </a:r>
          </a:p>
          <a:p>
            <a:pPr algn="just"/>
            <a:r>
              <a:rPr lang="en-IN" sz="1600" dirty="0"/>
              <a:t>Outliers in numerical columns like </a:t>
            </a:r>
            <a:r>
              <a:rPr lang="en-IN" sz="1600" dirty="0" err="1"/>
              <a:t>Training_hours</a:t>
            </a:r>
            <a:r>
              <a:rPr lang="en-IN" sz="1600" dirty="0"/>
              <a:t> were identified using IQR(Interquartile Range)</a:t>
            </a:r>
          </a:p>
          <a:p>
            <a:pPr algn="just"/>
            <a:endParaRPr lang="en-IN" sz="1600" dirty="0"/>
          </a:p>
          <a:p>
            <a:pPr algn="just"/>
            <a:r>
              <a:rPr lang="en-IN" sz="1600" b="1" dirty="0"/>
              <a:t>5.</a:t>
            </a:r>
            <a:r>
              <a:rPr lang="en-IN" sz="1600" dirty="0"/>
              <a:t>Feature scaling was done using </a:t>
            </a:r>
            <a:r>
              <a:rPr lang="en-IN" sz="1600" dirty="0" err="1"/>
              <a:t>Standardscaler</a:t>
            </a:r>
            <a:r>
              <a:rPr lang="en-IN" sz="1600" dirty="0"/>
              <a:t> to ensure uniform ranges for better model convergence</a:t>
            </a:r>
          </a:p>
          <a:p>
            <a:pPr algn="just"/>
            <a:endParaRPr lang="en-IN" sz="1600" dirty="0"/>
          </a:p>
          <a:p>
            <a:pPr algn="just"/>
            <a:r>
              <a:rPr lang="en-IN" sz="1600" b="1" dirty="0"/>
              <a:t>6.</a:t>
            </a:r>
            <a:r>
              <a:rPr lang="en-IN" sz="1600" dirty="0"/>
              <a:t>Class Imbalance Treatment:</a:t>
            </a:r>
          </a:p>
          <a:p>
            <a:pPr algn="just"/>
            <a:r>
              <a:rPr lang="en-IN" sz="1600" dirty="0"/>
              <a:t>Applied SMOTE(Synthetic Minority Over-sampling Technique) to balance the target variable classes and ensure fair model </a:t>
            </a:r>
            <a:r>
              <a:rPr lang="en-IN" sz="1600" dirty="0" err="1"/>
              <a:t>traning</a:t>
            </a:r>
            <a:endParaRPr lang="en-IN" sz="1600" dirty="0"/>
          </a:p>
          <a:p>
            <a:r>
              <a:rPr lang="en-IN" b="1" dirty="0">
                <a:solidFill>
                  <a:srgbClr val="C00000"/>
                </a:solidFill>
              </a:rPr>
              <a:t>Note</a:t>
            </a:r>
            <a:r>
              <a:rPr lang="en-IN" sz="1600" b="1" dirty="0">
                <a:solidFill>
                  <a:srgbClr val="C00000"/>
                </a:solidFill>
              </a:rPr>
              <a:t> </a:t>
            </a:r>
            <a:r>
              <a:rPr lang="en-IN" sz="1600" dirty="0">
                <a:solidFill>
                  <a:srgbClr val="C00000"/>
                </a:solidFill>
              </a:rPr>
              <a:t>: </a:t>
            </a:r>
          </a:p>
          <a:p>
            <a:pPr marL="285750" indent="-285750">
              <a:buFont typeface="Arial" panose="020B0604020202020204" pitchFamily="34" charset="0"/>
              <a:buChar char="•"/>
            </a:pPr>
            <a:r>
              <a:rPr lang="en-IN" sz="1600" dirty="0">
                <a:solidFill>
                  <a:srgbClr val="C00000"/>
                </a:solidFill>
              </a:rPr>
              <a:t>SMOTE is done after Feature-Target separation and splitting the dataset, but before training the model</a:t>
            </a:r>
          </a:p>
          <a:p>
            <a:pPr marL="285750" indent="-285750">
              <a:buFont typeface="Arial" panose="020B0604020202020204" pitchFamily="34" charset="0"/>
              <a:buChar char="•"/>
            </a:pPr>
            <a:r>
              <a:rPr lang="en-IN" sz="1600" dirty="0">
                <a:solidFill>
                  <a:srgbClr val="C00000"/>
                </a:solidFill>
              </a:rPr>
              <a:t>It is applied only for training dataset but not for validation or testing datasets, as it can lead to data leakage.</a:t>
            </a:r>
          </a:p>
          <a:p>
            <a:endParaRPr lang="en-IN" sz="1600" dirty="0">
              <a:solidFill>
                <a:srgbClr val="C00000"/>
              </a:solidFill>
            </a:endParaRPr>
          </a:p>
          <a:p>
            <a:endParaRPr lang="kn-IN" dirty="0"/>
          </a:p>
        </p:txBody>
      </p:sp>
    </p:spTree>
    <p:extLst>
      <p:ext uri="{BB962C8B-B14F-4D97-AF65-F5344CB8AC3E}">
        <p14:creationId xmlns:p14="http://schemas.microsoft.com/office/powerpoint/2010/main" val="1989185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2509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
        <p:nvSpPr>
          <p:cNvPr id="3" name="TextBox 2">
            <a:extLst>
              <a:ext uri="{FF2B5EF4-FFF2-40B4-BE49-F238E27FC236}">
                <a16:creationId xmlns:a16="http://schemas.microsoft.com/office/drawing/2014/main" id="{1CEA2B29-CB5C-DC70-5A77-16871489F668}"/>
              </a:ext>
            </a:extLst>
          </p:cNvPr>
          <p:cNvSpPr txBox="1"/>
          <p:nvPr/>
        </p:nvSpPr>
        <p:spPr>
          <a:xfrm>
            <a:off x="472363" y="675804"/>
            <a:ext cx="4646645" cy="523220"/>
          </a:xfrm>
          <a:prstGeom prst="rect">
            <a:avLst/>
          </a:prstGeom>
          <a:noFill/>
        </p:spPr>
        <p:txBody>
          <a:bodyPr wrap="square" rtlCol="0">
            <a:spAutoFit/>
          </a:bodyPr>
          <a:lstStyle/>
          <a:p>
            <a:r>
              <a:rPr lang="en-US" sz="2800" dirty="0">
                <a:latin typeface="Rockwell" panose="02060603020205020403" pitchFamily="18" charset="0"/>
              </a:rPr>
              <a:t>TRAIN TEST SPLIT</a:t>
            </a:r>
            <a:endParaRPr lang="en-IN" sz="2800" dirty="0">
              <a:latin typeface="Rockwell" panose="02060603020205020403" pitchFamily="18" charset="0"/>
            </a:endParaRPr>
          </a:p>
        </p:txBody>
      </p:sp>
      <p:sp>
        <p:nvSpPr>
          <p:cNvPr id="6" name="TextBox 5">
            <a:extLst>
              <a:ext uri="{FF2B5EF4-FFF2-40B4-BE49-F238E27FC236}">
                <a16:creationId xmlns:a16="http://schemas.microsoft.com/office/drawing/2014/main" id="{4E00191F-63B8-A092-89E4-D4238B119007}"/>
              </a:ext>
            </a:extLst>
          </p:cNvPr>
          <p:cNvSpPr txBox="1"/>
          <p:nvPr/>
        </p:nvSpPr>
        <p:spPr>
          <a:xfrm>
            <a:off x="285750" y="1402908"/>
            <a:ext cx="6596743" cy="1815882"/>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effectLst/>
                <a:latin typeface="Rockwell" panose="02060603020205020403" pitchFamily="18" charset="0"/>
              </a:rPr>
              <a:t>We divided the data into training (</a:t>
            </a:r>
            <a:r>
              <a:rPr lang="en-US" sz="1600" b="1" i="0" dirty="0">
                <a:effectLst/>
                <a:latin typeface="Rockwell" panose="02060603020205020403" pitchFamily="18" charset="0"/>
              </a:rPr>
              <a:t>80%)</a:t>
            </a:r>
            <a:r>
              <a:rPr lang="en-US" sz="1600" b="0" i="0" dirty="0">
                <a:effectLst/>
                <a:latin typeface="Rockwell" panose="02060603020205020403" pitchFamily="18" charset="0"/>
              </a:rPr>
              <a:t> and </a:t>
            </a:r>
            <a:r>
              <a:rPr lang="en-US" sz="1600" dirty="0">
                <a:latin typeface="Rockwell" panose="02060603020205020403" pitchFamily="18" charset="0"/>
              </a:rPr>
              <a:t>Validation</a:t>
            </a:r>
            <a:r>
              <a:rPr lang="en-US" sz="1600" b="0" i="0" dirty="0">
                <a:effectLst/>
                <a:latin typeface="Rockwell" panose="02060603020205020403" pitchFamily="18" charset="0"/>
              </a:rPr>
              <a:t> (</a:t>
            </a:r>
            <a:r>
              <a:rPr lang="en-US" sz="1600" b="1" i="0" dirty="0">
                <a:effectLst/>
                <a:latin typeface="Rockwell" panose="02060603020205020403" pitchFamily="18" charset="0"/>
              </a:rPr>
              <a:t>20%)</a:t>
            </a:r>
            <a:r>
              <a:rPr lang="en-US" sz="1600" b="0" i="0" dirty="0">
                <a:effectLst/>
                <a:latin typeface="Rockwell" panose="02060603020205020403" pitchFamily="18" charset="0"/>
              </a:rPr>
              <a:t> sets.</a:t>
            </a:r>
          </a:p>
          <a:p>
            <a:pPr marL="285750" indent="-285750">
              <a:buFont typeface="Arial" panose="020B0604020202020204" pitchFamily="34" charset="0"/>
              <a:buChar char="•"/>
            </a:pPr>
            <a:r>
              <a:rPr lang="en-US" sz="1600" dirty="0">
                <a:latin typeface="Rockwell" panose="02060603020205020403" pitchFamily="18" charset="0"/>
              </a:rPr>
              <a:t>As separate, pre-defined test data is provided which is used for final prediction, hence training data is not split into test.</a:t>
            </a:r>
            <a:endParaRPr lang="en-US" sz="1600" b="0" i="0" dirty="0">
              <a:effectLst/>
              <a:latin typeface="Rockwell" panose="02060603020205020403" pitchFamily="18" charset="0"/>
            </a:endParaRPr>
          </a:p>
          <a:p>
            <a:endParaRPr lang="en-US" sz="1600" b="0" i="0" dirty="0">
              <a:effectLst/>
              <a:latin typeface="Rockwell" panose="02060603020205020403" pitchFamily="18" charset="0"/>
            </a:endParaRPr>
          </a:p>
          <a:p>
            <a:pPr marL="285750" indent="-285750">
              <a:buFont typeface="Arial" panose="020B0604020202020204" pitchFamily="34" charset="0"/>
              <a:buChar char="•"/>
            </a:pPr>
            <a:r>
              <a:rPr lang="en-US" sz="1600" b="0" i="0" dirty="0">
                <a:effectLst/>
                <a:latin typeface="Rockwell" panose="02060603020205020403" pitchFamily="18" charset="0"/>
              </a:rPr>
              <a:t>Setting a random state ensures </a:t>
            </a:r>
            <a:r>
              <a:rPr lang="en-US" sz="1600" b="1" i="0" dirty="0">
                <a:effectLst/>
                <a:latin typeface="Rockwell" panose="02060603020205020403" pitchFamily="18" charset="0"/>
              </a:rPr>
              <a:t>consistent</a:t>
            </a:r>
            <a:r>
              <a:rPr lang="en-US" sz="1600" b="0" i="0" dirty="0">
                <a:effectLst/>
                <a:latin typeface="Rockwell" panose="02060603020205020403" pitchFamily="18" charset="0"/>
              </a:rPr>
              <a:t> </a:t>
            </a:r>
            <a:r>
              <a:rPr lang="en-US" sz="1600" b="1" i="0" dirty="0">
                <a:effectLst/>
                <a:latin typeface="Rockwell" panose="02060603020205020403" pitchFamily="18" charset="0"/>
              </a:rPr>
              <a:t>results and</a:t>
            </a:r>
            <a:r>
              <a:rPr lang="en-US" sz="1600" b="0" i="0" dirty="0">
                <a:effectLst/>
                <a:latin typeface="Rockwell" panose="02060603020205020403" pitchFamily="18" charset="0"/>
              </a:rPr>
              <a:t> using stratify=</a:t>
            </a:r>
            <a:r>
              <a:rPr lang="en-US" sz="1600" b="1" i="0" dirty="0">
                <a:effectLst/>
                <a:latin typeface="Rockwell" panose="02060603020205020403" pitchFamily="18" charset="0"/>
              </a:rPr>
              <a:t>y</a:t>
            </a:r>
            <a:r>
              <a:rPr lang="en-US" sz="1600" b="0" i="0" dirty="0">
                <a:effectLst/>
                <a:latin typeface="Rockwell" panose="02060603020205020403" pitchFamily="18" charset="0"/>
              </a:rPr>
              <a:t> maintains a proportional </a:t>
            </a:r>
            <a:r>
              <a:rPr lang="en-US" sz="1600" b="1" i="0" dirty="0">
                <a:effectLst/>
                <a:latin typeface="Rockwell" panose="02060603020205020403" pitchFamily="18" charset="0"/>
              </a:rPr>
              <a:t>distribution</a:t>
            </a:r>
            <a:r>
              <a:rPr lang="en-US" sz="1600" b="0" i="0" dirty="0">
                <a:effectLst/>
                <a:latin typeface="Rockwell" panose="02060603020205020403" pitchFamily="18" charset="0"/>
              </a:rPr>
              <a:t> of the </a:t>
            </a:r>
            <a:r>
              <a:rPr lang="en-US" sz="1600" b="1" i="0" dirty="0">
                <a:effectLst/>
                <a:latin typeface="Rockwell" panose="02060603020205020403" pitchFamily="18" charset="0"/>
              </a:rPr>
              <a:t>target</a:t>
            </a:r>
            <a:r>
              <a:rPr lang="en-US" sz="1600" b="0" i="0" dirty="0">
                <a:effectLst/>
                <a:latin typeface="Rockwell" panose="02060603020205020403" pitchFamily="18" charset="0"/>
              </a:rPr>
              <a:t> </a:t>
            </a:r>
            <a:r>
              <a:rPr lang="en-US" sz="1600" b="1" i="0" dirty="0">
                <a:effectLst/>
                <a:latin typeface="Rockwell" panose="02060603020205020403" pitchFamily="18" charset="0"/>
              </a:rPr>
              <a:t>variable</a:t>
            </a:r>
            <a:r>
              <a:rPr lang="en-US" sz="1600" b="0" i="0" dirty="0">
                <a:effectLst/>
                <a:latin typeface="Rockwell" panose="02060603020205020403" pitchFamily="18" charset="0"/>
              </a:rPr>
              <a:t> in both sets.</a:t>
            </a:r>
            <a:endParaRPr lang="en-IN" sz="1600" dirty="0">
              <a:latin typeface="Rockwell" panose="02060603020205020403" pitchFamily="18" charset="0"/>
            </a:endParaRPr>
          </a:p>
        </p:txBody>
      </p:sp>
      <p:sp>
        <p:nvSpPr>
          <p:cNvPr id="2" name="TextBox 1">
            <a:extLst>
              <a:ext uri="{FF2B5EF4-FFF2-40B4-BE49-F238E27FC236}">
                <a16:creationId xmlns:a16="http://schemas.microsoft.com/office/drawing/2014/main" id="{3F732A14-69C6-71DE-FA9D-1CB38EA3B64B}"/>
              </a:ext>
            </a:extLst>
          </p:cNvPr>
          <p:cNvSpPr txBox="1"/>
          <p:nvPr/>
        </p:nvSpPr>
        <p:spPr>
          <a:xfrm>
            <a:off x="370308" y="4070316"/>
            <a:ext cx="5868956" cy="1323439"/>
          </a:xfrm>
          <a:prstGeom prst="rect">
            <a:avLst/>
          </a:prstGeom>
          <a:noFill/>
        </p:spPr>
        <p:txBody>
          <a:bodyPr wrap="square" rtlCol="0">
            <a:spAutoFit/>
          </a:bodyPr>
          <a:lstStyle/>
          <a:p>
            <a:pPr marL="285750" indent="-285750">
              <a:buFont typeface="Arial" panose="020B0604020202020204" pitchFamily="34" charset="0"/>
              <a:buChar char="•"/>
            </a:pPr>
            <a:r>
              <a:rPr lang="en-US" sz="1600" b="0" i="0" dirty="0">
                <a:effectLst/>
                <a:latin typeface="Rockwell" panose="02060603020205020403" pitchFamily="18" charset="0"/>
              </a:rPr>
              <a:t>We divided the dataset into two parts: X and y.</a:t>
            </a:r>
          </a:p>
          <a:p>
            <a:endParaRPr lang="en-US" sz="1600" b="0" i="0" dirty="0">
              <a:effectLst/>
              <a:latin typeface="Rockwell" panose="02060603020205020403" pitchFamily="18" charset="0"/>
            </a:endParaRPr>
          </a:p>
          <a:p>
            <a:pPr marL="285750" indent="-285750">
              <a:buFont typeface="Arial" panose="020B0604020202020204" pitchFamily="34" charset="0"/>
              <a:buChar char="•"/>
            </a:pPr>
            <a:r>
              <a:rPr lang="en-US" sz="1600" b="0" i="0" dirty="0">
                <a:effectLst/>
                <a:latin typeface="Rockwell" panose="02060603020205020403" pitchFamily="18" charset="0"/>
              </a:rPr>
              <a:t>"</a:t>
            </a:r>
            <a:r>
              <a:rPr lang="en-US" sz="1600" b="1" i="0" dirty="0">
                <a:effectLst/>
                <a:latin typeface="Rockwell" panose="02060603020205020403" pitchFamily="18" charset="0"/>
              </a:rPr>
              <a:t>X</a:t>
            </a:r>
            <a:r>
              <a:rPr lang="en-US" sz="1600" b="0" i="0" dirty="0">
                <a:effectLst/>
                <a:latin typeface="Rockwell" panose="02060603020205020403" pitchFamily="18" charset="0"/>
              </a:rPr>
              <a:t>" typically represents the </a:t>
            </a:r>
            <a:r>
              <a:rPr lang="en-US" sz="1600" b="1" i="0" dirty="0">
                <a:effectLst/>
                <a:latin typeface="Rockwell" panose="02060603020205020403" pitchFamily="18" charset="0"/>
              </a:rPr>
              <a:t>independent</a:t>
            </a:r>
            <a:r>
              <a:rPr lang="en-US" sz="1600" b="0" i="0" dirty="0">
                <a:effectLst/>
                <a:latin typeface="Rockwell" panose="02060603020205020403" pitchFamily="18" charset="0"/>
              </a:rPr>
              <a:t> Variables, and "</a:t>
            </a:r>
            <a:r>
              <a:rPr lang="en-US" sz="1600" b="1" i="0" dirty="0">
                <a:effectLst/>
                <a:latin typeface="Rockwell" panose="02060603020205020403" pitchFamily="18" charset="0"/>
              </a:rPr>
              <a:t>y</a:t>
            </a:r>
            <a:r>
              <a:rPr lang="en-US" sz="1600" b="0" i="0" dirty="0">
                <a:effectLst/>
                <a:latin typeface="Rockwell" panose="02060603020205020403" pitchFamily="18" charset="0"/>
              </a:rPr>
              <a:t>" represents the </a:t>
            </a:r>
            <a:r>
              <a:rPr lang="en-US" sz="1600" b="1" i="0" dirty="0">
                <a:effectLst/>
                <a:latin typeface="Rockwell" panose="02060603020205020403" pitchFamily="18" charset="0"/>
              </a:rPr>
              <a:t>Dependent</a:t>
            </a:r>
            <a:r>
              <a:rPr lang="en-US" sz="1600" b="0" i="0" dirty="0">
                <a:effectLst/>
                <a:latin typeface="Rockwell" panose="02060603020205020403" pitchFamily="18" charset="0"/>
              </a:rPr>
              <a:t> (</a:t>
            </a:r>
            <a:r>
              <a:rPr lang="en-US" sz="1600" b="1" i="0" dirty="0">
                <a:effectLst/>
                <a:latin typeface="Rockwell" panose="02060603020205020403" pitchFamily="18" charset="0"/>
              </a:rPr>
              <a:t>target</a:t>
            </a:r>
            <a:r>
              <a:rPr lang="en-US" sz="1600" b="0" i="0" dirty="0">
                <a:effectLst/>
                <a:latin typeface="Rockwell" panose="02060603020205020403" pitchFamily="18" charset="0"/>
              </a:rPr>
              <a:t> </a:t>
            </a:r>
            <a:r>
              <a:rPr lang="en-US" sz="1600" b="1" i="0" dirty="0">
                <a:effectLst/>
                <a:latin typeface="Rockwell" panose="02060603020205020403" pitchFamily="18" charset="0"/>
              </a:rPr>
              <a:t>variable</a:t>
            </a:r>
            <a:r>
              <a:rPr lang="en-US" sz="1600" b="0" i="0" dirty="0">
                <a:effectLst/>
                <a:latin typeface="Rockwell" panose="02060603020205020403" pitchFamily="18" charset="0"/>
              </a:rPr>
              <a:t>) that we want to predict or understand.</a:t>
            </a:r>
            <a:endParaRPr lang="en-IN" sz="1600" dirty="0">
              <a:latin typeface="Rockwell" panose="02060603020205020403" pitchFamily="18" charset="0"/>
            </a:endParaRPr>
          </a:p>
        </p:txBody>
      </p:sp>
      <p:sp>
        <p:nvSpPr>
          <p:cNvPr id="9" name="TextBox 8">
            <a:extLst>
              <a:ext uri="{FF2B5EF4-FFF2-40B4-BE49-F238E27FC236}">
                <a16:creationId xmlns:a16="http://schemas.microsoft.com/office/drawing/2014/main" id="{D21AB351-E3B3-1E54-48BE-8FC8C80200F0}"/>
              </a:ext>
            </a:extLst>
          </p:cNvPr>
          <p:cNvSpPr txBox="1"/>
          <p:nvPr/>
        </p:nvSpPr>
        <p:spPr>
          <a:xfrm>
            <a:off x="385470" y="3453451"/>
            <a:ext cx="6424125" cy="523220"/>
          </a:xfrm>
          <a:prstGeom prst="rect">
            <a:avLst/>
          </a:prstGeom>
          <a:noFill/>
        </p:spPr>
        <p:txBody>
          <a:bodyPr wrap="square" rtlCol="0">
            <a:spAutoFit/>
          </a:bodyPr>
          <a:lstStyle/>
          <a:p>
            <a:r>
              <a:rPr lang="en-US" sz="2800" dirty="0">
                <a:latin typeface="Rockwell" panose="02060603020205020403" pitchFamily="18" charset="0"/>
              </a:rPr>
              <a:t>SPLITING THE DATA INTO X &amp; Y</a:t>
            </a:r>
            <a:endParaRPr lang="en-IN" sz="2800" dirty="0">
              <a:latin typeface="Rockwell" panose="02060603020205020403" pitchFamily="18" charset="0"/>
            </a:endParaRPr>
          </a:p>
        </p:txBody>
      </p:sp>
    </p:spTree>
    <p:extLst>
      <p:ext uri="{BB962C8B-B14F-4D97-AF65-F5344CB8AC3E}">
        <p14:creationId xmlns:p14="http://schemas.microsoft.com/office/powerpoint/2010/main" val="670927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0688"/>
          <a:stretch/>
        </p:blipFill>
        <p:spPr>
          <a:xfrm>
            <a:off x="2522358" y="10"/>
            <a:ext cx="9669642" cy="6857990"/>
          </a:xfrm>
          <a:prstGeom prst="rect">
            <a:avLst/>
          </a:prstGeom>
        </p:spPr>
      </p:pic>
      <p:sp>
        <p:nvSpPr>
          <p:cNvPr id="36" name="Rectangle 35">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pic>
        <p:nvPicPr>
          <p:cNvPr id="22" name="Picture 21" descr="A hand pointing at a group of people&#10;&#10;Description automatically generated">
            <a:extLst>
              <a:ext uri="{FF2B5EF4-FFF2-40B4-BE49-F238E27FC236}">
                <a16:creationId xmlns:a16="http://schemas.microsoft.com/office/drawing/2014/main" id="{40A84B47-4A6A-0687-0FCB-DD218228D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4166" y="2104244"/>
            <a:ext cx="2602665" cy="2649511"/>
          </a:xfrm>
          <a:prstGeom prst="rect">
            <a:avLst/>
          </a:prstGeom>
        </p:spPr>
      </p:pic>
      <p:sp>
        <p:nvSpPr>
          <p:cNvPr id="2" name="TextBox 1">
            <a:extLst>
              <a:ext uri="{FF2B5EF4-FFF2-40B4-BE49-F238E27FC236}">
                <a16:creationId xmlns:a16="http://schemas.microsoft.com/office/drawing/2014/main" id="{28147D61-E1D8-6DF6-3879-A362DF5B5A83}"/>
              </a:ext>
            </a:extLst>
          </p:cNvPr>
          <p:cNvSpPr txBox="1"/>
          <p:nvPr/>
        </p:nvSpPr>
        <p:spPr>
          <a:xfrm>
            <a:off x="1884784" y="137161"/>
            <a:ext cx="4898570" cy="584775"/>
          </a:xfrm>
          <a:prstGeom prst="rect">
            <a:avLst/>
          </a:prstGeom>
          <a:noFill/>
        </p:spPr>
        <p:txBody>
          <a:bodyPr wrap="square" rtlCol="0">
            <a:spAutoFit/>
          </a:bodyPr>
          <a:lstStyle/>
          <a:p>
            <a:pPr algn="ctr"/>
            <a:r>
              <a:rPr lang="en-IN" sz="3200" b="1" dirty="0">
                <a:latin typeface="Rockwell" panose="02060603020205020403" pitchFamily="18" charset="0"/>
              </a:rPr>
              <a:t>Model Selection</a:t>
            </a:r>
            <a:endParaRPr lang="kn-IN" sz="3200" b="1" dirty="0">
              <a:latin typeface="Rockwell" panose="02060603020205020403" pitchFamily="18" charset="0"/>
            </a:endParaRPr>
          </a:p>
        </p:txBody>
      </p:sp>
      <p:sp>
        <p:nvSpPr>
          <p:cNvPr id="7" name="TextBox 6">
            <a:extLst>
              <a:ext uri="{FF2B5EF4-FFF2-40B4-BE49-F238E27FC236}">
                <a16:creationId xmlns:a16="http://schemas.microsoft.com/office/drawing/2014/main" id="{C8100404-C275-3166-D4AD-894DFFD6BE4C}"/>
              </a:ext>
            </a:extLst>
          </p:cNvPr>
          <p:cNvSpPr txBox="1"/>
          <p:nvPr/>
        </p:nvSpPr>
        <p:spPr>
          <a:xfrm>
            <a:off x="125169" y="594360"/>
            <a:ext cx="8915578" cy="6309420"/>
          </a:xfrm>
          <a:prstGeom prst="rect">
            <a:avLst/>
          </a:prstGeom>
          <a:noFill/>
        </p:spPr>
        <p:txBody>
          <a:bodyPr wrap="square" rtlCol="0">
            <a:spAutoFit/>
          </a:bodyPr>
          <a:lstStyle/>
          <a:p>
            <a:pPr algn="just"/>
            <a:r>
              <a:rPr lang="en-GB" sz="1400" b="1" dirty="0"/>
              <a:t>Logistic Regression:</a:t>
            </a:r>
          </a:p>
          <a:p>
            <a:pPr algn="just"/>
            <a:r>
              <a:rPr lang="en-GB" sz="1200" b="1" dirty="0"/>
              <a:t>Why Used: </a:t>
            </a:r>
            <a:r>
              <a:rPr lang="en-GB" sz="1400" dirty="0"/>
              <a:t>Chosen as a baseline model due to its simplicity and interpretability for binary classification problems like employee retention.</a:t>
            </a:r>
          </a:p>
          <a:p>
            <a:pPr algn="just"/>
            <a:r>
              <a:rPr lang="en-GB" sz="1400" b="1" dirty="0"/>
              <a:t>Strengths:</a:t>
            </a:r>
            <a:r>
              <a:rPr lang="en-GB" sz="1400" dirty="0"/>
              <a:t> Provides clear insight into feature impact, works well with properly encoded categorical variables, and is computationally efficient.</a:t>
            </a:r>
          </a:p>
          <a:p>
            <a:pPr algn="just"/>
            <a:r>
              <a:rPr lang="en-GB" sz="1400" b="1" dirty="0"/>
              <a:t>Outcome: </a:t>
            </a:r>
            <a:r>
              <a:rPr lang="en-GB" sz="1400" dirty="0"/>
              <a:t>Achieved strong performance for the majority class (employees who stay), but showed lower precision for the minority class (employees who leave), indicating limitations in handling class imbalance and non-linear relationships.</a:t>
            </a:r>
          </a:p>
          <a:p>
            <a:pPr algn="just"/>
            <a:endParaRPr lang="en-GB" sz="1400" dirty="0"/>
          </a:p>
          <a:p>
            <a:pPr algn="just"/>
            <a:r>
              <a:rPr lang="en-GB" sz="1400" b="1" dirty="0"/>
              <a:t>Random Forest Classifier:</a:t>
            </a:r>
          </a:p>
          <a:p>
            <a:pPr algn="just"/>
            <a:r>
              <a:rPr lang="en-GB" sz="1400" b="1" dirty="0"/>
              <a:t>Why Used: </a:t>
            </a:r>
            <a:r>
              <a:rPr lang="en-GB" sz="1400" dirty="0"/>
              <a:t>Selected for its ability to capture complex non-linear relationships and handle mixed data types effectively.</a:t>
            </a:r>
          </a:p>
          <a:p>
            <a:pPr algn="just"/>
            <a:r>
              <a:rPr lang="en-GB" sz="1400" b="1" dirty="0"/>
              <a:t>Strengths:</a:t>
            </a:r>
            <a:r>
              <a:rPr lang="en-GB" sz="1400" dirty="0"/>
              <a:t> Reduces overfitting through ensemble learning, handles feature interactions well, and is robust to noise and outliers.</a:t>
            </a:r>
          </a:p>
          <a:p>
            <a:pPr algn="just"/>
            <a:r>
              <a:rPr lang="en-GB" sz="1400" b="1" dirty="0"/>
              <a:t>Outcome: </a:t>
            </a:r>
            <a:r>
              <a:rPr lang="en-GB" sz="1400" dirty="0"/>
              <a:t>Delivered improved recall and F1-score for employee attrition compared to Logistic Regression, making it more effective in identifying employees at risk of leaving.</a:t>
            </a:r>
          </a:p>
          <a:p>
            <a:pPr algn="just"/>
            <a:endParaRPr lang="en-GB" sz="1400" b="1" dirty="0"/>
          </a:p>
          <a:p>
            <a:pPr algn="just"/>
            <a:r>
              <a:rPr lang="en-GB" sz="1400" b="1" dirty="0" err="1"/>
              <a:t>XGBoost</a:t>
            </a:r>
            <a:r>
              <a:rPr lang="en-GB" sz="1400" b="1" dirty="0"/>
              <a:t> Classifier:</a:t>
            </a:r>
          </a:p>
          <a:p>
            <a:pPr algn="just"/>
            <a:r>
              <a:rPr lang="en-GB" sz="1400" b="1" dirty="0"/>
              <a:t>Why Used: </a:t>
            </a:r>
            <a:r>
              <a:rPr lang="en-GB" sz="1400" dirty="0"/>
              <a:t>Applied to improve predictive performance by leveraging gradient boosting and regularization techniques.</a:t>
            </a:r>
          </a:p>
          <a:p>
            <a:pPr algn="just"/>
            <a:r>
              <a:rPr lang="en-GB" sz="1400" b="1" dirty="0"/>
              <a:t>Strengths: </a:t>
            </a:r>
            <a:r>
              <a:rPr lang="en-GB" sz="1400" dirty="0"/>
              <a:t>Handles class imbalance efficiently, captures complex patterns, and provides strong generalization performance.</a:t>
            </a:r>
          </a:p>
          <a:p>
            <a:pPr algn="just"/>
            <a:r>
              <a:rPr lang="en-GB" sz="1400" b="1" dirty="0"/>
              <a:t>Outcome: </a:t>
            </a:r>
            <a:r>
              <a:rPr lang="en-GB" sz="1400" dirty="0"/>
              <a:t>Achieved high ROC-AUC and balanced precision-recall performance, outperforming traditional tree-based models in identifying potential employee attrition.</a:t>
            </a:r>
          </a:p>
          <a:p>
            <a:pPr algn="just"/>
            <a:endParaRPr lang="en-GB" sz="1200" dirty="0"/>
          </a:p>
          <a:p>
            <a:pPr algn="just"/>
            <a:r>
              <a:rPr lang="en-GB" sz="1400" b="1" dirty="0" err="1"/>
              <a:t>LightGBM</a:t>
            </a:r>
            <a:r>
              <a:rPr lang="en-GB" sz="1400" b="1" dirty="0"/>
              <a:t> Classifier:</a:t>
            </a:r>
          </a:p>
          <a:p>
            <a:pPr algn="just"/>
            <a:r>
              <a:rPr lang="en-GB" sz="1400" b="1" dirty="0"/>
              <a:t>Why Used: </a:t>
            </a:r>
            <a:r>
              <a:rPr lang="en-GB" sz="1400" dirty="0"/>
              <a:t>Chosen as the final model due to its efficiency and superior performance on large, structured datasets with categorical and numerical features.</a:t>
            </a:r>
          </a:p>
          <a:p>
            <a:pPr algn="just"/>
            <a:r>
              <a:rPr lang="en-GB" sz="1400" b="1" dirty="0"/>
              <a:t>Strengths:</a:t>
            </a:r>
            <a:r>
              <a:rPr lang="en-GB" sz="1400" dirty="0"/>
              <a:t> Fast training speed, excellent handling of class imbalance, and strong ability to model non-linear feature interactions.</a:t>
            </a:r>
          </a:p>
          <a:p>
            <a:pPr algn="just"/>
            <a:r>
              <a:rPr lang="en-GB" sz="1400" b="1" dirty="0"/>
              <a:t>Outcome: </a:t>
            </a:r>
            <a:r>
              <a:rPr lang="en-GB" sz="1400" dirty="0"/>
              <a:t>Produced the highest ROC-AUC score and the best trade-off between recall and precision for predicting employee attrition, making it the most suitable model for the business objective of retention prediction.</a:t>
            </a:r>
            <a:endParaRPr lang="kn-IN" sz="1400" dirty="0"/>
          </a:p>
        </p:txBody>
      </p:sp>
    </p:spTree>
    <p:extLst>
      <p:ext uri="{BB962C8B-B14F-4D97-AF65-F5344CB8AC3E}">
        <p14:creationId xmlns:p14="http://schemas.microsoft.com/office/powerpoint/2010/main" val="694664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Single Corner Rounded 45">
            <a:extLst>
              <a:ext uri="{FF2B5EF4-FFF2-40B4-BE49-F238E27FC236}">
                <a16:creationId xmlns:a16="http://schemas.microsoft.com/office/drawing/2014/main" id="{A30664B2-8809-B4E3-D215-B8F578B56C7B}"/>
              </a:ext>
            </a:extLst>
          </p:cNvPr>
          <p:cNvSpPr/>
          <p:nvPr/>
        </p:nvSpPr>
        <p:spPr>
          <a:xfrm>
            <a:off x="8337755" y="692880"/>
            <a:ext cx="3742268" cy="1882477"/>
          </a:xfrm>
          <a:prstGeom prst="round1Rect">
            <a:avLst/>
          </a:prstGeom>
          <a:solidFill>
            <a:schemeClr val="bg1">
              <a:lumMod val="85000"/>
            </a:schemeClr>
          </a:solidFill>
          <a:ln w="19050">
            <a:solidFill>
              <a:srgbClr val="8FAADC"/>
            </a:solidFill>
            <a:prstDash val="lgDash"/>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A9EC5AB5-7F39-661B-ED9B-AF061C84CC9A}"/>
              </a:ext>
            </a:extLst>
          </p:cNvPr>
          <p:cNvSpPr txBox="1"/>
          <p:nvPr/>
        </p:nvSpPr>
        <p:spPr>
          <a:xfrm rot="20622025">
            <a:off x="2408948" y="63264"/>
            <a:ext cx="1454782" cy="307777"/>
          </a:xfrm>
          <a:prstGeom prst="rect">
            <a:avLst/>
          </a:prstGeom>
          <a:noFill/>
        </p:spPr>
        <p:txBody>
          <a:bodyPr wrap="square" lIns="91440" tIns="45720" rIns="91440" bIns="45720" rtlCol="0" anchor="t">
            <a:spAutoFit/>
          </a:bodyPr>
          <a:lstStyle/>
          <a:p>
            <a:pPr algn="ctr"/>
            <a:r>
              <a:rPr lang="en-US" sz="1400" dirty="0">
                <a:solidFill>
                  <a:schemeClr val="bg1"/>
                </a:solidFill>
                <a:latin typeface="Futura BdCn BT"/>
              </a:rPr>
              <a:t>Accuracy</a:t>
            </a:r>
            <a:endParaRPr lang="en-US" sz="1400" dirty="0">
              <a:solidFill>
                <a:schemeClr val="bg1"/>
              </a:solidFill>
              <a:latin typeface="Futura BdCn BT" panose="020B0706020204020204" pitchFamily="34" charset="0"/>
            </a:endParaRPr>
          </a:p>
        </p:txBody>
      </p:sp>
      <p:sp>
        <p:nvSpPr>
          <p:cNvPr id="14" name="TextBox 13">
            <a:extLst>
              <a:ext uri="{FF2B5EF4-FFF2-40B4-BE49-F238E27FC236}">
                <a16:creationId xmlns:a16="http://schemas.microsoft.com/office/drawing/2014/main" id="{F8AEE508-49A3-9D7D-FFF2-C02083F7D0E6}"/>
              </a:ext>
            </a:extLst>
          </p:cNvPr>
          <p:cNvSpPr txBox="1"/>
          <p:nvPr/>
        </p:nvSpPr>
        <p:spPr>
          <a:xfrm>
            <a:off x="221189" y="272427"/>
            <a:ext cx="2828390" cy="369332"/>
          </a:xfrm>
          <a:prstGeom prst="rect">
            <a:avLst/>
          </a:prstGeom>
          <a:noFill/>
        </p:spPr>
        <p:txBody>
          <a:bodyPr wrap="square" rtlCol="0">
            <a:spAutoFit/>
          </a:bodyPr>
          <a:lstStyle/>
          <a:p>
            <a:pPr algn="ctr"/>
            <a:r>
              <a:rPr lang="en-IN" b="1" dirty="0">
                <a:solidFill>
                  <a:schemeClr val="accent1">
                    <a:lumMod val="75000"/>
                  </a:schemeClr>
                </a:solidFill>
                <a:latin typeface="Century Gothic" panose="020B0502020202020204" pitchFamily="34" charset="0"/>
              </a:rPr>
              <a:t>Experimental Results :</a:t>
            </a:r>
          </a:p>
        </p:txBody>
      </p:sp>
      <p:sp>
        <p:nvSpPr>
          <p:cNvPr id="28" name="TextBox 27">
            <a:extLst>
              <a:ext uri="{FF2B5EF4-FFF2-40B4-BE49-F238E27FC236}">
                <a16:creationId xmlns:a16="http://schemas.microsoft.com/office/drawing/2014/main" id="{2EB1AD50-F1C5-4D35-A79A-8AB52C829E3B}"/>
              </a:ext>
            </a:extLst>
          </p:cNvPr>
          <p:cNvSpPr txBox="1"/>
          <p:nvPr/>
        </p:nvSpPr>
        <p:spPr>
          <a:xfrm>
            <a:off x="8951870" y="272427"/>
            <a:ext cx="1752641" cy="307777"/>
          </a:xfrm>
          <a:prstGeom prst="rect">
            <a:avLst/>
          </a:prstGeom>
          <a:solidFill>
            <a:schemeClr val="bg1">
              <a:lumMod val="85000"/>
            </a:schemeClr>
          </a:solidFill>
          <a:ln w="28575">
            <a:solidFill>
              <a:schemeClr val="accent1">
                <a:lumMod val="60000"/>
                <a:lumOff val="40000"/>
              </a:schemeClr>
            </a:solidFill>
            <a:prstDash val="dash"/>
            <a:extLst>
              <a:ext uri="{C807C97D-BFC1-408E-A445-0C87EB9F89A2}">
                <ask:lineSketchStyleProps xmlns:ask="http://schemas.microsoft.com/office/drawing/2018/sketchyshapes" sd="1219033472">
                  <a:custGeom>
                    <a:avLst/>
                    <a:gdLst>
                      <a:gd name="connsiteX0" fmla="*/ 0 w 1508948"/>
                      <a:gd name="connsiteY0" fmla="*/ 0 h 323165"/>
                      <a:gd name="connsiteX1" fmla="*/ 533162 w 1508948"/>
                      <a:gd name="connsiteY1" fmla="*/ 0 h 323165"/>
                      <a:gd name="connsiteX2" fmla="*/ 1051234 w 1508948"/>
                      <a:gd name="connsiteY2" fmla="*/ 0 h 323165"/>
                      <a:gd name="connsiteX3" fmla="*/ 1508948 w 1508948"/>
                      <a:gd name="connsiteY3" fmla="*/ 0 h 323165"/>
                      <a:gd name="connsiteX4" fmla="*/ 1508948 w 1508948"/>
                      <a:gd name="connsiteY4" fmla="*/ 323165 h 323165"/>
                      <a:gd name="connsiteX5" fmla="*/ 1036144 w 1508948"/>
                      <a:gd name="connsiteY5" fmla="*/ 323165 h 323165"/>
                      <a:gd name="connsiteX6" fmla="*/ 533162 w 1508948"/>
                      <a:gd name="connsiteY6" fmla="*/ 323165 h 323165"/>
                      <a:gd name="connsiteX7" fmla="*/ 0 w 1508948"/>
                      <a:gd name="connsiteY7" fmla="*/ 323165 h 323165"/>
                      <a:gd name="connsiteX8" fmla="*/ 0 w 1508948"/>
                      <a:gd name="connsiteY8" fmla="*/ 0 h 32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948" h="323165" fill="none" extrusionOk="0">
                        <a:moveTo>
                          <a:pt x="0" y="0"/>
                        </a:moveTo>
                        <a:cubicBezTo>
                          <a:pt x="163708" y="21949"/>
                          <a:pt x="316819" y="1798"/>
                          <a:pt x="533162" y="0"/>
                        </a:cubicBezTo>
                        <a:cubicBezTo>
                          <a:pt x="749505" y="-1798"/>
                          <a:pt x="808834" y="14525"/>
                          <a:pt x="1051234" y="0"/>
                        </a:cubicBezTo>
                        <a:cubicBezTo>
                          <a:pt x="1293634" y="-14525"/>
                          <a:pt x="1291922" y="-22054"/>
                          <a:pt x="1508948" y="0"/>
                        </a:cubicBezTo>
                        <a:cubicBezTo>
                          <a:pt x="1515147" y="135464"/>
                          <a:pt x="1498995" y="197515"/>
                          <a:pt x="1508948" y="323165"/>
                        </a:cubicBezTo>
                        <a:cubicBezTo>
                          <a:pt x="1327579" y="326297"/>
                          <a:pt x="1250993" y="333350"/>
                          <a:pt x="1036144" y="323165"/>
                        </a:cubicBezTo>
                        <a:cubicBezTo>
                          <a:pt x="821295" y="312980"/>
                          <a:pt x="774635" y="313687"/>
                          <a:pt x="533162" y="323165"/>
                        </a:cubicBezTo>
                        <a:cubicBezTo>
                          <a:pt x="291689" y="332643"/>
                          <a:pt x="245310" y="312282"/>
                          <a:pt x="0" y="323165"/>
                        </a:cubicBezTo>
                        <a:cubicBezTo>
                          <a:pt x="-11474" y="256534"/>
                          <a:pt x="-2140" y="77286"/>
                          <a:pt x="0" y="0"/>
                        </a:cubicBezTo>
                        <a:close/>
                      </a:path>
                      <a:path w="1508948" h="323165" stroke="0" extrusionOk="0">
                        <a:moveTo>
                          <a:pt x="0" y="0"/>
                        </a:moveTo>
                        <a:cubicBezTo>
                          <a:pt x="197720" y="-7680"/>
                          <a:pt x="335400" y="-22815"/>
                          <a:pt x="487893" y="0"/>
                        </a:cubicBezTo>
                        <a:cubicBezTo>
                          <a:pt x="640386" y="22815"/>
                          <a:pt x="762981" y="15977"/>
                          <a:pt x="945607" y="0"/>
                        </a:cubicBezTo>
                        <a:cubicBezTo>
                          <a:pt x="1128233" y="-15977"/>
                          <a:pt x="1279789" y="14052"/>
                          <a:pt x="1508948" y="0"/>
                        </a:cubicBezTo>
                        <a:cubicBezTo>
                          <a:pt x="1499738" y="104630"/>
                          <a:pt x="1510569" y="188380"/>
                          <a:pt x="1508948" y="323165"/>
                        </a:cubicBezTo>
                        <a:cubicBezTo>
                          <a:pt x="1375968" y="316727"/>
                          <a:pt x="1198521" y="322809"/>
                          <a:pt x="1036144" y="323165"/>
                        </a:cubicBezTo>
                        <a:cubicBezTo>
                          <a:pt x="873767" y="323521"/>
                          <a:pt x="629731" y="345716"/>
                          <a:pt x="502983" y="323165"/>
                        </a:cubicBezTo>
                        <a:cubicBezTo>
                          <a:pt x="376235" y="300614"/>
                          <a:pt x="244548" y="315036"/>
                          <a:pt x="0" y="323165"/>
                        </a:cubicBezTo>
                        <a:cubicBezTo>
                          <a:pt x="-13108" y="243965"/>
                          <a:pt x="11679" y="148460"/>
                          <a:pt x="0" y="0"/>
                        </a:cubicBezTo>
                        <a:close/>
                      </a:path>
                    </a:pathLst>
                  </a:custGeom>
                  <ask:type>
                    <ask:lineSketchNone/>
                  </ask:type>
                </ask:lineSketchStyleProps>
              </a:ext>
            </a:extLst>
          </a:ln>
          <a:effectLst/>
        </p:spPr>
        <p:txBody>
          <a:bodyPr wrap="square" rtlCol="0">
            <a:spAutoFit/>
          </a:bodyPr>
          <a:lstStyle>
            <a:defPPr>
              <a:defRPr lang="en-US"/>
            </a:defPPr>
            <a:lvl1pPr algn="ctr">
              <a:defRPr sz="1500" b="1">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r>
              <a:rPr lang="en-US" sz="1400" dirty="0">
                <a:solidFill>
                  <a:schemeClr val="accent1">
                    <a:lumMod val="75000"/>
                  </a:schemeClr>
                </a:solidFill>
                <a:latin typeface="Century Gothic" panose="020B0502020202020204" pitchFamily="34" charset="0"/>
              </a:rPr>
              <a:t>Understanding</a:t>
            </a:r>
          </a:p>
        </p:txBody>
      </p:sp>
      <p:sp>
        <p:nvSpPr>
          <p:cNvPr id="43" name="TextBox 42">
            <a:extLst>
              <a:ext uri="{FF2B5EF4-FFF2-40B4-BE49-F238E27FC236}">
                <a16:creationId xmlns:a16="http://schemas.microsoft.com/office/drawing/2014/main" id="{53BC8DA9-C267-8857-248F-F3DA9CAF2417}"/>
              </a:ext>
            </a:extLst>
          </p:cNvPr>
          <p:cNvSpPr txBox="1"/>
          <p:nvPr/>
        </p:nvSpPr>
        <p:spPr>
          <a:xfrm>
            <a:off x="8406581" y="1146411"/>
            <a:ext cx="3696800" cy="430887"/>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Recall: </a:t>
            </a:r>
            <a:r>
              <a:rPr lang="en-US" sz="1100" dirty="0">
                <a:solidFill>
                  <a:schemeClr val="accent1">
                    <a:lumMod val="75000"/>
                  </a:schemeClr>
                </a:solidFill>
                <a:latin typeface="Century Gothic" panose="020B0502020202020204" pitchFamily="34" charset="0"/>
              </a:rPr>
              <a:t>Recall: The ability of a model to find all the relevant cases</a:t>
            </a:r>
          </a:p>
        </p:txBody>
      </p:sp>
      <p:sp>
        <p:nvSpPr>
          <p:cNvPr id="44" name="TextBox 43">
            <a:extLst>
              <a:ext uri="{FF2B5EF4-FFF2-40B4-BE49-F238E27FC236}">
                <a16:creationId xmlns:a16="http://schemas.microsoft.com/office/drawing/2014/main" id="{458EAD4D-CD6C-DD88-7FE9-6B9659F8A6FD}"/>
              </a:ext>
            </a:extLst>
          </p:cNvPr>
          <p:cNvSpPr txBox="1"/>
          <p:nvPr/>
        </p:nvSpPr>
        <p:spPr>
          <a:xfrm>
            <a:off x="8406581" y="782445"/>
            <a:ext cx="3675876" cy="430887"/>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Precision: </a:t>
            </a:r>
            <a:r>
              <a:rPr lang="en-US" sz="1100" dirty="0">
                <a:solidFill>
                  <a:schemeClr val="accent1">
                    <a:lumMod val="75000"/>
                  </a:schemeClr>
                </a:solidFill>
                <a:latin typeface="Century Gothic" panose="020B0502020202020204" pitchFamily="34" charset="0"/>
              </a:rPr>
              <a:t>The accuracy of the model when it claims to have found something.</a:t>
            </a:r>
            <a:endParaRPr lang="en-IN" dirty="0"/>
          </a:p>
        </p:txBody>
      </p:sp>
      <p:sp>
        <p:nvSpPr>
          <p:cNvPr id="45" name="TextBox 44">
            <a:extLst>
              <a:ext uri="{FF2B5EF4-FFF2-40B4-BE49-F238E27FC236}">
                <a16:creationId xmlns:a16="http://schemas.microsoft.com/office/drawing/2014/main" id="{EF52BF4E-A450-7E67-8692-0F7D7F70500B}"/>
              </a:ext>
            </a:extLst>
          </p:cNvPr>
          <p:cNvSpPr txBox="1"/>
          <p:nvPr/>
        </p:nvSpPr>
        <p:spPr>
          <a:xfrm>
            <a:off x="8448429" y="1494503"/>
            <a:ext cx="3675876" cy="600164"/>
          </a:xfrm>
          <a:prstGeom prst="rect">
            <a:avLst/>
          </a:prstGeom>
          <a:noFill/>
        </p:spPr>
        <p:txBody>
          <a:bodyPr wrap="square" rtlCol="0">
            <a:spAutoFit/>
          </a:bodyPr>
          <a:lstStyle/>
          <a:p>
            <a:r>
              <a:rPr lang="en-US" sz="1100" b="1" dirty="0">
                <a:solidFill>
                  <a:schemeClr val="accent1">
                    <a:lumMod val="75000"/>
                  </a:schemeClr>
                </a:solidFill>
                <a:latin typeface="Century Gothic" panose="020B0502020202020204" pitchFamily="34" charset="0"/>
              </a:rPr>
              <a:t>F1 Score: </a:t>
            </a:r>
            <a:r>
              <a:rPr lang="en-US" sz="1100" dirty="0">
                <a:solidFill>
                  <a:schemeClr val="accent1">
                    <a:lumMod val="75000"/>
                  </a:schemeClr>
                </a:solidFill>
                <a:latin typeface="Century Gothic" panose="020B0502020202020204" pitchFamily="34" charset="0"/>
              </a:rPr>
              <a:t>A balance between recall and precision, useful when both false positives and false negatives need to be minimized.</a:t>
            </a:r>
            <a:endParaRPr lang="en-IN" dirty="0"/>
          </a:p>
        </p:txBody>
      </p:sp>
      <p:pic>
        <p:nvPicPr>
          <p:cNvPr id="42" name="Picture 41">
            <a:extLst>
              <a:ext uri="{FF2B5EF4-FFF2-40B4-BE49-F238E27FC236}">
                <a16:creationId xmlns:a16="http://schemas.microsoft.com/office/drawing/2014/main" id="{298881E9-7B48-4330-BBD2-DAC794980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2516" y="244788"/>
            <a:ext cx="424980" cy="424980"/>
          </a:xfrm>
          <a:prstGeom prst="rect">
            <a:avLst/>
          </a:prstGeom>
        </p:spPr>
      </p:pic>
      <p:pic>
        <p:nvPicPr>
          <p:cNvPr id="48" name="Picture 47">
            <a:extLst>
              <a:ext uri="{FF2B5EF4-FFF2-40B4-BE49-F238E27FC236}">
                <a16:creationId xmlns:a16="http://schemas.microsoft.com/office/drawing/2014/main" id="{87F32703-B780-F9C2-0B13-4EF65FFA89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4848" y="244788"/>
            <a:ext cx="424800" cy="424800"/>
          </a:xfrm>
          <a:prstGeom prst="rect">
            <a:avLst/>
          </a:prstGeom>
        </p:spPr>
      </p:pic>
      <p:pic>
        <p:nvPicPr>
          <p:cNvPr id="8" name="Picture 7">
            <a:extLst>
              <a:ext uri="{FF2B5EF4-FFF2-40B4-BE49-F238E27FC236}">
                <a16:creationId xmlns:a16="http://schemas.microsoft.com/office/drawing/2014/main" id="{4EEB048C-9AC3-4E44-685F-66413A3F56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9782" y="265540"/>
            <a:ext cx="3033310" cy="2370146"/>
          </a:xfrm>
          <a:prstGeom prst="rect">
            <a:avLst/>
          </a:prstGeom>
        </p:spPr>
      </p:pic>
      <p:pic>
        <p:nvPicPr>
          <p:cNvPr id="29" name="Picture 28">
            <a:extLst>
              <a:ext uri="{FF2B5EF4-FFF2-40B4-BE49-F238E27FC236}">
                <a16:creationId xmlns:a16="http://schemas.microsoft.com/office/drawing/2014/main" id="{0BE51766-9CD9-E63B-9079-DF72FD8B05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92859" y="2730124"/>
            <a:ext cx="4626217" cy="3469208"/>
          </a:xfrm>
          <a:prstGeom prst="rect">
            <a:avLst/>
          </a:prstGeom>
        </p:spPr>
      </p:pic>
      <p:pic>
        <p:nvPicPr>
          <p:cNvPr id="35" name="Picture 34">
            <a:extLst>
              <a:ext uri="{FF2B5EF4-FFF2-40B4-BE49-F238E27FC236}">
                <a16:creationId xmlns:a16="http://schemas.microsoft.com/office/drawing/2014/main" id="{0083C2AB-4673-592B-334F-7C5AAEDD895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294047" y="6354098"/>
            <a:ext cx="1785976" cy="462949"/>
          </a:xfrm>
          <a:prstGeom prst="rect">
            <a:avLst/>
          </a:prstGeom>
        </p:spPr>
      </p:pic>
      <p:sp>
        <p:nvSpPr>
          <p:cNvPr id="40" name="TextBox 39">
            <a:extLst>
              <a:ext uri="{FF2B5EF4-FFF2-40B4-BE49-F238E27FC236}">
                <a16:creationId xmlns:a16="http://schemas.microsoft.com/office/drawing/2014/main" id="{EB7BA1A6-C001-C3A5-31FC-BE3267014249}"/>
              </a:ext>
            </a:extLst>
          </p:cNvPr>
          <p:cNvSpPr txBox="1"/>
          <p:nvPr/>
        </p:nvSpPr>
        <p:spPr>
          <a:xfrm>
            <a:off x="329322" y="782445"/>
            <a:ext cx="4975123" cy="3539430"/>
          </a:xfrm>
          <a:prstGeom prst="rect">
            <a:avLst/>
          </a:prstGeom>
          <a:noFill/>
        </p:spPr>
        <p:txBody>
          <a:bodyPr wrap="square" rtlCol="0">
            <a:spAutoFit/>
          </a:bodyPr>
          <a:lstStyle/>
          <a:p>
            <a:pPr algn="just"/>
            <a:r>
              <a:rPr lang="en-GB" b="1" dirty="0" err="1"/>
              <a:t>LightGBM</a:t>
            </a:r>
            <a:r>
              <a:rPr lang="en-GB" b="1" dirty="0"/>
              <a:t>:</a:t>
            </a:r>
          </a:p>
          <a:p>
            <a:pPr marL="285750" indent="-285750" algn="just">
              <a:buFont typeface="Arial" panose="020B0604020202020204" pitchFamily="34" charset="0"/>
              <a:buChar char="•"/>
            </a:pPr>
            <a:r>
              <a:rPr lang="en-GB" sz="1600" b="1" dirty="0"/>
              <a:t>Target 0 (Stay): </a:t>
            </a:r>
            <a:r>
              <a:rPr lang="en-GB" sz="1600" dirty="0"/>
              <a:t>Precision = 85%, Recall = 85%, F1-score = 85%→ The model consistently and accurately identifies employees who are likely to stay. </a:t>
            </a:r>
          </a:p>
          <a:p>
            <a:pPr marL="285750" indent="-285750" algn="just">
              <a:buFont typeface="Arial" panose="020B0604020202020204" pitchFamily="34" charset="0"/>
              <a:buChar char="•"/>
            </a:pPr>
            <a:r>
              <a:rPr lang="en-GB" sz="1600" b="1" dirty="0"/>
              <a:t>Target 1 (Leave): </a:t>
            </a:r>
            <a:r>
              <a:rPr lang="en-GB" sz="1600" dirty="0"/>
              <a:t>Precision = 54%, Recall = 55%, F1-score = 55%→ The model captures more than half of the employees who leave, indicating meaningful learning of attrition patterns.</a:t>
            </a:r>
          </a:p>
          <a:p>
            <a:pPr marL="285750" indent="-285750" algn="just">
              <a:buFont typeface="Arial" panose="020B0604020202020204" pitchFamily="34" charset="0"/>
              <a:buChar char="•"/>
            </a:pPr>
            <a:r>
              <a:rPr lang="en-GB" sz="1600" b="1" dirty="0"/>
              <a:t>Overall Insight: </a:t>
            </a:r>
            <a:r>
              <a:rPr lang="en-GB" sz="1600" dirty="0" err="1"/>
              <a:t>LightGBM</a:t>
            </a:r>
            <a:r>
              <a:rPr lang="en-GB" sz="1600" dirty="0"/>
              <a:t> achieves the highest ROC–AUC score (79%), showing the strongest ability to distinguish between employees who stay and those who leave. Its stable performance across both classes makes it the most reliable mode</a:t>
            </a:r>
          </a:p>
          <a:p>
            <a:pPr algn="just"/>
            <a:endParaRPr lang="kn-IN" sz="1600" dirty="0"/>
          </a:p>
        </p:txBody>
      </p:sp>
      <p:sp>
        <p:nvSpPr>
          <p:cNvPr id="47" name="TextBox 46">
            <a:extLst>
              <a:ext uri="{FF2B5EF4-FFF2-40B4-BE49-F238E27FC236}">
                <a16:creationId xmlns:a16="http://schemas.microsoft.com/office/drawing/2014/main" id="{578EAD48-FAAF-FC67-43F9-340AB0EAF06C}"/>
              </a:ext>
            </a:extLst>
          </p:cNvPr>
          <p:cNvSpPr txBox="1"/>
          <p:nvPr/>
        </p:nvSpPr>
        <p:spPr>
          <a:xfrm>
            <a:off x="172924" y="4060724"/>
            <a:ext cx="7219935" cy="2369880"/>
          </a:xfrm>
          <a:prstGeom prst="rect">
            <a:avLst/>
          </a:prstGeom>
          <a:noFill/>
        </p:spPr>
        <p:txBody>
          <a:bodyPr wrap="square" rtlCol="0">
            <a:spAutoFit/>
          </a:bodyPr>
          <a:lstStyle/>
          <a:p>
            <a:endParaRPr lang="en-GB" b="1" dirty="0"/>
          </a:p>
          <a:p>
            <a:r>
              <a:rPr lang="en-GB" b="1" dirty="0" err="1"/>
              <a:t>XGBoost</a:t>
            </a:r>
            <a:r>
              <a:rPr lang="en-GB" b="1" dirty="0"/>
              <a:t>:</a:t>
            </a:r>
          </a:p>
          <a:p>
            <a:pPr marL="285750" indent="-285750" algn="just">
              <a:buFont typeface="Arial" panose="020B0604020202020204" pitchFamily="34" charset="0"/>
              <a:buChar char="•"/>
            </a:pPr>
            <a:r>
              <a:rPr lang="en-GB" sz="1600" b="1" dirty="0"/>
              <a:t>Target 0 (Stay): </a:t>
            </a:r>
            <a:r>
              <a:rPr lang="en-GB" sz="1600" dirty="0"/>
              <a:t>Precision = 85%, Recall = 85%, F1-score = 85%→ The model performs strongly and consistently for employees who stay.</a:t>
            </a:r>
          </a:p>
          <a:p>
            <a:pPr marL="285750" indent="-285750" algn="just">
              <a:buFont typeface="Arial" panose="020B0604020202020204" pitchFamily="34" charset="0"/>
              <a:buChar char="•"/>
            </a:pPr>
            <a:r>
              <a:rPr lang="en-GB" sz="1600" b="1" dirty="0"/>
              <a:t>Target 1 (Leave): </a:t>
            </a:r>
            <a:r>
              <a:rPr lang="en-GB" sz="1600" dirty="0"/>
              <a:t>Precision = 55%, Recall = 56%, F1-score = 55%→ The model moderately identifies employees who leave, with performance close to </a:t>
            </a:r>
            <a:r>
              <a:rPr lang="en-GB" sz="1600" dirty="0" err="1"/>
              <a:t>LightGBM</a:t>
            </a:r>
            <a:r>
              <a:rPr lang="en-GB" sz="1600" dirty="0"/>
              <a:t>.</a:t>
            </a:r>
          </a:p>
          <a:p>
            <a:pPr marL="285750" indent="-285750" algn="just">
              <a:buFont typeface="Arial" panose="020B0604020202020204" pitchFamily="34" charset="0"/>
              <a:buChar char="•"/>
            </a:pPr>
            <a:r>
              <a:rPr lang="en-GB" sz="1600" b="1" dirty="0"/>
              <a:t>Overall Insight: </a:t>
            </a:r>
            <a:r>
              <a:rPr lang="en-GB" sz="1600" dirty="0" err="1"/>
              <a:t>XGBoost</a:t>
            </a:r>
            <a:r>
              <a:rPr lang="en-GB" sz="1600" dirty="0"/>
              <a:t> shows competitive results but slightly weaker overall discrimination compared to </a:t>
            </a:r>
            <a:r>
              <a:rPr lang="en-GB" sz="1600" dirty="0" err="1"/>
              <a:t>LightGBM</a:t>
            </a:r>
            <a:r>
              <a:rPr lang="en-GB" sz="1600" dirty="0"/>
              <a:t>, making it a strong but secondary choice</a:t>
            </a:r>
            <a:endParaRPr lang="kn-IN" sz="1600" dirty="0"/>
          </a:p>
        </p:txBody>
      </p:sp>
    </p:spTree>
    <p:extLst>
      <p:ext uri="{BB962C8B-B14F-4D97-AF65-F5344CB8AC3E}">
        <p14:creationId xmlns:p14="http://schemas.microsoft.com/office/powerpoint/2010/main" val="2289692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5" name="Picture 4">
            <a:extLst>
              <a:ext uri="{FF2B5EF4-FFF2-40B4-BE49-F238E27FC236}">
                <a16:creationId xmlns:a16="http://schemas.microsoft.com/office/drawing/2014/main" id="{D4E6C047-5885-D0BC-273F-A5DD1EE584B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882928" y="5961628"/>
            <a:ext cx="1785976" cy="462949"/>
          </a:xfrm>
          <a:prstGeom prst="rect">
            <a:avLst/>
          </a:prstGeom>
        </p:spPr>
      </p:pic>
      <p:sp>
        <p:nvSpPr>
          <p:cNvPr id="2" name="TextBox 1">
            <a:extLst>
              <a:ext uri="{FF2B5EF4-FFF2-40B4-BE49-F238E27FC236}">
                <a16:creationId xmlns:a16="http://schemas.microsoft.com/office/drawing/2014/main" id="{71F20421-2EBB-D1D8-B746-4DA27CEF128B}"/>
              </a:ext>
            </a:extLst>
          </p:cNvPr>
          <p:cNvSpPr txBox="1"/>
          <p:nvPr/>
        </p:nvSpPr>
        <p:spPr>
          <a:xfrm>
            <a:off x="206477" y="265471"/>
            <a:ext cx="11582399" cy="2092881"/>
          </a:xfrm>
          <a:prstGeom prst="rect">
            <a:avLst/>
          </a:prstGeom>
          <a:noFill/>
        </p:spPr>
        <p:txBody>
          <a:bodyPr wrap="square" rtlCol="0">
            <a:spAutoFit/>
          </a:bodyPr>
          <a:lstStyle/>
          <a:p>
            <a:r>
              <a:rPr lang="en-GB" b="1" dirty="0"/>
              <a:t>Random Forest Classifier:</a:t>
            </a:r>
          </a:p>
          <a:p>
            <a:endParaRPr lang="en-GB" sz="1600" b="1" dirty="0"/>
          </a:p>
          <a:p>
            <a:pPr marL="285750" indent="-285750" algn="just">
              <a:buFont typeface="Arial" panose="020B0604020202020204" pitchFamily="34" charset="0"/>
              <a:buChar char="•"/>
            </a:pPr>
            <a:r>
              <a:rPr lang="en-GB" sz="1600" b="1" dirty="0"/>
              <a:t>Target 0 (Stay): </a:t>
            </a:r>
            <a:r>
              <a:rPr lang="en-GB" sz="1600" dirty="0"/>
              <a:t>Precision = 84%, Recall = 85%, F1-score = 85%→ The model effectively predicts employees who remain with the company.</a:t>
            </a:r>
          </a:p>
          <a:p>
            <a:pPr marL="285750" indent="-285750" algn="just">
              <a:buFont typeface="Arial" panose="020B0604020202020204" pitchFamily="34" charset="0"/>
              <a:buChar char="•"/>
            </a:pPr>
            <a:r>
              <a:rPr lang="en-GB" sz="1600" b="1" dirty="0"/>
              <a:t>Target 1 (Leave): </a:t>
            </a:r>
            <a:r>
              <a:rPr lang="en-GB" sz="1600" dirty="0"/>
              <a:t>Precision = 55%, Recall = 53%, F1-score = 54%→ The model identifies attrition cases with moderate success but misses more leaving employees than boosting-based models.</a:t>
            </a:r>
          </a:p>
          <a:p>
            <a:pPr marL="285750" indent="-285750" algn="just">
              <a:buFont typeface="Arial" panose="020B0604020202020204" pitchFamily="34" charset="0"/>
              <a:buChar char="•"/>
            </a:pPr>
            <a:r>
              <a:rPr lang="en-GB" sz="1600" b="1" dirty="0"/>
              <a:t>Overall Insight: </a:t>
            </a:r>
            <a:r>
              <a:rPr lang="en-GB" sz="1600" dirty="0"/>
              <a:t>Random Forest performs well for the majority class but shows slightly reduced effectiveness in identifying employee attrition.</a:t>
            </a:r>
            <a:endParaRPr lang="kn-IN" sz="1600" dirty="0"/>
          </a:p>
        </p:txBody>
      </p:sp>
      <p:sp>
        <p:nvSpPr>
          <p:cNvPr id="3" name="TextBox 2">
            <a:extLst>
              <a:ext uri="{FF2B5EF4-FFF2-40B4-BE49-F238E27FC236}">
                <a16:creationId xmlns:a16="http://schemas.microsoft.com/office/drawing/2014/main" id="{21554CA9-44DE-7D06-9148-4374554E4213}"/>
              </a:ext>
            </a:extLst>
          </p:cNvPr>
          <p:cNvSpPr txBox="1"/>
          <p:nvPr/>
        </p:nvSpPr>
        <p:spPr>
          <a:xfrm>
            <a:off x="206477" y="2622541"/>
            <a:ext cx="10923639" cy="2123658"/>
          </a:xfrm>
          <a:prstGeom prst="rect">
            <a:avLst/>
          </a:prstGeom>
          <a:noFill/>
        </p:spPr>
        <p:txBody>
          <a:bodyPr wrap="square" rtlCol="0">
            <a:spAutoFit/>
          </a:bodyPr>
          <a:lstStyle/>
          <a:p>
            <a:r>
              <a:rPr lang="en-GB" b="1" dirty="0"/>
              <a:t>Logistic Regression:</a:t>
            </a:r>
          </a:p>
          <a:p>
            <a:endParaRPr lang="en-GB" b="1" dirty="0"/>
          </a:p>
          <a:p>
            <a:pPr marL="285750" indent="-285750" algn="just">
              <a:buFont typeface="Arial" panose="020B0604020202020204" pitchFamily="34" charset="0"/>
              <a:buChar char="•"/>
            </a:pPr>
            <a:r>
              <a:rPr lang="en-GB" sz="1600" b="1" dirty="0"/>
              <a:t>Target 0 (Stay): </a:t>
            </a:r>
            <a:r>
              <a:rPr lang="en-GB" sz="1600" dirty="0"/>
              <a:t>Precision = 87%, Recall = 72%, F1-score = 79%→ The model predicts employees who stay with high precision but lower recall.</a:t>
            </a:r>
          </a:p>
          <a:p>
            <a:pPr marL="285750" indent="-285750" algn="just">
              <a:buFont typeface="Arial" panose="020B0604020202020204" pitchFamily="34" charset="0"/>
              <a:buChar char="•"/>
            </a:pPr>
            <a:r>
              <a:rPr lang="en-GB" sz="1600" b="1" dirty="0"/>
              <a:t>Target 1 (Leave): </a:t>
            </a:r>
            <a:r>
              <a:rPr lang="en-GB" sz="1600" dirty="0"/>
              <a:t>Precision = 45%, Recall = 68%, F1-score = 54%→ The model captures many employees who leave but produces more false positives.</a:t>
            </a:r>
          </a:p>
          <a:p>
            <a:pPr marL="285750" indent="-285750" algn="just">
              <a:buFont typeface="Arial" panose="020B0604020202020204" pitchFamily="34" charset="0"/>
              <a:buChar char="•"/>
            </a:pPr>
            <a:r>
              <a:rPr lang="en-GB" sz="1600" b="1" dirty="0"/>
              <a:t>Overall Insight: </a:t>
            </a:r>
            <a:r>
              <a:rPr lang="en-GB" sz="1600" dirty="0"/>
              <a:t>Logistic Regression shows high sensitivity to employee attrition but lacks balance between precision and recall, resulting in weaker overall performance.</a:t>
            </a:r>
            <a:endParaRPr lang="kn-IN" sz="1600" dirty="0"/>
          </a:p>
        </p:txBody>
      </p:sp>
      <p:sp>
        <p:nvSpPr>
          <p:cNvPr id="6" name="TextBox 5">
            <a:extLst>
              <a:ext uri="{FF2B5EF4-FFF2-40B4-BE49-F238E27FC236}">
                <a16:creationId xmlns:a16="http://schemas.microsoft.com/office/drawing/2014/main" id="{7C0DF14E-F57F-FDDB-B87C-06E4E4E18225}"/>
              </a:ext>
            </a:extLst>
          </p:cNvPr>
          <p:cNvSpPr txBox="1"/>
          <p:nvPr/>
        </p:nvSpPr>
        <p:spPr>
          <a:xfrm>
            <a:off x="304801" y="4746198"/>
            <a:ext cx="11680722" cy="1754326"/>
          </a:xfrm>
          <a:prstGeom prst="rect">
            <a:avLst/>
          </a:prstGeom>
          <a:noFill/>
        </p:spPr>
        <p:txBody>
          <a:bodyPr wrap="square" rtlCol="0">
            <a:spAutoFit/>
          </a:bodyPr>
          <a:lstStyle/>
          <a:p>
            <a:r>
              <a:rPr lang="en-IN" b="1" dirty="0"/>
              <a:t>INFERRENCE:</a:t>
            </a:r>
          </a:p>
          <a:p>
            <a:pPr marL="285750" indent="-285750">
              <a:buFont typeface="Arial" panose="020B0604020202020204" pitchFamily="34" charset="0"/>
              <a:buChar char="•"/>
            </a:pPr>
            <a:r>
              <a:rPr lang="en-GB" b="1" dirty="0" err="1"/>
              <a:t>LightGBM</a:t>
            </a:r>
            <a:r>
              <a:rPr lang="en-GB" b="1" dirty="0"/>
              <a:t> is selected as the final model because it achieves the highest ROC–AUC score and provides the most consistent and balanced performance across both target classes compared to </a:t>
            </a:r>
            <a:r>
              <a:rPr lang="en-GB" b="1" dirty="0" err="1"/>
              <a:t>XGBoost</a:t>
            </a:r>
            <a:r>
              <a:rPr lang="en-GB" b="1" dirty="0"/>
              <a:t>, Random Forest, and Logistic Regression</a:t>
            </a:r>
          </a:p>
          <a:p>
            <a:pPr marL="285750" indent="-285750">
              <a:buFont typeface="Arial" panose="020B0604020202020204" pitchFamily="34" charset="0"/>
              <a:buChar char="•"/>
            </a:pPr>
            <a:r>
              <a:rPr lang="en-GB" b="1" dirty="0"/>
              <a:t>This model is used to make a final prediction on Test data</a:t>
            </a:r>
            <a:endParaRPr lang="en-IN" b="1" dirty="0"/>
          </a:p>
          <a:p>
            <a:endParaRPr lang="kn-IN" b="1" dirty="0"/>
          </a:p>
        </p:txBody>
      </p:sp>
    </p:spTree>
    <p:extLst>
      <p:ext uri="{BB962C8B-B14F-4D97-AF65-F5344CB8AC3E}">
        <p14:creationId xmlns:p14="http://schemas.microsoft.com/office/powerpoint/2010/main" val="89196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71DEFB-47F1-1A0E-9BF3-79F42A76C806}"/>
              </a:ext>
            </a:extLst>
          </p:cNvPr>
          <p:cNvSpPr txBox="1"/>
          <p:nvPr/>
        </p:nvSpPr>
        <p:spPr>
          <a:xfrm>
            <a:off x="-1208837" y="54306"/>
            <a:ext cx="6858002" cy="6463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3600" b="1" dirty="0">
                <a:solidFill>
                  <a:schemeClr val="accent1">
                    <a:lumMod val="40000"/>
                    <a:lumOff val="60000"/>
                  </a:schemeClr>
                </a:solidFill>
                <a:effectLst>
                  <a:outerShdw blurRad="50800" dist="38100" algn="l" rotWithShape="0">
                    <a:prstClr val="black">
                      <a:alpha val="40000"/>
                    </a:prstClr>
                  </a:outerShdw>
                </a:effectLst>
                <a:latin typeface="Goudy Old Style" panose="02020502050305020303" pitchFamily="18" charset="0"/>
                <a:ea typeface="+mj-ea"/>
                <a:cs typeface="+mj-cs"/>
              </a:rPr>
              <a:t>Conclusion</a:t>
            </a:r>
          </a:p>
        </p:txBody>
      </p:sp>
      <p:sp>
        <p:nvSpPr>
          <p:cNvPr id="4" name="TextBox 3">
            <a:extLst>
              <a:ext uri="{FF2B5EF4-FFF2-40B4-BE49-F238E27FC236}">
                <a16:creationId xmlns:a16="http://schemas.microsoft.com/office/drawing/2014/main" id="{BC6C97B8-9238-71D2-5C46-D7E2744F748D}"/>
              </a:ext>
            </a:extLst>
          </p:cNvPr>
          <p:cNvSpPr txBox="1"/>
          <p:nvPr/>
        </p:nvSpPr>
        <p:spPr>
          <a:xfrm>
            <a:off x="-216482" y="46636"/>
            <a:ext cx="4956761" cy="657231"/>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IN" sz="3600" b="1" dirty="0">
                <a:solidFill>
                  <a:schemeClr val="accent1">
                    <a:lumMod val="75000"/>
                  </a:schemeClr>
                </a:solidFill>
                <a:latin typeface="Goudy Old Style" panose="02020502050305020303" pitchFamily="18" charset="0"/>
                <a:ea typeface="+mj-ea"/>
                <a:cs typeface="+mj-cs"/>
              </a:rPr>
              <a:t>Conclusion</a:t>
            </a:r>
          </a:p>
        </p:txBody>
      </p:sp>
      <p:sp>
        <p:nvSpPr>
          <p:cNvPr id="9" name="TextBox 8">
            <a:extLst>
              <a:ext uri="{FF2B5EF4-FFF2-40B4-BE49-F238E27FC236}">
                <a16:creationId xmlns:a16="http://schemas.microsoft.com/office/drawing/2014/main" id="{CA52768D-AB0D-A548-F8F5-C26A9B166449}"/>
              </a:ext>
            </a:extLst>
          </p:cNvPr>
          <p:cNvSpPr txBox="1"/>
          <p:nvPr/>
        </p:nvSpPr>
        <p:spPr>
          <a:xfrm>
            <a:off x="474193" y="2527170"/>
            <a:ext cx="2808312" cy="538609"/>
          </a:xfrm>
          <a:prstGeom prst="rect">
            <a:avLst/>
          </a:prstGeom>
          <a:noFill/>
        </p:spPr>
        <p:txBody>
          <a:bodyPr wrap="square">
            <a:spAutoFit/>
          </a:bodyPr>
          <a:lstStyle>
            <a:defPPr>
              <a:defRPr lang="en-US"/>
            </a:defPPr>
            <a:lvl1pPr>
              <a:defRPr sz="2900" b="1">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defRPr>
            </a:lvl1pPr>
          </a:lstStyle>
          <a:p>
            <a:pPr algn="ctr"/>
            <a:r>
              <a:rPr lang="en-IN" sz="2800" dirty="0"/>
              <a:t>Limitations</a:t>
            </a:r>
          </a:p>
        </p:txBody>
      </p:sp>
      <p:sp>
        <p:nvSpPr>
          <p:cNvPr id="11" name="TextBox 10">
            <a:extLst>
              <a:ext uri="{FF2B5EF4-FFF2-40B4-BE49-F238E27FC236}">
                <a16:creationId xmlns:a16="http://schemas.microsoft.com/office/drawing/2014/main" id="{28C9ADE7-87BA-E101-3EFD-50EA7FD1009C}"/>
              </a:ext>
            </a:extLst>
          </p:cNvPr>
          <p:cNvSpPr txBox="1"/>
          <p:nvPr/>
        </p:nvSpPr>
        <p:spPr>
          <a:xfrm>
            <a:off x="548347" y="5021317"/>
            <a:ext cx="4032448" cy="538609"/>
          </a:xfrm>
          <a:prstGeom prst="rect">
            <a:avLst/>
          </a:prstGeom>
          <a:noFill/>
        </p:spPr>
        <p:txBody>
          <a:bodyPr wrap="square">
            <a:spAutoFit/>
          </a:bodyPr>
          <a:lstStyle/>
          <a:p>
            <a:pPr algn="ctr"/>
            <a:r>
              <a:rPr lang="en-IN" sz="29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Future </a:t>
            </a:r>
            <a:r>
              <a:rPr lang="en-IN" sz="28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research</a:t>
            </a:r>
          </a:p>
        </p:txBody>
      </p:sp>
      <p:sp>
        <p:nvSpPr>
          <p:cNvPr id="12" name="TextBox 11">
            <a:extLst>
              <a:ext uri="{FF2B5EF4-FFF2-40B4-BE49-F238E27FC236}">
                <a16:creationId xmlns:a16="http://schemas.microsoft.com/office/drawing/2014/main" id="{08B95447-3331-FA24-5BD8-697BB95D9556}"/>
              </a:ext>
            </a:extLst>
          </p:cNvPr>
          <p:cNvSpPr txBox="1"/>
          <p:nvPr/>
        </p:nvSpPr>
        <p:spPr>
          <a:xfrm>
            <a:off x="474193" y="696173"/>
            <a:ext cx="2890684" cy="538609"/>
          </a:xfrm>
          <a:prstGeom prst="rect">
            <a:avLst/>
          </a:prstGeom>
          <a:noFill/>
        </p:spPr>
        <p:txBody>
          <a:bodyPr wrap="square">
            <a:spAutoFit/>
          </a:bodyPr>
          <a:lstStyle/>
          <a:p>
            <a:pPr algn="ctr"/>
            <a:r>
              <a:rPr lang="en-IN" sz="2800" b="1" dirty="0">
                <a:ln>
                  <a:solidFill>
                    <a:schemeClr val="accent1">
                      <a:lumMod val="20000"/>
                      <a:lumOff val="80000"/>
                    </a:schemeClr>
                  </a:solidFill>
                </a:ln>
                <a:solidFill>
                  <a:srgbClr val="002060"/>
                </a:solidFill>
                <a:effectLst>
                  <a:outerShdw blurRad="38100" dist="38100" dir="2700000" algn="tl">
                    <a:srgbClr val="000000">
                      <a:alpha val="43137"/>
                    </a:srgbClr>
                  </a:outerShdw>
                </a:effectLst>
                <a:latin typeface="Copperplate Gothic Bold" panose="020E0705020206020404" pitchFamily="34" charset="0"/>
              </a:rPr>
              <a:t>Key Findings</a:t>
            </a:r>
          </a:p>
        </p:txBody>
      </p:sp>
      <p:pic>
        <p:nvPicPr>
          <p:cNvPr id="23" name="Picture 22">
            <a:extLst>
              <a:ext uri="{FF2B5EF4-FFF2-40B4-BE49-F238E27FC236}">
                <a16:creationId xmlns:a16="http://schemas.microsoft.com/office/drawing/2014/main" id="{8543B75B-7229-675E-15FD-FA75A5CF6842}"/>
              </a:ext>
            </a:extLst>
          </p:cNvPr>
          <p:cNvPicPr>
            <a:picLocks noChangeAspect="1"/>
          </p:cNvPicPr>
          <p:nvPr/>
        </p:nvPicPr>
        <p:blipFill>
          <a:blip r:embed="rId2">
            <a:duotone>
              <a:schemeClr val="accent4">
                <a:shade val="45000"/>
                <a:satMod val="135000"/>
              </a:schemeClr>
              <a:prstClr val="white"/>
            </a:duotone>
            <a:alphaModFix amt="85000"/>
            <a:extLst>
              <a:ext uri="{28A0092B-C50C-407E-A947-70E740481C1C}">
                <a14:useLocalDpi xmlns:a14="http://schemas.microsoft.com/office/drawing/2010/main" val="0"/>
              </a:ext>
            </a:extLst>
          </a:blip>
          <a:stretch>
            <a:fillRect/>
          </a:stretch>
        </p:blipFill>
        <p:spPr>
          <a:xfrm>
            <a:off x="-19224" y="658320"/>
            <a:ext cx="540000" cy="540000"/>
          </a:xfrm>
          <a:prstGeom prst="rect">
            <a:avLst/>
          </a:prstGeom>
        </p:spPr>
      </p:pic>
      <p:pic>
        <p:nvPicPr>
          <p:cNvPr id="27" name="Picture 26">
            <a:extLst>
              <a:ext uri="{FF2B5EF4-FFF2-40B4-BE49-F238E27FC236}">
                <a16:creationId xmlns:a16="http://schemas.microsoft.com/office/drawing/2014/main" id="{A6A6962B-9EAE-3FED-870D-5E946F20972A}"/>
              </a:ext>
            </a:extLst>
          </p:cNvPr>
          <p:cNvPicPr>
            <a:picLocks noChangeAspect="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94907" y="5092657"/>
            <a:ext cx="601257" cy="601257"/>
          </a:xfrm>
          <a:prstGeom prst="rect">
            <a:avLst/>
          </a:prstGeom>
        </p:spPr>
      </p:pic>
      <p:pic>
        <p:nvPicPr>
          <p:cNvPr id="25" name="Picture 24">
            <a:extLst>
              <a:ext uri="{FF2B5EF4-FFF2-40B4-BE49-F238E27FC236}">
                <a16:creationId xmlns:a16="http://schemas.microsoft.com/office/drawing/2014/main" id="{768390AD-A337-FD55-BD7D-6A55CEEADCAC}"/>
              </a:ext>
            </a:extLst>
          </p:cNvPr>
          <p:cNvPicPr>
            <a:picLocks noChangeAspect="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832" y="2547314"/>
            <a:ext cx="538609" cy="538609"/>
          </a:xfrm>
          <a:prstGeom prst="rect">
            <a:avLst/>
          </a:prstGeom>
        </p:spPr>
      </p:pic>
      <p:sp>
        <p:nvSpPr>
          <p:cNvPr id="8" name="TextBox 7">
            <a:extLst>
              <a:ext uri="{FF2B5EF4-FFF2-40B4-BE49-F238E27FC236}">
                <a16:creationId xmlns:a16="http://schemas.microsoft.com/office/drawing/2014/main" id="{AFAF0B8A-DEBC-A484-2472-63F40D1FDFD8}"/>
              </a:ext>
            </a:extLst>
          </p:cNvPr>
          <p:cNvSpPr txBox="1"/>
          <p:nvPr/>
        </p:nvSpPr>
        <p:spPr>
          <a:xfrm>
            <a:off x="206477" y="1304652"/>
            <a:ext cx="10756491" cy="1477328"/>
          </a:xfrm>
          <a:prstGeom prst="rect">
            <a:avLst/>
          </a:prstGeom>
          <a:noFill/>
        </p:spPr>
        <p:txBody>
          <a:bodyPr wrap="square" rtlCol="0">
            <a:spAutoFit/>
          </a:bodyPr>
          <a:lstStyle/>
          <a:p>
            <a:pPr marL="285750" indent="-285750" algn="just">
              <a:buFont typeface="Arial" panose="020B0604020202020204" pitchFamily="34" charset="0"/>
              <a:buChar char="•"/>
            </a:pPr>
            <a:r>
              <a:rPr lang="en-GB" dirty="0"/>
              <a:t>The final model was applied to Test data, predicting that 75.8% are likely to stay while 24.2% are at risk of leaving. Although most employees are expected to remain, the identified attrition group highlights a segment that requires targeted retention efforts to improve workforce stability.</a:t>
            </a:r>
          </a:p>
          <a:p>
            <a:pPr marL="285750" indent="-285750" algn="just">
              <a:buFont typeface="Arial" panose="020B0604020202020204" pitchFamily="34" charset="0"/>
              <a:buChar char="•"/>
            </a:pPr>
            <a:r>
              <a:rPr lang="en-GB" dirty="0"/>
              <a:t>City and City development index were identified as most influential features in predicting the target variable</a:t>
            </a:r>
          </a:p>
          <a:p>
            <a:pPr algn="just"/>
            <a:endParaRPr lang="kn-IN" dirty="0"/>
          </a:p>
        </p:txBody>
      </p:sp>
      <p:sp>
        <p:nvSpPr>
          <p:cNvPr id="10" name="TextBox 9">
            <a:extLst>
              <a:ext uri="{FF2B5EF4-FFF2-40B4-BE49-F238E27FC236}">
                <a16:creationId xmlns:a16="http://schemas.microsoft.com/office/drawing/2014/main" id="{F0F5C8E2-52AA-6084-5461-D530B084DD62}"/>
              </a:ext>
            </a:extLst>
          </p:cNvPr>
          <p:cNvSpPr txBox="1"/>
          <p:nvPr/>
        </p:nvSpPr>
        <p:spPr>
          <a:xfrm>
            <a:off x="294968" y="3215148"/>
            <a:ext cx="10579509" cy="1754326"/>
          </a:xfrm>
          <a:prstGeom prst="rect">
            <a:avLst/>
          </a:prstGeom>
          <a:noFill/>
        </p:spPr>
        <p:txBody>
          <a:bodyPr wrap="square" rtlCol="0">
            <a:spAutoFit/>
          </a:bodyPr>
          <a:lstStyle/>
          <a:p>
            <a:pPr marL="285750" indent="-285750" algn="just">
              <a:buFont typeface="Arial" panose="020B0604020202020204" pitchFamily="34" charset="0"/>
              <a:buChar char="•"/>
            </a:pPr>
            <a:r>
              <a:rPr lang="en-GB" dirty="0"/>
              <a:t>Moderate accuracy in predicting employees who leave; some attrition cases may be missed. Predictions are based only on available dataset features</a:t>
            </a:r>
          </a:p>
          <a:p>
            <a:pPr marL="285750" indent="-285750" algn="just">
              <a:buFont typeface="Arial" panose="020B0604020202020204" pitchFamily="34" charset="0"/>
              <a:buChar char="•"/>
            </a:pPr>
            <a:r>
              <a:rPr lang="en-GB" dirty="0"/>
              <a:t>The model may not generalize well to other organizations or future time periods, and does not capture changes in employee </a:t>
            </a:r>
            <a:r>
              <a:rPr lang="en-GB" dirty="0" err="1"/>
              <a:t>behavior</a:t>
            </a:r>
            <a:r>
              <a:rPr lang="en-GB" dirty="0"/>
              <a:t> over time.</a:t>
            </a:r>
          </a:p>
          <a:p>
            <a:pPr marL="285750" indent="-285750" algn="just">
              <a:buFont typeface="Arial" panose="020B0604020202020204" pitchFamily="34" charset="0"/>
              <a:buChar char="•"/>
            </a:pPr>
            <a:r>
              <a:rPr lang="en-GB" dirty="0"/>
              <a:t>The model provides probability-based predictions, so outputs should be used as guidance rather than absolute decisions.</a:t>
            </a:r>
            <a:endParaRPr lang="kn-IN" dirty="0"/>
          </a:p>
        </p:txBody>
      </p:sp>
      <p:sp>
        <p:nvSpPr>
          <p:cNvPr id="13" name="TextBox 12">
            <a:extLst>
              <a:ext uri="{FF2B5EF4-FFF2-40B4-BE49-F238E27FC236}">
                <a16:creationId xmlns:a16="http://schemas.microsoft.com/office/drawing/2014/main" id="{BF8B51D5-7A20-1D6A-12CD-26D77FE81266}"/>
              </a:ext>
            </a:extLst>
          </p:cNvPr>
          <p:cNvSpPr txBox="1"/>
          <p:nvPr/>
        </p:nvSpPr>
        <p:spPr>
          <a:xfrm>
            <a:off x="696164" y="5693914"/>
            <a:ext cx="10178313" cy="646331"/>
          </a:xfrm>
          <a:prstGeom prst="rect">
            <a:avLst/>
          </a:prstGeom>
          <a:noFill/>
        </p:spPr>
        <p:txBody>
          <a:bodyPr wrap="square" rtlCol="0">
            <a:spAutoFit/>
          </a:bodyPr>
          <a:lstStyle/>
          <a:p>
            <a:pPr algn="just"/>
            <a:r>
              <a:rPr lang="en-GB"/>
              <a:t>Future research could focus on enhancing model performance by incorporating additional employee-related features or advanced modeling techniques to better predict attrition in similar datasets.</a:t>
            </a:r>
            <a:endParaRPr lang="kn-IN" dirty="0"/>
          </a:p>
        </p:txBody>
      </p:sp>
      <p:pic>
        <p:nvPicPr>
          <p:cNvPr id="15" name="Picture 14">
            <a:extLst>
              <a:ext uri="{FF2B5EF4-FFF2-40B4-BE49-F238E27FC236}">
                <a16:creationId xmlns:a16="http://schemas.microsoft.com/office/drawing/2014/main" id="{74DBE766-C15A-7F32-853D-51733B9F048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94047" y="6354098"/>
            <a:ext cx="1785976" cy="462949"/>
          </a:xfrm>
          <a:prstGeom prst="rect">
            <a:avLst/>
          </a:prstGeom>
        </p:spPr>
      </p:pic>
    </p:spTree>
    <p:extLst>
      <p:ext uri="{BB962C8B-B14F-4D97-AF65-F5344CB8AC3E}">
        <p14:creationId xmlns:p14="http://schemas.microsoft.com/office/powerpoint/2010/main" val="2580211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device&#10;&#10;Description automatically generated">
            <a:extLst>
              <a:ext uri="{FF2B5EF4-FFF2-40B4-BE49-F238E27FC236}">
                <a16:creationId xmlns:a16="http://schemas.microsoft.com/office/drawing/2014/main" id="{BDB90223-5D15-41E3-9664-BD96C3BD25A2}"/>
              </a:ext>
            </a:extLst>
          </p:cNvPr>
          <p:cNvPicPr>
            <a:picLocks noChangeAspect="1"/>
          </p:cNvPicPr>
          <p:nvPr/>
        </p:nvPicPr>
        <p:blipFill rotWithShape="1">
          <a:blip r:embed="rId2">
            <a:extLst>
              <a:ext uri="{28A0092B-C50C-407E-A947-70E740481C1C}">
                <a14:useLocalDpi xmlns:a14="http://schemas.microsoft.com/office/drawing/2010/main" val="0"/>
              </a:ext>
            </a:extLst>
          </a:blip>
          <a:srcRect l="24986" r="-1" b="-1"/>
          <a:stretch/>
        </p:blipFill>
        <p:spPr>
          <a:xfrm>
            <a:off x="0" y="1282"/>
            <a:ext cx="12192000" cy="6856718"/>
          </a:xfrm>
          <a:prstGeom prst="rect">
            <a:avLst/>
          </a:prstGeom>
        </p:spPr>
      </p:pic>
      <p:pic>
        <p:nvPicPr>
          <p:cNvPr id="3" name="Picture 2">
            <a:extLst>
              <a:ext uri="{FF2B5EF4-FFF2-40B4-BE49-F238E27FC236}">
                <a16:creationId xmlns:a16="http://schemas.microsoft.com/office/drawing/2014/main" id="{B272ACEC-C509-A431-2639-30B71CD853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
            <a:ext cx="12192000" cy="6856716"/>
          </a:xfrm>
          <a:prstGeom prst="rect">
            <a:avLst/>
          </a:prstGeom>
        </p:spPr>
      </p:pic>
      <p:pic>
        <p:nvPicPr>
          <p:cNvPr id="6" name="Picture 5">
            <a:extLst>
              <a:ext uri="{FF2B5EF4-FFF2-40B4-BE49-F238E27FC236}">
                <a16:creationId xmlns:a16="http://schemas.microsoft.com/office/drawing/2014/main" id="{D399DE13-BA2F-61A9-A1E7-F73AA802471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207690" y="6227099"/>
            <a:ext cx="1785976" cy="462949"/>
          </a:xfrm>
          <a:prstGeom prst="rect">
            <a:avLst/>
          </a:prstGeom>
        </p:spPr>
      </p:pic>
    </p:spTree>
    <p:extLst>
      <p:ext uri="{BB962C8B-B14F-4D97-AF65-F5344CB8AC3E}">
        <p14:creationId xmlns:p14="http://schemas.microsoft.com/office/powerpoint/2010/main" val="31514355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AI_THEME_MODEL" val="{&quot;showLogo&quot;:true,&quot;logoScale&quot;:1,&quot;logoPosition&quot;:&quot;left&quot;,&quot;logoOffset&quot;:0,&quot;showMessage&quot;:true,&quot;showPageNum&quot;:true,&quot;logo&quot;:null,&quot;logo_dark&quot;:null,&quot;showFooterByDefault&quot;:null,&quot;footerMessage&quot;:&quot;©2024 Proprietary and Confidential. All Rights Reserved.&quot;,&quot;palette_name&quot;:&quot;colorful&quot;,&quot;defaultSlideColor&quot;:&quot;theme&quot;,&quot;defaultBackgroundColor&quot;:&quot;background_light&quot;,&quot;styleFonts&quot;:1,&quot;styleFontWeight&quot;:&quot;heavy&quot;,&quot;styleElementStyle&quot;:&quot;outlined&quot;,&quot;styleEffect&quot;:&quot;none&quot;,&quot;styleDesign&quot;:1,&quot;styleDecoration&quot;:&quot;bar_left&quot;,&quot;styleHeaderAlignment&quot;:&quot;left&quot;,&quot;styleShape&quot;:&quot;rect&quot;,&quot;styleColor&quot;:&quot;slide&quot;,&quot;styleBackground&quot;:&quot;none&quot;,&quot;styleTitleFont&quot;:&quot;sourcesanspro&quot;,&quot;styleBodyFont&quot;:&quot;sourcesanspro&quot;,&quot;styleWeight&quot;:&quot;medium&quot;,&quot;styleTitleSlide&quot;:&quot;bar_left&quot;,&quot;fontScale&quot;:1,&quot;iconStyle&quot;:&quot;chunky&quot;,&quot;cjkFont&quot;:&quot;jp&quot;,&quot;isRTL&quot;:false,&quot;colors&quot;:{&quot;background_light&quot;:&quot;#ffffff&quot;,&quot;background_dark&quot;:&quot;#000000&quot;,&quot;primary_light&quot;:&quot;#ffffff&quot;,&quot;primary_dark&quot;:&quot;#000000&quot;,&quot;secondary_light&quot;:&quot;#e7e6e6&quot;,&quot;secondary_dark&quot;:&quot;#44546a&quot;,&quot;positive&quot;:&quot;#54C351&quot;,&quot;negative&quot;:&quot;#E04C2B&quot;,&quot;hyperlink&quot;:&quot;#11a9e2&quot;,&quot;theme&quot;:&quot;#4472c4&quot;,&quot;background_accent&quot;:&quot;#e7e6e6&quot;,&quot;chart1&quot;:&quot;#4472c4&quot;,&quot;accent1&quot;:&quot;#ed7d31&quot;,&quot;chart2&quot;:&quot;#ed7d31&quot;,&quot;accent2&quot;:&quot;#a5a5a5&quot;,&quot;chart3&quot;:&quot;#a5a5a5&quot;,&quot;accent3&quot;:&quot;#ffc000&quot;,&quot;chart4&quot;:&quot;#ffc000&quot;,&quot;accent4&quot;:&quot;#5b9bd5&quot;,&quot;chart5&quot;:&quot;#5b9bd5&quot;,&quot;accent5&quot;:&quot;#70ad47&quot;,&quot;chart6&quot;:&quot;#70ad47&quot;},&quot;fontHeaderFontId&quot;:&quot;sourcesanspro&quot;,&quot;fontHeaderWeight&quot;:600,&quot;fontHeaderBoldWeight&quot;:600,&quot;fontHeaderLetterSpacing&quot;:0,&quot;fontHeaderLineHeight&quot;:1.6,&quot;fontHeaderScaling&quot;:100,&quot;fontHeaderTextTransform&quot;:&quot;auto&quot;,&quot;fontTitleFontId&quot;:&quot;sourcesanspro&quot;,&quot;fontTitleWeight&quot;:600,&quot;fontTitleBoldWeight&quot;:600,&quot;fontTitleLetterSpacing&quot;:0,&quot;fontTitleLineHeight&quot;:1.6,&quot;fontTitleScaling&quot;:100,&quot;fontTitleTextTransform&quot;:&quot;auto&quot;,&quot;fontBodyFontId&quot;:&quot;sourcesanspro&quot;,&quot;fontBodyWeight&quot;:400,&quot;fontBodyBoldWeight&quot;:600,&quot;fontBodyLetterSpacing&quot;:0,&quot;fontBodyLineHeight&quot;:1.9,&quot;fontBodyScaling&quot;:100,&quot;fontBodyTextTransform&quot;:&quot;auto&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2.1" id="{19F6FF4A-BFB8-D448-81DB-A8F1C71F8E46}" vid="{CDCDF023-17A4-CF46-89DD-D6386F64A9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 dockstate="right" visibility="0" width="438" row="6">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98E7D50-581B-4293-BF8B-96CE4C9BE07B}">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CE39EDF-E3F7-4696-8F8D-249A55DDEAD5}">
  <we:reference id="wa200003964" version="1.0.0.0" store="en-US" storeType="OMEX"/>
  <we:alternateReferences>
    <we:reference id="wa200003964" version="1.0.0.0" store="wa20000396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Bank loan analysis (ppt)</Template>
  <TotalTime>2230</TotalTime>
  <Words>2530</Words>
  <Application>Microsoft Office PowerPoint</Application>
  <PresentationFormat>Widescreen</PresentationFormat>
  <Paragraphs>240</Paragraphs>
  <Slides>18</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Arial</vt:lpstr>
      <vt:lpstr>Calibri</vt:lpstr>
      <vt:lpstr>Calibri Light</vt:lpstr>
      <vt:lpstr>Century</vt:lpstr>
      <vt:lpstr>Century Gothic</vt:lpstr>
      <vt:lpstr>Copperplate Gothic Bold</vt:lpstr>
      <vt:lpstr>Futura BdCn BT</vt:lpstr>
      <vt:lpstr>Goudy Old Style</vt:lpstr>
      <vt:lpstr>Roboto</vt:lpstr>
      <vt:lpstr>Rockwell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Aftab Khan</dc:creator>
  <cp:lastModifiedBy>Sajan Sajan</cp:lastModifiedBy>
  <cp:revision>54</cp:revision>
  <dcterms:created xsi:type="dcterms:W3CDTF">2023-11-30T07:40:03Z</dcterms:created>
  <dcterms:modified xsi:type="dcterms:W3CDTF">2026-02-11T07:36:15Z</dcterms:modified>
</cp:coreProperties>
</file>